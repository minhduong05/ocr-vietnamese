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nghiên cứu nhận dạng chuỗi ký tự tiếng Việt có dấu. Giai đoạn 1 so sánh ba mô hình trên cùng bộ chữ in tổng hợp khoảng một triệu mẫu, khởi tạo từ đầu. Giai đoạn 2 fine-tune mô hình được chọn trên ba nguồn chữ viết tay rồi tích hợp với detector pretrained trong ứng dụng web. Sparse MoE là giả thuyết cải tiến cần kiểm chứng.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https://github.com/pbcquoc/vietocr/blob/master/README.md (tập công khai khoảng 1 triệu ảnh tự phát sinh, khác tập 10 triệu dùng cho pretrained của tác giả). https://huggingface.co/datasets/5CD-AI/Viet-Handwriting-OCR/blob/main/README.md (v1: train 22.403, test 1.000). https://github.com/nghiangh/UIT-HWDB-dataset (line 7.273, word 110.745, paragraph 1.144). Truy cập 17/10/2026. Nhóm chỉ cung cấp tên 5CD-AI, nên v1 là đề xuất triển khai, chưa phải phiên bản đã xác nhận. Không cộng v1 với v2 vì v2 có chứa dữ liệu v1. VOCR viết tay 80.000 do nhóm cung cấp, chưa xác minh kho nguồn, phân loại ảnh và mức trùng lặp.</a:t>
            </a:r>
          </a:p>
          <a:p>
            <a:r>
              <a:t>Giai đoạn 1 chỉ dùng bộ khoảng 1 triệu ảnh, không dùng ba bộ chữ viết tay để train hoặc lựa chọn kiến trúc. Khoảng 1 triệu là toàn bộ pool trước khi chia, không phải 1 triệu train cộng thêm validation/test. Nếu nguồn có split chính thức, giữ test chính thức và trích validation từ train. Số mẫu thực tế phụ thuộc kiểm kê và loại trùng. Ảnh đoạn phải cắt thành dòng và kiểm nhãn trước khi đưa vào recognizer.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Nguồn</a:t>
            </a:r>
            <a:r>
              <a:rPr dirty="0"/>
              <a:t> CRNN: https://arxiv.org/abs/1507.05717. </a:t>
            </a:r>
            <a:r>
              <a:rPr dirty="0" err="1"/>
              <a:t>VietOCR</a:t>
            </a:r>
            <a:r>
              <a:rPr dirty="0"/>
              <a:t>: https://github.com/pbcquoc/vietocr. Sparse </a:t>
            </a:r>
            <a:r>
              <a:rPr dirty="0" err="1"/>
              <a:t>MoE</a:t>
            </a:r>
            <a:r>
              <a:rPr dirty="0"/>
              <a:t>: https://arxiv.org/abs/1701.06538. </a:t>
            </a:r>
            <a:r>
              <a:rPr dirty="0" err="1"/>
              <a:t>Sơ</a:t>
            </a:r>
            <a:r>
              <a:rPr dirty="0"/>
              <a:t> </a:t>
            </a:r>
            <a:r>
              <a:rPr dirty="0" err="1"/>
              <a:t>đồ</a:t>
            </a:r>
            <a:r>
              <a:rPr dirty="0"/>
              <a:t> </a:t>
            </a:r>
            <a:r>
              <a:rPr dirty="0" err="1"/>
              <a:t>là</a:t>
            </a:r>
            <a:r>
              <a:rPr dirty="0"/>
              <a:t> </a:t>
            </a:r>
            <a:r>
              <a:rPr dirty="0" err="1"/>
              <a:t>thiết</a:t>
            </a:r>
            <a:r>
              <a:rPr dirty="0"/>
              <a:t> </a:t>
            </a:r>
            <a:r>
              <a:rPr dirty="0" err="1"/>
              <a:t>kế</a:t>
            </a:r>
            <a:r>
              <a:rPr dirty="0"/>
              <a:t> </a:t>
            </a:r>
            <a:r>
              <a:rPr dirty="0" err="1"/>
              <a:t>đề</a:t>
            </a:r>
            <a:r>
              <a:rPr dirty="0"/>
              <a:t> </a:t>
            </a:r>
            <a:r>
              <a:rPr dirty="0" err="1"/>
              <a:t>xuất</a:t>
            </a:r>
            <a:r>
              <a:rPr dirty="0"/>
              <a:t> </a:t>
            </a:r>
            <a:r>
              <a:rPr dirty="0" err="1"/>
              <a:t>của</a:t>
            </a:r>
            <a:r>
              <a:rPr dirty="0"/>
              <a:t> </a:t>
            </a:r>
            <a:r>
              <a:rPr dirty="0" err="1"/>
              <a:t>nhóm</a:t>
            </a:r>
            <a:r>
              <a:rPr dirty="0"/>
              <a:t>, </a:t>
            </a:r>
            <a:r>
              <a:rPr dirty="0" err="1"/>
              <a:t>không</a:t>
            </a:r>
            <a:r>
              <a:rPr dirty="0"/>
              <a:t> </a:t>
            </a:r>
            <a:r>
              <a:rPr dirty="0" err="1"/>
              <a:t>khẳng</a:t>
            </a:r>
            <a:r>
              <a:rPr dirty="0"/>
              <a:t> </a:t>
            </a:r>
            <a:r>
              <a:rPr dirty="0" err="1"/>
              <a:t>định</a:t>
            </a:r>
            <a:r>
              <a:rPr dirty="0"/>
              <a:t> </a:t>
            </a:r>
            <a:r>
              <a:rPr dirty="0" err="1"/>
              <a:t>tái</a:t>
            </a:r>
            <a:r>
              <a:rPr dirty="0"/>
              <a:t> </a:t>
            </a:r>
            <a:r>
              <a:rPr dirty="0" err="1"/>
              <a:t>lập</a:t>
            </a:r>
            <a:r>
              <a:rPr dirty="0"/>
              <a:t> </a:t>
            </a:r>
            <a:r>
              <a:rPr dirty="0" err="1"/>
              <a:t>nguyên</a:t>
            </a:r>
            <a:r>
              <a:rPr dirty="0"/>
              <a:t> </a:t>
            </a:r>
            <a:r>
              <a:rPr dirty="0" err="1"/>
              <a:t>bản</a:t>
            </a:r>
            <a:r>
              <a:rPr dirty="0"/>
              <a:t> </a:t>
            </a:r>
            <a:r>
              <a:rPr dirty="0" err="1"/>
              <a:t>từng</a:t>
            </a:r>
            <a:r>
              <a:rPr dirty="0"/>
              <a:t> </a:t>
            </a:r>
            <a:r>
              <a:rPr dirty="0" err="1"/>
              <a:t>cấu</a:t>
            </a:r>
            <a:r>
              <a:rPr dirty="0"/>
              <a:t> </a:t>
            </a:r>
            <a:r>
              <a:rPr dirty="0" err="1"/>
              <a:t>hình</a:t>
            </a:r>
            <a:r>
              <a:rPr dirty="0"/>
              <a:t> </a:t>
            </a:r>
            <a:r>
              <a:rPr dirty="0" err="1"/>
              <a:t>công</a:t>
            </a:r>
            <a:r>
              <a:rPr dirty="0"/>
              <a:t> </a:t>
            </a:r>
            <a:r>
              <a:rPr dirty="0" err="1"/>
              <a:t>bố</a:t>
            </a:r>
            <a:r>
              <a:rPr dirty="0"/>
              <a:t>. CRNN </a:t>
            </a:r>
            <a:r>
              <a:rPr dirty="0" err="1"/>
              <a:t>sử</a:t>
            </a:r>
            <a:r>
              <a:rPr dirty="0"/>
              <a:t> </a:t>
            </a:r>
            <a:r>
              <a:rPr dirty="0" err="1"/>
              <a:t>dụng</a:t>
            </a:r>
            <a:r>
              <a:rPr dirty="0"/>
              <a:t> </a:t>
            </a:r>
            <a:r>
              <a:rPr dirty="0" err="1"/>
              <a:t>cùng</a:t>
            </a:r>
            <a:r>
              <a:rPr dirty="0"/>
              <a:t> CNN VGG19-BN </a:t>
            </a:r>
            <a:r>
              <a:rPr dirty="0" err="1"/>
              <a:t>để</a:t>
            </a:r>
            <a:r>
              <a:rPr dirty="0"/>
              <a:t> </a:t>
            </a:r>
            <a:r>
              <a:rPr dirty="0" err="1"/>
              <a:t>giảm</a:t>
            </a:r>
            <a:r>
              <a:rPr dirty="0"/>
              <a:t> </a:t>
            </a:r>
            <a:r>
              <a:rPr dirty="0" err="1"/>
              <a:t>biến</a:t>
            </a:r>
            <a:r>
              <a:rPr dirty="0"/>
              <a:t> </a:t>
            </a:r>
            <a:r>
              <a:rPr dirty="0" err="1"/>
              <a:t>gây</a:t>
            </a:r>
            <a:r>
              <a:rPr dirty="0"/>
              <a:t> </a:t>
            </a:r>
            <a:r>
              <a:rPr dirty="0" err="1"/>
              <a:t>nhiễu</a:t>
            </a:r>
            <a:r>
              <a:rPr dirty="0"/>
              <a:t>, </a:t>
            </a:r>
            <a:r>
              <a:rPr dirty="0" err="1"/>
              <a:t>sau</a:t>
            </a:r>
            <a:r>
              <a:rPr dirty="0"/>
              <a:t> </a:t>
            </a:r>
            <a:r>
              <a:rPr dirty="0" err="1"/>
              <a:t>đó</a:t>
            </a:r>
            <a:r>
              <a:rPr dirty="0"/>
              <a:t> </a:t>
            </a:r>
            <a:r>
              <a:rPr dirty="0" err="1"/>
              <a:t>chuyển</a:t>
            </a:r>
            <a:r>
              <a:rPr dirty="0"/>
              <a:t> feature map </a:t>
            </a:r>
            <a:r>
              <a:rPr dirty="0" err="1"/>
              <a:t>thành</a:t>
            </a:r>
            <a:r>
              <a:rPr dirty="0"/>
              <a:t> </a:t>
            </a:r>
            <a:r>
              <a:rPr dirty="0" err="1"/>
              <a:t>chuỗi</a:t>
            </a:r>
            <a:r>
              <a:rPr dirty="0"/>
              <a:t> </a:t>
            </a:r>
            <a:r>
              <a:rPr dirty="0" err="1"/>
              <a:t>theo</a:t>
            </a:r>
            <a:r>
              <a:rPr dirty="0"/>
              <a:t> </a:t>
            </a:r>
            <a:r>
              <a:rPr dirty="0" err="1"/>
              <a:t>chiều</a:t>
            </a:r>
            <a:r>
              <a:rPr dirty="0"/>
              <a:t> </a:t>
            </a:r>
            <a:r>
              <a:rPr dirty="0" err="1"/>
              <a:t>ngang</a:t>
            </a:r>
            <a:r>
              <a:rPr dirty="0"/>
              <a:t>, </a:t>
            </a:r>
            <a:r>
              <a:rPr dirty="0" err="1"/>
              <a:t>BiLSTM</a:t>
            </a:r>
            <a:r>
              <a:rPr dirty="0"/>
              <a:t>, Linear </a:t>
            </a:r>
            <a:r>
              <a:rPr dirty="0" err="1"/>
              <a:t>và</a:t>
            </a:r>
            <a:r>
              <a:rPr dirty="0"/>
              <a:t> CTC loss. Transformer </a:t>
            </a:r>
            <a:r>
              <a:rPr dirty="0" err="1"/>
              <a:t>dùng</a:t>
            </a:r>
            <a:r>
              <a:rPr dirty="0"/>
              <a:t> positional encoding, encoder </a:t>
            </a:r>
            <a:r>
              <a:rPr dirty="0" err="1"/>
              <a:t>và</a:t>
            </a:r>
            <a:r>
              <a:rPr dirty="0"/>
              <a:t> decoder </a:t>
            </a:r>
            <a:r>
              <a:rPr dirty="0" err="1"/>
              <a:t>tự</a:t>
            </a:r>
            <a:r>
              <a:rPr dirty="0"/>
              <a:t> </a:t>
            </a:r>
            <a:r>
              <a:rPr dirty="0" err="1"/>
              <a:t>hồi</a:t>
            </a:r>
            <a:r>
              <a:rPr dirty="0"/>
              <a:t> </a:t>
            </a:r>
            <a:r>
              <a:rPr dirty="0" err="1"/>
              <a:t>quy</a:t>
            </a:r>
            <a:r>
              <a:rPr dirty="0"/>
              <a:t> </a:t>
            </a:r>
            <a:r>
              <a:rPr dirty="0" err="1"/>
              <a:t>mức</a:t>
            </a:r>
            <a:r>
              <a:rPr dirty="0"/>
              <a:t> </a:t>
            </a:r>
            <a:r>
              <a:rPr dirty="0" err="1"/>
              <a:t>ký</a:t>
            </a:r>
            <a:r>
              <a:rPr dirty="0"/>
              <a:t> </a:t>
            </a:r>
            <a:r>
              <a:rPr dirty="0" err="1"/>
              <a:t>tự</a:t>
            </a:r>
            <a:r>
              <a:rPr dirty="0"/>
              <a:t>. Train decoder </a:t>
            </a:r>
            <a:r>
              <a:rPr dirty="0" err="1"/>
              <a:t>bằng</a:t>
            </a:r>
            <a:r>
              <a:rPr dirty="0"/>
              <a:t> teacher forcing </a:t>
            </a:r>
            <a:r>
              <a:rPr dirty="0" err="1"/>
              <a:t>với</a:t>
            </a:r>
            <a:r>
              <a:rPr dirty="0"/>
              <a:t> BOS/EOS, cross-entropy </a:t>
            </a:r>
            <a:r>
              <a:rPr dirty="0" err="1"/>
              <a:t>bỏ</a:t>
            </a:r>
            <a:r>
              <a:rPr dirty="0"/>
              <a:t> PAD. Decoder </a:t>
            </a:r>
            <a:r>
              <a:rPr dirty="0" err="1"/>
              <a:t>nhận</a:t>
            </a:r>
            <a:r>
              <a:rPr dirty="0"/>
              <a:t> </a:t>
            </a:r>
            <a:r>
              <a:rPr dirty="0" err="1"/>
              <a:t>cả</a:t>
            </a:r>
            <a:r>
              <a:rPr dirty="0"/>
              <a:t> memory </a:t>
            </a:r>
            <a:r>
              <a:rPr dirty="0" err="1"/>
              <a:t>từ</a:t>
            </a:r>
            <a:r>
              <a:rPr dirty="0"/>
              <a:t> encoder </a:t>
            </a:r>
            <a:r>
              <a:rPr dirty="0" err="1"/>
              <a:t>và</a:t>
            </a:r>
            <a:r>
              <a:rPr dirty="0"/>
              <a:t> prefix </a:t>
            </a:r>
            <a:r>
              <a:rPr dirty="0" err="1"/>
              <a:t>ký</a:t>
            </a:r>
            <a:r>
              <a:rPr dirty="0"/>
              <a:t> </a:t>
            </a:r>
            <a:r>
              <a:rPr dirty="0" err="1"/>
              <a:t>tự</a:t>
            </a:r>
            <a:r>
              <a:rPr dirty="0"/>
              <a:t>, prefix </a:t>
            </a:r>
            <a:r>
              <a:rPr dirty="0" err="1"/>
              <a:t>được</a:t>
            </a:r>
            <a:r>
              <a:rPr dirty="0"/>
              <a:t> </a:t>
            </a:r>
            <a:r>
              <a:rPr dirty="0" err="1"/>
              <a:t>lược</a:t>
            </a:r>
            <a:r>
              <a:rPr dirty="0"/>
              <a:t> </a:t>
            </a:r>
            <a:r>
              <a:rPr dirty="0" err="1"/>
              <a:t>khỏi</a:t>
            </a:r>
            <a:r>
              <a:rPr dirty="0"/>
              <a:t> </a:t>
            </a:r>
            <a:r>
              <a:rPr dirty="0" err="1"/>
              <a:t>hình</a:t>
            </a:r>
            <a:r>
              <a:rPr dirty="0"/>
              <a:t> </a:t>
            </a:r>
            <a:r>
              <a:rPr dirty="0" err="1"/>
              <a:t>để</a:t>
            </a:r>
            <a:r>
              <a:rPr dirty="0"/>
              <a:t> </a:t>
            </a:r>
            <a:r>
              <a:rPr dirty="0" err="1"/>
              <a:t>dễ</a:t>
            </a:r>
            <a:r>
              <a:rPr dirty="0"/>
              <a:t> </a:t>
            </a:r>
            <a:r>
              <a:rPr dirty="0" err="1"/>
              <a:t>đọc</a:t>
            </a:r>
            <a:r>
              <a:rPr dirty="0"/>
              <a:t>.</a:t>
            </a:r>
          </a:p>
          <a:p>
            <a:r>
              <a:rPr dirty="0" err="1"/>
              <a:t>MoE</a:t>
            </a:r>
            <a:r>
              <a:rPr dirty="0"/>
              <a:t>: </a:t>
            </a:r>
            <a:r>
              <a:rPr dirty="0" err="1"/>
              <a:t>khởi</a:t>
            </a:r>
            <a:r>
              <a:rPr dirty="0"/>
              <a:t> </a:t>
            </a:r>
            <a:r>
              <a:rPr dirty="0" err="1"/>
              <a:t>đầu</a:t>
            </a:r>
            <a:r>
              <a:rPr dirty="0"/>
              <a:t> </a:t>
            </a:r>
            <a:r>
              <a:rPr dirty="0" err="1"/>
              <a:t>thay</a:t>
            </a:r>
            <a:r>
              <a:rPr dirty="0"/>
              <a:t> FFN </a:t>
            </a:r>
            <a:r>
              <a:rPr dirty="0" err="1"/>
              <a:t>của</a:t>
            </a:r>
            <a:r>
              <a:rPr dirty="0"/>
              <a:t> </a:t>
            </a:r>
            <a:r>
              <a:rPr dirty="0" err="1"/>
              <a:t>lớp</a:t>
            </a:r>
            <a:r>
              <a:rPr dirty="0"/>
              <a:t> encoder </a:t>
            </a:r>
            <a:r>
              <a:rPr dirty="0" err="1"/>
              <a:t>cuối</a:t>
            </a:r>
            <a:r>
              <a:rPr dirty="0"/>
              <a:t> </a:t>
            </a:r>
            <a:r>
              <a:rPr dirty="0" err="1"/>
              <a:t>bằng</a:t>
            </a:r>
            <a:r>
              <a:rPr dirty="0"/>
              <a:t> 4 expert, Top-2, </a:t>
            </a:r>
            <a:r>
              <a:rPr dirty="0" err="1"/>
              <a:t>cùng</a:t>
            </a:r>
            <a:r>
              <a:rPr dirty="0"/>
              <a:t> </a:t>
            </a:r>
            <a:r>
              <a:rPr dirty="0" err="1"/>
              <a:t>chiều</a:t>
            </a:r>
            <a:r>
              <a:rPr dirty="0"/>
              <a:t> </a:t>
            </a:r>
            <a:r>
              <a:rPr dirty="0" err="1"/>
              <a:t>ẩn</a:t>
            </a:r>
            <a:r>
              <a:rPr dirty="0"/>
              <a:t> </a:t>
            </a:r>
            <a:r>
              <a:rPr dirty="0" err="1"/>
              <a:t>với</a:t>
            </a:r>
            <a:r>
              <a:rPr dirty="0"/>
              <a:t> FFN </a:t>
            </a:r>
            <a:r>
              <a:rPr dirty="0" err="1"/>
              <a:t>gốc</a:t>
            </a:r>
            <a:r>
              <a:rPr dirty="0"/>
              <a:t>. Router </a:t>
            </a:r>
            <a:r>
              <a:rPr dirty="0" err="1"/>
              <a:t>tính</a:t>
            </a:r>
            <a:r>
              <a:rPr dirty="0"/>
              <a:t> </a:t>
            </a:r>
            <a:r>
              <a:rPr dirty="0" err="1"/>
              <a:t>softmax</a:t>
            </a:r>
            <a:r>
              <a:rPr dirty="0"/>
              <a:t> </a:t>
            </a:r>
            <a:r>
              <a:rPr dirty="0" err="1"/>
              <a:t>và</a:t>
            </a:r>
            <a:r>
              <a:rPr dirty="0"/>
              <a:t> </a:t>
            </a:r>
            <a:r>
              <a:rPr dirty="0" err="1"/>
              <a:t>chọn</a:t>
            </a:r>
            <a:r>
              <a:rPr dirty="0"/>
              <a:t> top-k, </a:t>
            </a:r>
            <a:r>
              <a:rPr dirty="0" err="1"/>
              <a:t>chuẩn</a:t>
            </a:r>
            <a:r>
              <a:rPr dirty="0"/>
              <a:t> </a:t>
            </a:r>
            <a:r>
              <a:rPr dirty="0" err="1"/>
              <a:t>hóa</a:t>
            </a:r>
            <a:r>
              <a:rPr dirty="0"/>
              <a:t> </a:t>
            </a:r>
            <a:r>
              <a:rPr dirty="0" err="1"/>
              <a:t>trọng</a:t>
            </a:r>
            <a:r>
              <a:rPr dirty="0"/>
              <a:t> </a:t>
            </a:r>
            <a:r>
              <a:rPr dirty="0" err="1"/>
              <a:t>số</a:t>
            </a:r>
            <a:r>
              <a:rPr dirty="0"/>
              <a:t> </a:t>
            </a:r>
            <a:r>
              <a:rPr dirty="0" err="1"/>
              <a:t>trên</a:t>
            </a:r>
            <a:r>
              <a:rPr dirty="0"/>
              <a:t> </a:t>
            </a:r>
            <a:r>
              <a:rPr dirty="0" err="1"/>
              <a:t>các</a:t>
            </a:r>
            <a:r>
              <a:rPr dirty="0"/>
              <a:t> expert </a:t>
            </a:r>
            <a:r>
              <a:rPr dirty="0" err="1"/>
              <a:t>được</a:t>
            </a:r>
            <a:r>
              <a:rPr dirty="0"/>
              <a:t> </a:t>
            </a:r>
            <a:r>
              <a:rPr dirty="0" err="1"/>
              <a:t>chọn</a:t>
            </a:r>
            <a:r>
              <a:rPr dirty="0"/>
              <a:t>. Output </a:t>
            </a:r>
            <a:r>
              <a:rPr dirty="0" err="1"/>
              <a:t>y_t</a:t>
            </a:r>
            <a:r>
              <a:rPr dirty="0"/>
              <a:t> = sum_{</a:t>
            </a:r>
            <a:r>
              <a:rPr dirty="0" err="1"/>
              <a:t>i</a:t>
            </a:r>
            <a:r>
              <a:rPr dirty="0"/>
              <a:t> in </a:t>
            </a:r>
            <a:r>
              <a:rPr dirty="0" err="1"/>
              <a:t>TopK</a:t>
            </a:r>
            <a:r>
              <a:rPr dirty="0"/>
              <a:t>(t)} g_{</a:t>
            </a:r>
            <a:r>
              <a:rPr dirty="0" err="1"/>
              <a:t>ti</a:t>
            </a:r>
            <a:r>
              <a:rPr dirty="0"/>
              <a:t>} </a:t>
            </a:r>
            <a:r>
              <a:rPr dirty="0" err="1"/>
              <a:t>E_i</a:t>
            </a:r>
            <a:r>
              <a:rPr dirty="0"/>
              <a:t>(</a:t>
            </a:r>
            <a:r>
              <a:rPr dirty="0" err="1"/>
              <a:t>h_t</a:t>
            </a:r>
            <a:r>
              <a:rPr dirty="0"/>
              <a:t>). Attention, residual, layer normalization </a:t>
            </a:r>
            <a:r>
              <a:rPr dirty="0" err="1"/>
              <a:t>và</a:t>
            </a:r>
            <a:r>
              <a:rPr dirty="0"/>
              <a:t> decoder </a:t>
            </a:r>
            <a:r>
              <a:rPr dirty="0" err="1"/>
              <a:t>giữ</a:t>
            </a:r>
            <a:r>
              <a:rPr dirty="0"/>
              <a:t> </a:t>
            </a:r>
            <a:r>
              <a:rPr dirty="0" err="1"/>
              <a:t>như</a:t>
            </a:r>
            <a:r>
              <a:rPr dirty="0"/>
              <a:t> </a:t>
            </a:r>
            <a:r>
              <a:rPr dirty="0" err="1"/>
              <a:t>mô</a:t>
            </a:r>
            <a:r>
              <a:rPr dirty="0"/>
              <a:t> </a:t>
            </a:r>
            <a:r>
              <a:rPr dirty="0" err="1"/>
              <a:t>hình</a:t>
            </a:r>
            <a:r>
              <a:rPr dirty="0"/>
              <a:t> B. </a:t>
            </a:r>
            <a:r>
              <a:rPr dirty="0" err="1"/>
              <a:t>Ghi</a:t>
            </a:r>
            <a:r>
              <a:rPr dirty="0"/>
              <a:t> </a:t>
            </a:r>
            <a:r>
              <a:rPr dirty="0" err="1"/>
              <a:t>nhận</a:t>
            </a:r>
            <a:r>
              <a:rPr dirty="0"/>
              <a:t> </a:t>
            </a:r>
            <a:r>
              <a:rPr dirty="0" err="1"/>
              <a:t>tỷ</a:t>
            </a:r>
            <a:r>
              <a:rPr dirty="0"/>
              <a:t> </a:t>
            </a:r>
            <a:r>
              <a:rPr dirty="0" err="1"/>
              <a:t>lệ</a:t>
            </a:r>
            <a:r>
              <a:rPr dirty="0"/>
              <a:t> token </a:t>
            </a:r>
            <a:r>
              <a:rPr dirty="0" err="1"/>
              <a:t>mỗi</a:t>
            </a:r>
            <a:r>
              <a:rPr dirty="0"/>
              <a:t> expert, token </a:t>
            </a:r>
            <a:r>
              <a:rPr dirty="0" err="1"/>
              <a:t>bị</a:t>
            </a:r>
            <a:r>
              <a:rPr dirty="0"/>
              <a:t> drop </a:t>
            </a:r>
            <a:r>
              <a:rPr dirty="0" err="1"/>
              <a:t>và</a:t>
            </a:r>
            <a:r>
              <a:rPr dirty="0"/>
              <a:t> active/total parameters. </a:t>
            </a:r>
            <a:r>
              <a:rPr dirty="0" err="1"/>
              <a:t>Thử</a:t>
            </a:r>
            <a:r>
              <a:rPr dirty="0"/>
              <a:t> Top-1 </a:t>
            </a:r>
            <a:r>
              <a:rPr dirty="0" err="1"/>
              <a:t>và</a:t>
            </a:r>
            <a:r>
              <a:rPr dirty="0"/>
              <a:t> Top-2 </a:t>
            </a:r>
            <a:r>
              <a:rPr dirty="0" err="1"/>
              <a:t>nếu</a:t>
            </a:r>
            <a:r>
              <a:rPr dirty="0"/>
              <a:t> </a:t>
            </a:r>
            <a:r>
              <a:rPr dirty="0" err="1"/>
              <a:t>đủ</a:t>
            </a:r>
            <a:r>
              <a:rPr dirty="0"/>
              <a:t> </a:t>
            </a:r>
            <a:r>
              <a:rPr dirty="0" err="1"/>
              <a:t>ngân</a:t>
            </a:r>
            <a:r>
              <a:rPr dirty="0"/>
              <a:t> </a:t>
            </a:r>
            <a:r>
              <a:rPr dirty="0" err="1"/>
              <a:t>sách</a:t>
            </a:r>
            <a:r>
              <a:rPr dirty="0"/>
              <a:t>. </a:t>
            </a:r>
            <a:r>
              <a:rPr dirty="0" err="1"/>
              <a:t>Không</a:t>
            </a:r>
            <a:r>
              <a:rPr dirty="0"/>
              <a:t> </a:t>
            </a:r>
            <a:r>
              <a:rPr dirty="0" err="1"/>
              <a:t>gọi</a:t>
            </a:r>
            <a:r>
              <a:rPr dirty="0"/>
              <a:t> </a:t>
            </a:r>
            <a:r>
              <a:rPr dirty="0" err="1"/>
              <a:t>đây</a:t>
            </a:r>
            <a:r>
              <a:rPr dirty="0"/>
              <a:t> </a:t>
            </a:r>
            <a:r>
              <a:rPr dirty="0" err="1"/>
              <a:t>là</a:t>
            </a:r>
            <a:r>
              <a:rPr dirty="0"/>
              <a:t> </a:t>
            </a:r>
            <a:r>
              <a:rPr dirty="0" err="1"/>
              <a:t>phương</a:t>
            </a:r>
            <a:r>
              <a:rPr dirty="0"/>
              <a:t> </a:t>
            </a:r>
            <a:r>
              <a:rPr dirty="0" err="1"/>
              <a:t>pháp</a:t>
            </a:r>
            <a:r>
              <a:rPr dirty="0"/>
              <a:t> </a:t>
            </a:r>
            <a:r>
              <a:rPr dirty="0" err="1"/>
              <a:t>mới</a:t>
            </a:r>
            <a:r>
              <a:rPr dirty="0"/>
              <a:t> </a:t>
            </a:r>
            <a:r>
              <a:rPr dirty="0" err="1"/>
              <a:t>đã</a:t>
            </a:r>
            <a:r>
              <a:rPr dirty="0"/>
              <a:t> </a:t>
            </a:r>
            <a:r>
              <a:rPr dirty="0" err="1"/>
              <a:t>chứng</a:t>
            </a:r>
            <a:r>
              <a:rPr dirty="0"/>
              <a:t> </a:t>
            </a:r>
            <a:r>
              <a:rPr dirty="0" err="1"/>
              <a:t>minh</a:t>
            </a:r>
            <a:r>
              <a:rPr dirty="0"/>
              <a:t>, </a:t>
            </a:r>
            <a:r>
              <a:rPr dirty="0" err="1"/>
              <a:t>chỉ</a:t>
            </a:r>
            <a:r>
              <a:rPr dirty="0"/>
              <a:t> </a:t>
            </a:r>
            <a:r>
              <a:rPr dirty="0" err="1"/>
              <a:t>là</a:t>
            </a:r>
            <a:r>
              <a:rPr dirty="0"/>
              <a:t> </a:t>
            </a:r>
            <a:r>
              <a:rPr dirty="0" err="1"/>
              <a:t>cải</a:t>
            </a:r>
            <a:r>
              <a:rPr dirty="0"/>
              <a:t> </a:t>
            </a:r>
            <a:r>
              <a:rPr dirty="0" err="1"/>
              <a:t>tiến</a:t>
            </a:r>
            <a:r>
              <a:rPr dirty="0"/>
              <a:t> </a:t>
            </a:r>
            <a:r>
              <a:rPr dirty="0" err="1"/>
              <a:t>kiến</a:t>
            </a:r>
            <a:r>
              <a:rPr dirty="0"/>
              <a:t> </a:t>
            </a:r>
            <a:r>
              <a:rPr dirty="0" err="1"/>
              <a:t>trúc</a:t>
            </a:r>
            <a:r>
              <a:rPr dirty="0"/>
              <a:t> </a:t>
            </a:r>
            <a:r>
              <a:rPr dirty="0" err="1"/>
              <a:t>để</a:t>
            </a:r>
            <a:r>
              <a:rPr dirty="0"/>
              <a:t> </a:t>
            </a:r>
            <a:r>
              <a:rPr dirty="0" err="1"/>
              <a:t>thực</a:t>
            </a:r>
            <a:r>
              <a:rPr dirty="0"/>
              <a:t> </a:t>
            </a:r>
            <a:r>
              <a:rPr dirty="0" err="1"/>
              <a:t>nghiệm</a:t>
            </a:r>
            <a:r>
              <a:rPr dirty="0"/>
              <a:t>. </a:t>
            </a:r>
            <a:r>
              <a:rPr dirty="0" err="1"/>
              <a:t>Cả</a:t>
            </a:r>
            <a:r>
              <a:rPr dirty="0"/>
              <a:t> </a:t>
            </a:r>
            <a:r>
              <a:rPr dirty="0" err="1"/>
              <a:t>ba</a:t>
            </a:r>
            <a:r>
              <a:rPr dirty="0"/>
              <a:t> </a:t>
            </a:r>
            <a:r>
              <a:rPr dirty="0" err="1"/>
              <a:t>khởi</a:t>
            </a:r>
            <a:r>
              <a:rPr dirty="0"/>
              <a:t> </a:t>
            </a:r>
            <a:r>
              <a:rPr dirty="0" err="1"/>
              <a:t>tạo</a:t>
            </a:r>
            <a:r>
              <a:rPr dirty="0"/>
              <a:t> </a:t>
            </a:r>
            <a:r>
              <a:rPr dirty="0" err="1"/>
              <a:t>ngẫu</a:t>
            </a:r>
            <a:r>
              <a:rPr dirty="0"/>
              <a:t> </a:t>
            </a:r>
            <a:r>
              <a:rPr dirty="0" err="1"/>
              <a:t>nhiên</a:t>
            </a:r>
            <a:r>
              <a:rPr dirty="0"/>
              <a:t>, </a:t>
            </a:r>
            <a:r>
              <a:rPr dirty="0" err="1"/>
              <a:t>kể</a:t>
            </a:r>
            <a:r>
              <a:rPr dirty="0"/>
              <a:t> </a:t>
            </a:r>
            <a:r>
              <a:rPr dirty="0" err="1"/>
              <a:t>cả</a:t>
            </a:r>
            <a:r>
              <a:rPr dirty="0"/>
              <a:t> CNN, </a:t>
            </a:r>
            <a:r>
              <a:rPr dirty="0" err="1"/>
              <a:t>không</a:t>
            </a:r>
            <a:r>
              <a:rPr dirty="0"/>
              <a:t> </a:t>
            </a:r>
            <a:r>
              <a:rPr dirty="0" err="1"/>
              <a:t>nạp</a:t>
            </a:r>
            <a:r>
              <a:rPr dirty="0"/>
              <a:t> </a:t>
            </a:r>
            <a:r>
              <a:rPr dirty="0" err="1"/>
              <a:t>trọng</a:t>
            </a:r>
            <a:r>
              <a:rPr dirty="0"/>
              <a:t> </a:t>
            </a:r>
            <a:r>
              <a:rPr dirty="0" err="1"/>
              <a:t>số</a:t>
            </a:r>
            <a:r>
              <a:rPr dirty="0"/>
              <a:t> </a:t>
            </a:r>
            <a:r>
              <a:rPr dirty="0" err="1"/>
              <a:t>VietOCR</a:t>
            </a:r>
            <a:r>
              <a:rPr dirty="0"/>
              <a:t> </a:t>
            </a:r>
            <a:r>
              <a:rPr dirty="0" err="1"/>
              <a:t>hoặc</a:t>
            </a:r>
            <a:r>
              <a:rPr dirty="0"/>
              <a:t> ImageNet. </a:t>
            </a:r>
            <a:r>
              <a:rPr dirty="0" err="1"/>
              <a:t>Chốt</a:t>
            </a:r>
            <a:r>
              <a:rPr dirty="0"/>
              <a:t> </a:t>
            </a:r>
            <a:r>
              <a:rPr dirty="0" err="1"/>
              <a:t>chiều</a:t>
            </a:r>
            <a:r>
              <a:rPr dirty="0"/>
              <a:t> </a:t>
            </a:r>
            <a:r>
              <a:rPr dirty="0" err="1"/>
              <a:t>cao</a:t>
            </a:r>
            <a:r>
              <a:rPr dirty="0"/>
              <a:t> </a:t>
            </a:r>
            <a:r>
              <a:rPr dirty="0" err="1"/>
              <a:t>ảnh</a:t>
            </a:r>
            <a:r>
              <a:rPr dirty="0"/>
              <a:t> </a:t>
            </a:r>
            <a:r>
              <a:rPr dirty="0" err="1"/>
              <a:t>và</a:t>
            </a:r>
            <a:r>
              <a:rPr dirty="0"/>
              <a:t> stride </a:t>
            </a:r>
            <a:r>
              <a:rPr dirty="0" err="1"/>
              <a:t>sao</a:t>
            </a:r>
            <a:r>
              <a:rPr dirty="0"/>
              <a:t> </a:t>
            </a:r>
            <a:r>
              <a:rPr dirty="0" err="1"/>
              <a:t>cho</a:t>
            </a:r>
            <a:r>
              <a:rPr dirty="0"/>
              <a:t> CTC </a:t>
            </a:r>
            <a:r>
              <a:rPr dirty="0" err="1"/>
              <a:t>có</a:t>
            </a:r>
            <a:r>
              <a:rPr dirty="0"/>
              <a:t> </a:t>
            </a:r>
            <a:r>
              <a:rPr dirty="0" err="1"/>
              <a:t>đủ</a:t>
            </a:r>
            <a:r>
              <a:rPr dirty="0"/>
              <a:t> time step </a:t>
            </a:r>
            <a:r>
              <a:rPr dirty="0" err="1"/>
              <a:t>cho</a:t>
            </a:r>
            <a:r>
              <a:rPr dirty="0"/>
              <a:t> </a:t>
            </a:r>
            <a:r>
              <a:rPr dirty="0" err="1"/>
              <a:t>nhãn</a:t>
            </a:r>
            <a:r>
              <a:rPr dirty="0"/>
              <a:t> </a:t>
            </a:r>
            <a:r>
              <a:rPr dirty="0" err="1"/>
              <a:t>dài</a:t>
            </a:r>
            <a:r>
              <a:rPr dirty="0"/>
              <a:t>, </a:t>
            </a:r>
            <a:r>
              <a:rPr dirty="0" err="1"/>
              <a:t>gồm</a:t>
            </a:r>
            <a:r>
              <a:rPr dirty="0"/>
              <a:t> </a:t>
            </a:r>
            <a:r>
              <a:rPr dirty="0" err="1"/>
              <a:t>cả</a:t>
            </a:r>
            <a:r>
              <a:rPr dirty="0"/>
              <a:t> </a:t>
            </a:r>
            <a:r>
              <a:rPr dirty="0" err="1"/>
              <a:t>ký</a:t>
            </a:r>
            <a:r>
              <a:rPr dirty="0"/>
              <a:t> </a:t>
            </a:r>
            <a:r>
              <a:rPr dirty="0" err="1"/>
              <a:t>tự</a:t>
            </a:r>
            <a:r>
              <a:rPr dirty="0"/>
              <a:t> </a:t>
            </a:r>
            <a:r>
              <a:rPr dirty="0" err="1"/>
              <a:t>lặp</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Thiết kế thực nghiệm đề xuất. Ưu tiên split chính thức nếu có. Nếu phải tự chia, seed cố định và group theo source document/ảnh gốc; với synthetic, giữ cùng text-template/biến thể ảnh trong một split khi có metadata, kiểm tra hash và gần trùng. Nếu không có ID nguồn, ghi rõ giới hạn không thể bảo đảm độc lập nguồn. Augment chỉ tập train. Resize giữ tỷ lệ và padding theo batch, không cắt mất dấu hoặc nhãn dài, dùng bucketing chiều rộng. Vocab gồm bảng ký tự tiếng Việt định nghĩa trước, special tokens theo CTC/decoder. Không xây vocab từ test.</a:t>
            </a:r>
          </a:p>
          <a:p>
            <a:r>
              <a:t>Dùng cùng GPU và các mức ngân sách tuning đã thống nhất, cùng effective batch nếu phù hợp. Không ép cùng learning rate vì các kiến trúc có thể cần LR khác nhau. Lưu checkpoint CER validation tốt nhất, early stopping theo validation. Chạy 3 seed cho cấu hình chính nếu GPU cho phép, báo mean và std. CER corpus = (tổng S + D + I) / tổng số ký tự tham chiếu, sau NFC, giữ dấu và hoa/thường theo quy tắc chung. WER ở đây tách bằng khoảng trắng, không khẳng định là từ ngôn ngữ học tiếng Việt. Exact match toàn dòng.</a:t>
            </a:r>
          </a:p>
          <a:p>
            <a:r>
              <a:t>Đo latency bao gồm decoder với cùng chế độ greedy và cùng tập độ dài, warm-up, đồng bộ GPU, batch 1, báo median và p95; ghi môi trường phần cứng và VRAM peak. Có thể thêm throughput batch lớn. So sánh MoE với dense cùng khung, công bố tổng/active params và thời gian, tránh quy toàn bộ tăng chất lượng cho routing khi số tham số tăng. Nếu đủ tài nguyên bổ sung dense có ngân sách tham số tương đương. Không tự điền số đo khi chưa chạy.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Giai đoạn 2 không huấn luyện lại cả ba kiến trúc để chọn một mô hình mới. Nhóm chọn mô hình tốt nhất trên validation chữ in rồi fine-tune trên union các train split viết tay. Đây là lựa chọn theo chất lượng chữ in và điều kiện triển khai, không chứng minh đó là kiến trúc tối ưu cho chữ viết tay.</a:t>
            </a:r>
          </a:p>
          <a:p>
            <a:r>
              <a:t>5CD-AI v1 có train 22.403 và test 1.000 theo dataset card: giữ 1.000 test, lấy khoảng 10% train làm validation theo source nếu metadata cho phép. UIT-HWDB-line giữ official split đi kèm bản tải nếu có. Với VOCR hoặc nguồn không có split, 80/10/10 theo writer/document, không random từng crop cùng trang. Dò cả trùng tuyệt đối lẫn gần trùng xuyên nguồn. Nếu mẫu train trùng official test của nguồn khác, loại mẫu đó khỏi train để giữ test không nhiễm. Nếu thiếu writer ID, dùng source/document ID và ghi rõ giới hạn.</a:t>
            </a:r>
          </a:p>
          <a:p>
            <a:r>
              <a:t>Lấy mẫu theo nguồn có thể dùng xác suất tỉ lệ căn bậc hai quy mô train để giảm ưu thế bộ lớn, chỉ điều chỉnh bằng validation. LR fine-tune nhỏ hơn train từ đầu, có thể freeze CNN vài epoch đầu rồi unfreeze. Chọn checkpoint bằng macro-CER validation của ba nguồn; macro là trung bình CER từng nguồn, khác pooled CER tính trên mọi ký tự. Đánh giá trước/sau fine-tune trên đúng cùng test. Giữ checkpoint chữ in và checkpoint viết tay để UI cho chọn chế độ, tránh mặc định một model thích nghi sẽ giữ tốt cả hai miền. Nếu bổ sung replay chữ in cần báo là thí nghiệm riêng và ghi tỷ lệ trộn.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detector tham khảo: https://github.com/PaddlePaddle/PaddleOCR. Detector là thành phần pretrained độc lập, không gọi API OCR ngoài để thay recognizer của nhóm. Mô hình PP-OCR/DBNet cụ thể và checkpoint sẽ chốt sau thử nghiệm trên ảnh đoạn thuộc miền mục tiêu, không cam kết pretrained chữ in hoạt động tốt trên chữ viết tay.</a:t>
            </a:r>
          </a:p>
          <a:p>
            <a:r>
              <a:t>Flow backend: nhận ảnh, giới hạn dung lượng/kích thước, chuẩn hóa hướng, detection trả polygon, lọc/ghép box ở mức dòng nếu detector trả mức từ, deskew/perspective crop, resize như train, recognition bằng checkpoint phù hợp, reading order trên xuống dưới và trái sang phải cho một cột, ghép văn bản. Frontend chỉ gọi backend và trực quan hóa, không nói frontend tự chạy detector khi chưa có thiết kế on-device.</a:t>
            </a:r>
          </a:p>
          <a:p>
            <a:r>
              <a:t>Đánh giá recognition độc lập trên crop chuẩn để tách lỗi nhận dạng khỏi lỗi crop. Đánh giá pipeline trên tập ảnh đoạn giữ riêng và có transcript chuẩn. Chỉ báo Precision/Recall/Hmean detection tại ngưỡng IoU chốt trước khi có annotation polygon đủ tốt, không dùng bộ line crop để suy ra điểm detection. UIT-HWDB-paragraph có 1.144 ảnh theo nguồn, nhưng không tự giả định có polygon dòng hoặc độc lập với UIT-HWDB-line. Nếu dùng ảnh paragraph để demo/test, phải loại toàn bộ dòng cùng nguồn khỏi train/validation và có nhãn phù hợp. Có thể thu riêng tập đoạn để tránh rò rỉ. Nếu pretrained detector kém trên viết tay, đó là giới hạn hệ thống cần báo và cân nhắc tinh chỉnh detector khi có nhãn box, ngoài trọng tâm so sánh ba recognizer.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Phân công là đề xuất để nhóm thống nhất, không phải mô tả nhiệm vụ đã giao. Tất cả thành viên cùng review kết quả và chuẩn bị báo cáo. Mốc 1: chốt nguồn và version của bốn dataset, kiểm kê mẫu, split và baseline chạy được. Mốc 2: hoàn tất ba mô hình trên bộ chữ in và lựa chọn bằng validation. Mốc 3: fine-tune mô hình được chọn, đánh giá từng nguồn và kiểm tra quên chữ in. Mốc 4: tích hợp frontend, detector và recognizer, đánh giá end-to-end. Đầu ra gồm manifest JSONL chứa image_path, text, source, source_id/writer_id khi có, split và hash; không đưa dữ liệu test vào train. Công bố môi trường, seed, hyperparameters, checkpoint, metric scripts và hạn chế. Kết quả MoE không vượt dense vẫn là kết luận thực nghiệm hợp lệ, không đặt mục tiêu phần trăm chính xác chưa có cơ sở. Thành viên và mã số giữ đúng thông tin người dùng cung cấp, gồm Hoàng Quý Dương 202416180.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idx="10"/>
          </p:nvPr>
        </p:nvSpPr>
        <p:spPr>
          <a:xfrm>
            <a:off x="838200" y="6486006"/>
            <a:ext cx="2743200" cy="365125"/>
          </a:xfrm>
          <a:prstGeom prst="rect">
            <a:avLst/>
          </a:prstGeom>
        </p:spPr>
        <p:txBody>
          <a:bodyPr/>
          <a:lstStyle>
            <a:lvl1pPr algn="ctr">
              <a:buNone/>
              <a:defRPr sz="1200" b="1">
                <a:solidFill>
                  <a:srgbClr val="00376F"/>
                </a:solidFill>
                <a:latin typeface="Lato"/>
                <a:ea typeface="Lato"/>
                <a:cs typeface="Lato"/>
              </a:defRPr>
            </a:lvl1pPr>
          </a:lstStyle>
          <a:p>
            <a:fld id="{58E92B09-5AF4-4E86-A8BE-E866F0E2C017}" type="datetime1">
              <a:t>10/19/2026</a:t>
            </a:fld>
            <a:endParaRPr/>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idx="11"/>
          </p:nvPr>
        </p:nvSpPr>
        <p:spPr>
          <a:xfrm>
            <a:off x="4038600" y="6486006"/>
            <a:ext cx="4114800" cy="365125"/>
          </a:xfrm>
          <a:prstGeom prst="rect">
            <a:avLst/>
          </a:prstGeom>
        </p:spPr>
        <p:txBody>
          <a:bodyPr/>
          <a:lstStyle>
            <a:lvl1pPr algn="ctr">
              <a:buNone/>
              <a:defRPr sz="1200" b="1">
                <a:solidFill>
                  <a:srgbClr val="00376F"/>
                </a:solidFill>
                <a:latin typeface="Lato"/>
                <a:ea typeface="Lato"/>
                <a:cs typeface="Lato"/>
              </a:defRPr>
            </a:lvl1pPr>
          </a:lstStyle>
          <a:p>
            <a:endParaRPr/>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idx="12"/>
          </p:nvPr>
        </p:nvSpPr>
        <p:spPr>
          <a:xfrm>
            <a:off x="9156511" y="6492875"/>
            <a:ext cx="2743200" cy="365125"/>
          </a:xfrm>
          <a:prstGeom prst="rect">
            <a:avLst/>
          </a:prstGeom>
        </p:spPr>
        <p:txBody>
          <a:bodyPr/>
          <a:lstStyle>
            <a:lvl1pPr algn="r">
              <a:buNone/>
              <a:defRPr sz="1200" b="1">
                <a:solidFill>
                  <a:srgbClr val="00376F"/>
                </a:solidFill>
                <a:latin typeface="Lato"/>
                <a:ea typeface="Lato"/>
                <a:cs typeface="Lato"/>
              </a:defRPr>
            </a:lvl1pPr>
          </a:lstStyle>
          <a:p>
            <a:fld id="{9EA0BE3B-158A-4EDF-80DC-E394A0D1600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idx="10"/>
          </p:nvPr>
        </p:nvSpPr>
        <p:spPr>
          <a:xfrm>
            <a:off x="838200" y="6486006"/>
            <a:ext cx="2743200" cy="365125"/>
          </a:xfrm>
          <a:prstGeom prst="rect">
            <a:avLst/>
          </a:prstGeom>
        </p:spPr>
        <p:txBody>
          <a:bodyPr/>
          <a:lstStyle>
            <a:lvl1pPr>
              <a:buNone/>
              <a:defRPr sz="1200" b="1">
                <a:solidFill>
                  <a:srgbClr val="00376F"/>
                </a:solidFill>
                <a:latin typeface="Lato"/>
                <a:ea typeface="Lato"/>
                <a:cs typeface="Lato"/>
              </a:defRPr>
            </a:lvl1pPr>
          </a:lstStyle>
          <a:p>
            <a:fld id="{F70EAA40-3A53-4A3D-924A-D38F1059C7D5}" type="datetime1">
              <a:t>10/19/2026</a:t>
            </a:fld>
            <a:endParaRPr/>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idx="11"/>
          </p:nvPr>
        </p:nvSpPr>
        <p:spPr>
          <a:xfrm>
            <a:off x="4038600" y="6486006"/>
            <a:ext cx="4114800" cy="365125"/>
          </a:xfrm>
          <a:prstGeom prst="rect">
            <a:avLst/>
          </a:prstGeom>
        </p:spPr>
        <p:txBody>
          <a:bodyPr/>
          <a:lstStyle>
            <a:lvl1pPr algn="ctr">
              <a:buNone/>
              <a:defRPr sz="1200" b="1">
                <a:solidFill>
                  <a:srgbClr val="00376F"/>
                </a:solidFill>
                <a:latin typeface="Lato"/>
                <a:ea typeface="Lato"/>
                <a:cs typeface="Lato"/>
              </a:defRPr>
            </a:lvl1pPr>
          </a:lstStyle>
          <a:p>
            <a:endParaRPr/>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idx="12"/>
          </p:nvPr>
        </p:nvSpPr>
        <p:spPr>
          <a:xfrm>
            <a:off x="9156511" y="6492875"/>
            <a:ext cx="2743200" cy="365125"/>
          </a:xfrm>
          <a:prstGeom prst="rect">
            <a:avLst/>
          </a:prstGeom>
        </p:spPr>
        <p:txBody>
          <a:bodyPr/>
          <a:lstStyle>
            <a:lvl1pPr algn="r">
              <a:buNone/>
              <a:defRPr sz="1200" b="1">
                <a:solidFill>
                  <a:srgbClr val="00376F"/>
                </a:solidFill>
                <a:latin typeface="Lato"/>
                <a:ea typeface="Lato"/>
                <a:cs typeface="Lato"/>
              </a:defRPr>
            </a:lvl1pPr>
          </a:lstStyle>
          <a:p>
            <a:fld id="{9EA0BE3B-158A-4EDF-80DC-E394A0D1600F}" type="slidenum">
              <a:t>‹#›</a:t>
            </a:fld>
            <a:endParaRPr/>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buNone/>
              <a:defRPr sz="2800" b="1">
                <a:solidFill>
                  <a:schemeClr val="bg1"/>
                </a:solidFill>
                <a:latin typeface="Lato"/>
                <a:ea typeface="Lato"/>
                <a:cs typeface="Lato"/>
              </a:defRPr>
            </a:lvl1pPr>
          </a:lstStyle>
          <a:p>
            <a:r>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idx="13"/>
          </p:nvPr>
        </p:nvSpPr>
        <p:spPr>
          <a:xfrm>
            <a:off x="338736" y="1058844"/>
            <a:ext cx="11514528" cy="4909124"/>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idx="10"/>
          </p:nvPr>
        </p:nvSpPr>
        <p:spPr>
          <a:xfrm>
            <a:off x="838200" y="6486006"/>
            <a:ext cx="2743200" cy="365125"/>
          </a:xfrm>
          <a:prstGeom prst="rect">
            <a:avLst/>
          </a:prstGeom>
        </p:spPr>
        <p:txBody>
          <a:bodyPr/>
          <a:lstStyle>
            <a:lvl1pPr>
              <a:buNone/>
              <a:defRPr sz="1200" b="1">
                <a:solidFill>
                  <a:srgbClr val="00376F"/>
                </a:solidFill>
                <a:latin typeface="Lato"/>
                <a:ea typeface="Lato"/>
                <a:cs typeface="Lato"/>
              </a:defRPr>
            </a:lvl1pPr>
          </a:lstStyle>
          <a:p>
            <a:fld id="{B3ACFEBC-8634-4116-B617-2BE5C2034C2C}" type="datetime1">
              <a:t>10/19/2026</a:t>
            </a:fld>
            <a:endParaRPr/>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idx="11"/>
          </p:nvPr>
        </p:nvSpPr>
        <p:spPr>
          <a:xfrm>
            <a:off x="4038600" y="6486006"/>
            <a:ext cx="4114800" cy="365125"/>
          </a:xfrm>
          <a:prstGeom prst="rect">
            <a:avLst/>
          </a:prstGeom>
        </p:spPr>
        <p:txBody>
          <a:bodyPr/>
          <a:lstStyle>
            <a:lvl1pPr algn="ctr">
              <a:buNone/>
              <a:defRPr sz="1200" b="1">
                <a:solidFill>
                  <a:srgbClr val="00376F"/>
                </a:solidFill>
                <a:latin typeface="Lato"/>
                <a:ea typeface="Lato"/>
                <a:cs typeface="Lato"/>
              </a:defRPr>
            </a:lvl1pPr>
          </a:lstStyle>
          <a:p>
            <a:endParaRPr/>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idx="12"/>
          </p:nvPr>
        </p:nvSpPr>
        <p:spPr>
          <a:xfrm>
            <a:off x="9156511" y="6492875"/>
            <a:ext cx="2743200" cy="365125"/>
          </a:xfrm>
          <a:prstGeom prst="rect">
            <a:avLst/>
          </a:prstGeom>
        </p:spPr>
        <p:txBody>
          <a:bodyPr/>
          <a:lstStyle>
            <a:lvl1pPr algn="r">
              <a:buNone/>
              <a:defRPr sz="1200" b="1">
                <a:solidFill>
                  <a:srgbClr val="00376F"/>
                </a:solidFill>
                <a:latin typeface="Lato"/>
                <a:ea typeface="Lato"/>
                <a:cs typeface="Lato"/>
              </a:defRPr>
            </a:lvl1pPr>
          </a:lstStyle>
          <a:p>
            <a:fld id="{9EA0BE3B-158A-4EDF-80DC-E394A0D1600F}" type="slidenum">
              <a:t>‹#›</a:t>
            </a:fld>
            <a:endParaRPr/>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buNone/>
              <a:defRPr sz="2800" b="1">
                <a:solidFill>
                  <a:schemeClr val="bg1"/>
                </a:solidFill>
                <a:latin typeface="Lato"/>
                <a:ea typeface="Lato"/>
                <a:cs typeface="Lato"/>
              </a:defRPr>
            </a:lvl1pPr>
          </a:lstStyle>
          <a:p>
            <a:r>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idx="13" hasCustomPrompt="1"/>
          </p:nvPr>
        </p:nvSpPr>
        <p:spPr>
          <a:xfrm>
            <a:off x="330201" y="1406769"/>
            <a:ext cx="5765800" cy="4655894"/>
          </a:xfrm>
          <a:prstGeom prst="rect">
            <a:avLst/>
          </a:prstGeom>
        </p:spPr>
        <p:txBody>
          <a:bodyPr/>
          <a:lstStyle>
            <a:lvl1pPr>
              <a:buNone/>
              <a:defRPr>
                <a:latin typeface="Lato"/>
                <a:ea typeface="Lato"/>
                <a:cs typeface="Lato"/>
              </a:defRPr>
            </a:lvl1pPr>
          </a:lstStyle>
          <a:p>
            <a:r>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idx="14" hasCustomPrompt="1"/>
          </p:nvPr>
        </p:nvSpPr>
        <p:spPr>
          <a:xfrm>
            <a:off x="6238875" y="1414463"/>
            <a:ext cx="5445125" cy="4656137"/>
          </a:xfrm>
          <a:prstGeom prst="rect">
            <a:avLst/>
          </a:prstGeom>
        </p:spPr>
        <p:txBody>
          <a:bodyPr/>
          <a:lstStyle>
            <a:lvl1pPr>
              <a:buNone/>
              <a:defRPr>
                <a:latin typeface="Lato"/>
                <a:ea typeface="Lato"/>
                <a:cs typeface="Lato"/>
              </a:defRPr>
            </a:lvl1pPr>
          </a:lstStyle>
          <a:p>
            <a:r>
              <a:t>Picture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buNone/>
              <a:defRPr sz="2800" b="1">
                <a:solidFill>
                  <a:schemeClr val="bg1"/>
                </a:solidFill>
                <a:latin typeface="Lato"/>
                <a:ea typeface="Lato"/>
                <a:cs typeface="Lato"/>
              </a:defRPr>
            </a:lvl1pPr>
          </a:lstStyle>
          <a:p>
            <a:r>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idx="13"/>
          </p:nvPr>
        </p:nvSpPr>
        <p:spPr>
          <a:xfrm>
            <a:off x="337539" y="1032510"/>
            <a:ext cx="11515725" cy="4938713"/>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idx="10"/>
          </p:nvPr>
        </p:nvSpPr>
        <p:spPr>
          <a:xfrm>
            <a:off x="838200" y="6486006"/>
            <a:ext cx="2743200" cy="365125"/>
          </a:xfrm>
          <a:prstGeom prst="rect">
            <a:avLst/>
          </a:prstGeom>
        </p:spPr>
        <p:txBody>
          <a:bodyPr/>
          <a:lstStyle>
            <a:lvl1pPr>
              <a:buNone/>
              <a:defRPr sz="1200" b="1">
                <a:solidFill>
                  <a:srgbClr val="00376F"/>
                </a:solidFill>
                <a:latin typeface="Lato"/>
                <a:ea typeface="Lato"/>
                <a:cs typeface="Lato"/>
              </a:defRPr>
            </a:lvl1pPr>
          </a:lstStyle>
          <a:p>
            <a:fld id="{8CDB0C24-DFE0-41C5-B02D-FC32F5C22F7C}" type="datetime1">
              <a:t>10/19/2026</a:t>
            </a:fld>
            <a:endParaRPr/>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idx="11"/>
          </p:nvPr>
        </p:nvSpPr>
        <p:spPr>
          <a:xfrm>
            <a:off x="4038600" y="6486006"/>
            <a:ext cx="4114800" cy="365125"/>
          </a:xfrm>
          <a:prstGeom prst="rect">
            <a:avLst/>
          </a:prstGeom>
        </p:spPr>
        <p:txBody>
          <a:bodyPr/>
          <a:lstStyle>
            <a:lvl1pPr algn="ctr">
              <a:buNone/>
              <a:defRPr sz="1200" b="1">
                <a:solidFill>
                  <a:srgbClr val="00376F"/>
                </a:solidFill>
                <a:latin typeface="Lato"/>
                <a:ea typeface="Lato"/>
                <a:cs typeface="Lato"/>
              </a:defRPr>
            </a:lvl1pPr>
          </a:lstStyle>
          <a:p>
            <a:endParaRPr/>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idx="12"/>
          </p:nvPr>
        </p:nvSpPr>
        <p:spPr>
          <a:xfrm>
            <a:off x="9156511" y="6492875"/>
            <a:ext cx="2743200" cy="365125"/>
          </a:xfrm>
          <a:prstGeom prst="rect">
            <a:avLst/>
          </a:prstGeom>
        </p:spPr>
        <p:txBody>
          <a:bodyPr/>
          <a:lstStyle>
            <a:lvl1pPr algn="r">
              <a:buNone/>
              <a:defRPr sz="1200" b="1">
                <a:solidFill>
                  <a:srgbClr val="00376F"/>
                </a:solidFill>
                <a:latin typeface="Lato"/>
                <a:ea typeface="Lato"/>
                <a:cs typeface="Lato"/>
              </a:defRPr>
            </a:lvl1pPr>
          </a:lstStyle>
          <a:p>
            <a:fld id="{9EA0BE3B-158A-4EDF-80DC-E394A0D1600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idx="10"/>
          </p:nvPr>
        </p:nvSpPr>
        <p:spPr>
          <a:xfrm>
            <a:off x="838200" y="6486006"/>
            <a:ext cx="2743200" cy="365125"/>
          </a:xfrm>
          <a:prstGeom prst="rect">
            <a:avLst/>
          </a:prstGeom>
        </p:spPr>
        <p:txBody>
          <a:bodyPr/>
          <a:lstStyle>
            <a:lvl1pPr>
              <a:buNone/>
              <a:defRPr sz="1200" b="1">
                <a:solidFill>
                  <a:srgbClr val="00376F"/>
                </a:solidFill>
                <a:latin typeface="Lato"/>
                <a:ea typeface="Lato"/>
                <a:cs typeface="Lato"/>
              </a:defRPr>
            </a:lvl1pPr>
          </a:lstStyle>
          <a:p>
            <a:fld id="{19A9EFEF-A194-4819-82D7-1112425D0E86}" type="datetime1">
              <a:t>10/19/2026</a:t>
            </a:fld>
            <a:endParaRPr/>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idx="11"/>
          </p:nvPr>
        </p:nvSpPr>
        <p:spPr>
          <a:xfrm>
            <a:off x="4038600" y="6486006"/>
            <a:ext cx="4114800" cy="365125"/>
          </a:xfrm>
          <a:prstGeom prst="rect">
            <a:avLst/>
          </a:prstGeom>
        </p:spPr>
        <p:txBody>
          <a:bodyPr/>
          <a:lstStyle>
            <a:lvl1pPr algn="ctr">
              <a:buNone/>
              <a:defRPr sz="1200" b="1">
                <a:solidFill>
                  <a:srgbClr val="00376F"/>
                </a:solidFill>
                <a:latin typeface="Lato"/>
                <a:ea typeface="Lato"/>
                <a:cs typeface="Lato"/>
              </a:defRPr>
            </a:lvl1pPr>
          </a:lstStyle>
          <a:p>
            <a:endParaRPr/>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idx="12"/>
          </p:nvPr>
        </p:nvSpPr>
        <p:spPr>
          <a:xfrm>
            <a:off x="9156511" y="6492875"/>
            <a:ext cx="2743200" cy="365125"/>
          </a:xfrm>
          <a:prstGeom prst="rect">
            <a:avLst/>
          </a:prstGeom>
        </p:spPr>
        <p:txBody>
          <a:bodyPr/>
          <a:lstStyle>
            <a:lvl1pPr algn="r">
              <a:buNone/>
              <a:defRPr sz="1200" b="1">
                <a:solidFill>
                  <a:srgbClr val="00376F"/>
                </a:solidFill>
                <a:latin typeface="Lato"/>
                <a:ea typeface="Lato"/>
                <a:cs typeface="Lato"/>
              </a:defRPr>
            </a:lvl1pPr>
          </a:lstStyle>
          <a:p>
            <a:fld id="{9EA0BE3B-158A-4EDF-80DC-E394A0D1600F}" type="slidenum">
              <a:t>‹#›</a:t>
            </a:fld>
            <a:endParaRPr/>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buNone/>
              <a:defRPr sz="2800" b="1">
                <a:solidFill>
                  <a:schemeClr val="bg1"/>
                </a:solidFill>
                <a:latin typeface="Lato"/>
                <a:ea typeface="Lato"/>
                <a:cs typeface="Lato"/>
              </a:defRPr>
            </a:lvl1pPr>
          </a:lstStyle>
          <a:p>
            <a:r>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idx="13" hasCustomPrompt="1"/>
          </p:nvPr>
        </p:nvSpPr>
        <p:spPr>
          <a:xfrm>
            <a:off x="338736" y="1406525"/>
            <a:ext cx="5757264" cy="4670425"/>
          </a:xfrm>
          <a:prstGeom prst="rect">
            <a:avLst/>
          </a:prstGeom>
        </p:spPr>
        <p:txBody>
          <a:bodyPr/>
          <a:lstStyle>
            <a:lvl1pPr>
              <a:buNone/>
              <a:defRPr>
                <a:latin typeface="Lato"/>
                <a:ea typeface="Lato"/>
                <a:cs typeface="Lato"/>
              </a:defRPr>
            </a:lvl1pPr>
          </a:lstStyle>
          <a:p>
            <a:r>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idx="14" hasCustomPrompt="1"/>
          </p:nvPr>
        </p:nvSpPr>
        <p:spPr>
          <a:xfrm>
            <a:off x="6210300" y="1392239"/>
            <a:ext cx="5592763" cy="4684712"/>
          </a:xfrm>
          <a:prstGeom prst="rect">
            <a:avLst/>
          </a:prstGeom>
        </p:spPr>
        <p:txBody>
          <a:bodyPr/>
          <a:lstStyle>
            <a:lvl1pPr>
              <a:buNone/>
              <a:defRPr>
                <a:latin typeface="Lato"/>
                <a:ea typeface="Lato"/>
                <a:cs typeface="Lato"/>
              </a:defRPr>
            </a:lvl1pPr>
          </a:lstStyle>
          <a:p>
            <a:r>
              <a:t>Table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idx="10"/>
          </p:nvPr>
        </p:nvSpPr>
        <p:spPr>
          <a:xfrm>
            <a:off x="838200" y="6486006"/>
            <a:ext cx="2743200" cy="365125"/>
          </a:xfrm>
          <a:prstGeom prst="rect">
            <a:avLst/>
          </a:prstGeom>
        </p:spPr>
        <p:txBody>
          <a:bodyPr/>
          <a:lstStyle>
            <a:lvl1pPr>
              <a:buNone/>
              <a:defRPr sz="1200" b="1">
                <a:solidFill>
                  <a:schemeClr val="bg1"/>
                </a:solidFill>
                <a:latin typeface="Lato"/>
                <a:ea typeface="Lato"/>
                <a:cs typeface="Lato"/>
              </a:defRPr>
            </a:lvl1pPr>
          </a:lstStyle>
          <a:p>
            <a:fld id="{EEBFCEF3-2DDE-476B-8A96-303EC557333C}" type="datetime1">
              <a:t>10/19/2026</a:t>
            </a:fld>
            <a:endParaRPr/>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idx="11"/>
          </p:nvPr>
        </p:nvSpPr>
        <p:spPr>
          <a:xfrm>
            <a:off x="4038600" y="6486006"/>
            <a:ext cx="4114800" cy="365125"/>
          </a:xfrm>
          <a:prstGeom prst="rect">
            <a:avLst/>
          </a:prstGeom>
        </p:spPr>
        <p:txBody>
          <a:bodyPr/>
          <a:lstStyle>
            <a:lvl1pPr algn="ctr">
              <a:buNone/>
              <a:defRPr sz="1200" b="1">
                <a:solidFill>
                  <a:srgbClr val="00376F"/>
                </a:solidFill>
                <a:latin typeface="Lato"/>
                <a:ea typeface="Lato"/>
                <a:cs typeface="Lato"/>
              </a:defRPr>
            </a:lvl1pPr>
          </a:lstStyle>
          <a:p>
            <a:endParaRPr/>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idx="12"/>
          </p:nvPr>
        </p:nvSpPr>
        <p:spPr>
          <a:xfrm>
            <a:off x="9156511" y="6492875"/>
            <a:ext cx="2743200" cy="365125"/>
          </a:xfrm>
          <a:prstGeom prst="rect">
            <a:avLst/>
          </a:prstGeom>
        </p:spPr>
        <p:txBody>
          <a:bodyPr/>
          <a:lstStyle>
            <a:lvl1pPr algn="r">
              <a:buNone/>
              <a:defRPr sz="1200" b="1">
                <a:solidFill>
                  <a:srgbClr val="00376F"/>
                </a:solidFill>
                <a:latin typeface="Lato"/>
                <a:ea typeface="Lato"/>
                <a:cs typeface="Lato"/>
              </a:defRPr>
            </a:lvl1pPr>
          </a:lstStyle>
          <a:p>
            <a:fld id="{9EA0BE3B-158A-4EDF-80DC-E394A0D1600F}" type="slidenum">
              <a:t>‹#›</a:t>
            </a:fld>
            <a:endParaRPr/>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idx="13"/>
          </p:nvPr>
        </p:nvSpPr>
        <p:spPr>
          <a:xfrm>
            <a:off x="4558372" y="1248325"/>
            <a:ext cx="7391400" cy="5205412"/>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buNone/>
              <a:defRPr sz="2800" b="1">
                <a:solidFill>
                  <a:schemeClr val="tx1"/>
                </a:solidFill>
                <a:latin typeface="Lato"/>
                <a:ea typeface="Lato"/>
                <a:cs typeface="Lato"/>
              </a:defRPr>
            </a:lvl1pPr>
          </a:lstStyle>
          <a:p>
            <a:r>
              <a:t>Title 5:……………………………………..</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buNone/>
              <a:defRPr sz="2800" b="1">
                <a:solidFill>
                  <a:schemeClr val="bg1"/>
                </a:solidFill>
                <a:latin typeface="Lato"/>
                <a:ea typeface="Lato"/>
                <a:cs typeface="Lato"/>
              </a:defRPr>
            </a:lvl1pPr>
          </a:lstStyle>
          <a:p>
            <a:r>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idx="13"/>
          </p:nvPr>
        </p:nvSpPr>
        <p:spPr>
          <a:xfrm>
            <a:off x="337539" y="1032510"/>
            <a:ext cx="11515725" cy="4938713"/>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idx="10"/>
          </p:nvPr>
        </p:nvSpPr>
        <p:spPr>
          <a:xfrm>
            <a:off x="838200" y="6486006"/>
            <a:ext cx="2743200" cy="365125"/>
          </a:xfrm>
          <a:prstGeom prst="rect">
            <a:avLst/>
          </a:prstGeom>
        </p:spPr>
        <p:txBody>
          <a:bodyPr/>
          <a:lstStyle>
            <a:lvl1pPr>
              <a:buNone/>
              <a:defRPr sz="1200" b="1">
                <a:solidFill>
                  <a:srgbClr val="00376F"/>
                </a:solidFill>
                <a:latin typeface="Lato"/>
                <a:ea typeface="Lato"/>
                <a:cs typeface="Lato"/>
              </a:defRPr>
            </a:lvl1pPr>
          </a:lstStyle>
          <a:p>
            <a:fld id="{8CDB0C24-DFE0-41C5-B02D-FC32F5C22F7C}" type="datetime1">
              <a:t>10/19/2026</a:t>
            </a:fld>
            <a:endParaRPr/>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idx="11"/>
          </p:nvPr>
        </p:nvSpPr>
        <p:spPr>
          <a:xfrm>
            <a:off x="4038600" y="6486006"/>
            <a:ext cx="4114800" cy="365125"/>
          </a:xfrm>
          <a:prstGeom prst="rect">
            <a:avLst/>
          </a:prstGeom>
        </p:spPr>
        <p:txBody>
          <a:bodyPr/>
          <a:lstStyle>
            <a:lvl1pPr algn="ctr">
              <a:buNone/>
              <a:defRPr sz="1200" b="1">
                <a:solidFill>
                  <a:srgbClr val="00376F"/>
                </a:solidFill>
                <a:latin typeface="Lato"/>
                <a:ea typeface="Lato"/>
                <a:cs typeface="Lato"/>
              </a:defRPr>
            </a:lvl1pPr>
          </a:lstStyle>
          <a:p>
            <a:endParaRPr/>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idx="12"/>
          </p:nvPr>
        </p:nvSpPr>
        <p:spPr>
          <a:xfrm>
            <a:off x="9156511" y="6492875"/>
            <a:ext cx="2743200" cy="365125"/>
          </a:xfrm>
          <a:prstGeom prst="rect">
            <a:avLst/>
          </a:prstGeom>
        </p:spPr>
        <p:txBody>
          <a:bodyPr/>
          <a:lstStyle>
            <a:lvl1pPr algn="r">
              <a:buNone/>
              <a:defRPr sz="1200" b="1">
                <a:solidFill>
                  <a:srgbClr val="00376F"/>
                </a:solidFill>
                <a:latin typeface="Lato"/>
                <a:ea typeface="Lato"/>
                <a:cs typeface="Lato"/>
              </a:defRPr>
            </a:lvl1pPr>
          </a:lstStyle>
          <a:p>
            <a:fld id="{9EA0BE3B-158A-4EDF-80DC-E394A0D1600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idx="10"/>
          </p:nvPr>
        </p:nvSpPr>
        <p:spPr>
          <a:xfrm>
            <a:off x="838200" y="6486006"/>
            <a:ext cx="2743200" cy="365125"/>
          </a:xfrm>
          <a:prstGeom prst="rect">
            <a:avLst/>
          </a:prstGeom>
        </p:spPr>
        <p:txBody>
          <a:bodyPr/>
          <a:lstStyle>
            <a:lvl1pPr>
              <a:buNone/>
              <a:defRPr sz="1200" b="1">
                <a:solidFill>
                  <a:srgbClr val="00376F"/>
                </a:solidFill>
                <a:latin typeface="Lato"/>
                <a:ea typeface="Lato"/>
                <a:cs typeface="Lato"/>
              </a:defRPr>
            </a:lvl1pPr>
          </a:lstStyle>
          <a:p>
            <a:fld id="{B3ACFEBC-8634-4116-B617-2BE5C2034C2C}" type="datetime1">
              <a:t>10/19/2026</a:t>
            </a:fld>
            <a:endParaRPr/>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idx="11"/>
          </p:nvPr>
        </p:nvSpPr>
        <p:spPr>
          <a:xfrm>
            <a:off x="4038600" y="6486006"/>
            <a:ext cx="4114800" cy="365125"/>
          </a:xfrm>
          <a:prstGeom prst="rect">
            <a:avLst/>
          </a:prstGeom>
        </p:spPr>
        <p:txBody>
          <a:bodyPr/>
          <a:lstStyle>
            <a:lvl1pPr algn="ctr">
              <a:buNone/>
              <a:defRPr sz="1200" b="1">
                <a:solidFill>
                  <a:srgbClr val="00376F"/>
                </a:solidFill>
                <a:latin typeface="Lato"/>
                <a:ea typeface="Lato"/>
                <a:cs typeface="Lato"/>
              </a:defRPr>
            </a:lvl1pPr>
          </a:lstStyle>
          <a:p>
            <a:endParaRPr/>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idx="12"/>
          </p:nvPr>
        </p:nvSpPr>
        <p:spPr>
          <a:xfrm>
            <a:off x="9156511" y="6492875"/>
            <a:ext cx="2743200" cy="365125"/>
          </a:xfrm>
          <a:prstGeom prst="rect">
            <a:avLst/>
          </a:prstGeom>
        </p:spPr>
        <p:txBody>
          <a:bodyPr/>
          <a:lstStyle>
            <a:lvl1pPr algn="r">
              <a:buNone/>
              <a:defRPr sz="1200" b="1">
                <a:solidFill>
                  <a:srgbClr val="00376F"/>
                </a:solidFill>
                <a:latin typeface="Lato"/>
                <a:ea typeface="Lato"/>
                <a:cs typeface="Lato"/>
              </a:defRPr>
            </a:lvl1pPr>
          </a:lstStyle>
          <a:p>
            <a:fld id="{9EA0BE3B-158A-4EDF-80DC-E394A0D1600F}" type="slidenum">
              <a:t>‹#›</a:t>
            </a:fld>
            <a:endParaRPr/>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buNone/>
              <a:defRPr sz="2800" b="1">
                <a:solidFill>
                  <a:schemeClr val="bg1"/>
                </a:solidFill>
                <a:latin typeface="Lato"/>
                <a:ea typeface="Lato"/>
                <a:cs typeface="Lato"/>
              </a:defRPr>
            </a:lvl1pPr>
          </a:lstStyle>
          <a:p>
            <a:r>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idx="13" hasCustomPrompt="1"/>
          </p:nvPr>
        </p:nvSpPr>
        <p:spPr>
          <a:xfrm>
            <a:off x="330201" y="1406769"/>
            <a:ext cx="5765800" cy="4655894"/>
          </a:xfrm>
          <a:prstGeom prst="rect">
            <a:avLst/>
          </a:prstGeom>
        </p:spPr>
        <p:txBody>
          <a:bodyPr/>
          <a:lstStyle>
            <a:lvl1pPr>
              <a:buNone/>
              <a:defRPr>
                <a:latin typeface="Lato"/>
                <a:ea typeface="Lato"/>
                <a:cs typeface="Lato"/>
              </a:defRPr>
            </a:lvl1pPr>
          </a:lstStyle>
          <a:p>
            <a:r>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idx="14" hasCustomPrompt="1"/>
          </p:nvPr>
        </p:nvSpPr>
        <p:spPr>
          <a:xfrm>
            <a:off x="6238875" y="1414463"/>
            <a:ext cx="5445125" cy="4656137"/>
          </a:xfrm>
          <a:prstGeom prst="rect">
            <a:avLst/>
          </a:prstGeom>
        </p:spPr>
        <p:txBody>
          <a:bodyPr/>
          <a:lstStyle>
            <a:lvl1pPr>
              <a:buNone/>
              <a:defRPr>
                <a:latin typeface="Lato"/>
                <a:ea typeface="Lato"/>
                <a:cs typeface="Lato"/>
              </a:defRPr>
            </a:lvl1pPr>
          </a:lstStyle>
          <a:p>
            <a:r>
              <a:t>Picture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buNone/>
              <a:defRPr sz="2800" b="1">
                <a:solidFill>
                  <a:schemeClr val="bg1"/>
                </a:solidFill>
                <a:latin typeface="Lato"/>
                <a:ea typeface="Lato"/>
                <a:cs typeface="Lato"/>
              </a:defRPr>
            </a:lvl1pPr>
          </a:lstStyle>
          <a:p>
            <a:r>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idx="13"/>
          </p:nvPr>
        </p:nvSpPr>
        <p:spPr>
          <a:xfrm>
            <a:off x="337539" y="1032510"/>
            <a:ext cx="11515725" cy="4938713"/>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idx="10"/>
          </p:nvPr>
        </p:nvSpPr>
        <p:spPr>
          <a:xfrm>
            <a:off x="838200" y="6486006"/>
            <a:ext cx="2743200" cy="365125"/>
          </a:xfrm>
          <a:prstGeom prst="rect">
            <a:avLst/>
          </a:prstGeom>
        </p:spPr>
        <p:txBody>
          <a:bodyPr/>
          <a:lstStyle>
            <a:lvl1pPr>
              <a:buNone/>
              <a:defRPr sz="1200" b="1">
                <a:solidFill>
                  <a:srgbClr val="00376F"/>
                </a:solidFill>
                <a:latin typeface="Lato"/>
                <a:ea typeface="Lato"/>
                <a:cs typeface="Lato"/>
              </a:defRPr>
            </a:lvl1pPr>
          </a:lstStyle>
          <a:p>
            <a:fld id="{8CDB0C24-DFE0-41C5-B02D-FC32F5C22F7C}" type="datetime1">
              <a:t>10/19/2026</a:t>
            </a:fld>
            <a:endParaRPr/>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idx="11"/>
          </p:nvPr>
        </p:nvSpPr>
        <p:spPr>
          <a:xfrm>
            <a:off x="4038600" y="6486006"/>
            <a:ext cx="4114800" cy="365125"/>
          </a:xfrm>
          <a:prstGeom prst="rect">
            <a:avLst/>
          </a:prstGeom>
        </p:spPr>
        <p:txBody>
          <a:bodyPr/>
          <a:lstStyle>
            <a:lvl1pPr algn="ctr">
              <a:buNone/>
              <a:defRPr sz="1200" b="1">
                <a:solidFill>
                  <a:srgbClr val="00376F"/>
                </a:solidFill>
                <a:latin typeface="Lato"/>
                <a:ea typeface="Lato"/>
                <a:cs typeface="Lato"/>
              </a:defRPr>
            </a:lvl1pPr>
          </a:lstStyle>
          <a:p>
            <a:endParaRPr/>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idx="12"/>
          </p:nvPr>
        </p:nvSpPr>
        <p:spPr>
          <a:xfrm>
            <a:off x="9156511" y="6492875"/>
            <a:ext cx="2743200" cy="365125"/>
          </a:xfrm>
          <a:prstGeom prst="rect">
            <a:avLst/>
          </a:prstGeom>
        </p:spPr>
        <p:txBody>
          <a:bodyPr/>
          <a:lstStyle>
            <a:lvl1pPr algn="r">
              <a:buNone/>
              <a:defRPr sz="1200" b="1">
                <a:solidFill>
                  <a:srgbClr val="00376F"/>
                </a:solidFill>
                <a:latin typeface="Lato"/>
                <a:ea typeface="Lato"/>
                <a:cs typeface="Lato"/>
              </a:defRPr>
            </a:lvl1pPr>
          </a:lstStyle>
          <a:p>
            <a:fld id="{9EA0BE3B-158A-4EDF-80DC-E394A0D1600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idx="10"/>
          </p:nvPr>
        </p:nvSpPr>
        <p:spPr>
          <a:xfrm>
            <a:off x="838200" y="6486006"/>
            <a:ext cx="2743200" cy="365125"/>
          </a:xfrm>
          <a:prstGeom prst="rect">
            <a:avLst/>
          </a:prstGeom>
        </p:spPr>
        <p:txBody>
          <a:bodyPr/>
          <a:lstStyle>
            <a:lvl1pPr>
              <a:buNone/>
              <a:defRPr sz="1200" b="1">
                <a:solidFill>
                  <a:srgbClr val="00376F"/>
                </a:solidFill>
                <a:latin typeface="Lato"/>
                <a:ea typeface="Lato"/>
                <a:cs typeface="Lato"/>
              </a:defRPr>
            </a:lvl1pPr>
          </a:lstStyle>
          <a:p>
            <a:fld id="{B3ACFEBC-8634-4116-B617-2BE5C2034C2C}" type="datetime1">
              <a:t>10/19/2026</a:t>
            </a:fld>
            <a:endParaRPr/>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idx="11"/>
          </p:nvPr>
        </p:nvSpPr>
        <p:spPr>
          <a:xfrm>
            <a:off x="4038600" y="6486006"/>
            <a:ext cx="4114800" cy="365125"/>
          </a:xfrm>
          <a:prstGeom prst="rect">
            <a:avLst/>
          </a:prstGeom>
        </p:spPr>
        <p:txBody>
          <a:bodyPr/>
          <a:lstStyle>
            <a:lvl1pPr algn="ctr">
              <a:buNone/>
              <a:defRPr sz="1200" b="1">
                <a:solidFill>
                  <a:srgbClr val="00376F"/>
                </a:solidFill>
                <a:latin typeface="Lato"/>
                <a:ea typeface="Lato"/>
                <a:cs typeface="Lato"/>
              </a:defRPr>
            </a:lvl1pPr>
          </a:lstStyle>
          <a:p>
            <a:endParaRPr/>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idx="12"/>
          </p:nvPr>
        </p:nvSpPr>
        <p:spPr>
          <a:xfrm>
            <a:off x="9156511" y="6492875"/>
            <a:ext cx="2743200" cy="365125"/>
          </a:xfrm>
          <a:prstGeom prst="rect">
            <a:avLst/>
          </a:prstGeom>
        </p:spPr>
        <p:txBody>
          <a:bodyPr/>
          <a:lstStyle>
            <a:lvl1pPr algn="r">
              <a:buNone/>
              <a:defRPr sz="1200" b="1">
                <a:solidFill>
                  <a:srgbClr val="00376F"/>
                </a:solidFill>
                <a:latin typeface="Lato"/>
                <a:ea typeface="Lato"/>
                <a:cs typeface="Lato"/>
              </a:defRPr>
            </a:lvl1pPr>
          </a:lstStyle>
          <a:p>
            <a:fld id="{9EA0BE3B-158A-4EDF-80DC-E394A0D1600F}" type="slidenum">
              <a:t>‹#›</a:t>
            </a:fld>
            <a:endParaRPr/>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buNone/>
              <a:defRPr sz="2800" b="1">
                <a:solidFill>
                  <a:schemeClr val="bg1"/>
                </a:solidFill>
                <a:latin typeface="Lato"/>
                <a:ea typeface="Lato"/>
                <a:cs typeface="Lato"/>
              </a:defRPr>
            </a:lvl1pPr>
          </a:lstStyle>
          <a:p>
            <a:r>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idx="13" hasCustomPrompt="1"/>
          </p:nvPr>
        </p:nvSpPr>
        <p:spPr>
          <a:xfrm>
            <a:off x="330201" y="1406769"/>
            <a:ext cx="5765800" cy="4655894"/>
          </a:xfrm>
          <a:prstGeom prst="rect">
            <a:avLst/>
          </a:prstGeom>
        </p:spPr>
        <p:txBody>
          <a:bodyPr/>
          <a:lstStyle>
            <a:lvl1pPr>
              <a:buNone/>
              <a:defRPr>
                <a:latin typeface="Lato"/>
                <a:ea typeface="Lato"/>
                <a:cs typeface="Lato"/>
              </a:defRPr>
            </a:lvl1pPr>
          </a:lstStyle>
          <a:p>
            <a:r>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idx="14" hasCustomPrompt="1"/>
          </p:nvPr>
        </p:nvSpPr>
        <p:spPr>
          <a:xfrm>
            <a:off x="6238875" y="1414463"/>
            <a:ext cx="5445125" cy="4656137"/>
          </a:xfrm>
          <a:prstGeom prst="rect">
            <a:avLst/>
          </a:prstGeom>
        </p:spPr>
        <p:txBody>
          <a:bodyPr/>
          <a:lstStyle>
            <a:lvl1pPr>
              <a:buNone/>
              <a:defRPr>
                <a:latin typeface="Lato"/>
                <a:ea typeface="Lato"/>
                <a:cs typeface="Lato"/>
              </a:defRPr>
            </a:lvl1pPr>
          </a:lstStyle>
          <a:p>
            <a:r>
              <a:t>Picture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idx="10"/>
          </p:nvPr>
        </p:nvSpPr>
        <p:spPr>
          <a:xfrm>
            <a:off x="838200" y="6492875"/>
            <a:ext cx="2743200" cy="365125"/>
          </a:xfrm>
          <a:prstGeom prst="rect">
            <a:avLst/>
          </a:prstGeom>
        </p:spPr>
        <p:txBody>
          <a:bodyPr/>
          <a:lstStyle>
            <a:lvl1pPr>
              <a:buNone/>
              <a:defRPr sz="1200" b="1">
                <a:solidFill>
                  <a:schemeClr val="bg1"/>
                </a:solidFill>
                <a:latin typeface="Lato"/>
                <a:ea typeface="Lato"/>
                <a:cs typeface="Lato"/>
              </a:defRPr>
            </a:lvl1pPr>
          </a:lstStyle>
          <a:p>
            <a:fld id="{82F65D4C-DEE4-4C7B-91C4-D6D57A523E98}" type="datetime1">
              <a:t>10/19/2026</a:t>
            </a:fld>
            <a:endParaRPr/>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idx="11"/>
          </p:nvPr>
        </p:nvSpPr>
        <p:spPr>
          <a:xfrm>
            <a:off x="4038600" y="6492875"/>
            <a:ext cx="4114800" cy="365125"/>
          </a:xfrm>
          <a:prstGeom prst="rect">
            <a:avLst/>
          </a:prstGeom>
        </p:spPr>
        <p:txBody>
          <a:bodyPr/>
          <a:lstStyle>
            <a:lvl1pPr algn="ctr">
              <a:buNone/>
              <a:defRPr sz="1200" b="1">
                <a:solidFill>
                  <a:srgbClr val="00376F"/>
                </a:solidFill>
                <a:latin typeface="Lato"/>
                <a:ea typeface="Lato"/>
                <a:cs typeface="Lato"/>
              </a:defRPr>
            </a:lvl1pPr>
          </a:lstStyle>
          <a:p>
            <a:endParaRPr/>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idx="12"/>
          </p:nvPr>
        </p:nvSpPr>
        <p:spPr>
          <a:xfrm>
            <a:off x="9156511" y="6492875"/>
            <a:ext cx="2743200" cy="365125"/>
          </a:xfrm>
          <a:prstGeom prst="rect">
            <a:avLst/>
          </a:prstGeom>
        </p:spPr>
        <p:txBody>
          <a:bodyPr/>
          <a:lstStyle>
            <a:lvl1pPr algn="r">
              <a:buNone/>
              <a:defRPr sz="1200" b="1">
                <a:solidFill>
                  <a:srgbClr val="00376F"/>
                </a:solidFill>
                <a:latin typeface="Lato"/>
                <a:ea typeface="Lato"/>
                <a:cs typeface="Lato"/>
              </a:defRPr>
            </a:lvl1pPr>
          </a:lstStyle>
          <a:p>
            <a:fld id="{9EA0BE3B-158A-4EDF-80DC-E394A0D1600F}"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buNone/>
              <a:defRPr sz="4800" b="1">
                <a:solidFill>
                  <a:schemeClr val="bg1"/>
                </a:solidFill>
                <a:latin typeface="Lato"/>
                <a:ea typeface="Lato"/>
                <a:cs typeface="Lato"/>
              </a:defRPr>
            </a:lvl1pPr>
          </a:lstStyle>
          <a:p>
            <a:r>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5"/>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3D37634C-02E1-448F-8705-6CCFFE05399F}"/>
              </a:ext>
            </a:extLst>
          </p:cNvPr>
          <p:cNvPicPr>
            <a:picLocks noChangeAspect="1"/>
          </p:cNvPicPr>
          <p:nvPr/>
        </p:nvPicPr>
        <p:blipFill>
          <a:blip r:embed="rId3"/>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a:spLocks noGrp="1"/>
          </p:cNvSpPr>
          <p:nvPr/>
        </p:nvSpPr>
        <p:spPr>
          <a:xfrm>
            <a:off x="400050" y="2047875"/>
            <a:ext cx="9525000" cy="1314450"/>
          </a:xfrm>
          <a:prstGeom prst="rect">
            <a:avLst/>
          </a:prstGeom>
        </p:spPr>
        <p:txBody>
          <a:bodyPr lIns="0" tIns="0" rIns="0" bIns="0"/>
          <a:lstStyle>
            <a:defPPr>
              <a:defRPr sz="3600" b="1">
                <a:solidFill>
                  <a:srgbClr val="C00000"/>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3600" b="1">
                <a:solidFill>
                  <a:srgbClr val="C00000"/>
                </a:solidFill>
                <a:latin typeface="Lato"/>
                <a:ea typeface="Lato"/>
                <a:cs typeface="Lato"/>
              </a:defRPr>
            </a:lvl2pPr>
            <a:lvl3pPr>
              <a:defRPr sz="3600" b="1">
                <a:solidFill>
                  <a:srgbClr val="C00000"/>
                </a:solidFill>
                <a:latin typeface="Lato"/>
                <a:ea typeface="Lato"/>
                <a:cs typeface="Lato"/>
              </a:defRPr>
            </a:lvl3pPr>
            <a:lvl4pPr>
              <a:defRPr sz="3600" b="1">
                <a:solidFill>
                  <a:srgbClr val="C00000"/>
                </a:solidFill>
                <a:latin typeface="Lato"/>
                <a:ea typeface="Lato"/>
                <a:cs typeface="Lato"/>
              </a:defRPr>
            </a:lvl4pPr>
            <a:lvl5pPr>
              <a:defRPr sz="3600" b="1">
                <a:solidFill>
                  <a:srgbClr val="C00000"/>
                </a:solidFill>
                <a:latin typeface="Lato"/>
                <a:ea typeface="Lato"/>
                <a:cs typeface="Lato"/>
              </a:defRPr>
            </a:lvl5pPr>
            <a:lvl6pPr>
              <a:defRPr sz="3600" b="1">
                <a:solidFill>
                  <a:srgbClr val="C00000"/>
                </a:solidFill>
                <a:latin typeface="Lato"/>
                <a:ea typeface="Lato"/>
                <a:cs typeface="Lato"/>
              </a:defRPr>
            </a:lvl6pPr>
            <a:lvl7pPr>
              <a:defRPr sz="3600" b="1">
                <a:solidFill>
                  <a:srgbClr val="C00000"/>
                </a:solidFill>
                <a:latin typeface="Lato"/>
                <a:ea typeface="Lato"/>
                <a:cs typeface="Lato"/>
              </a:defRPr>
            </a:lvl7pPr>
            <a:lvl8pPr>
              <a:defRPr sz="3600" b="1">
                <a:solidFill>
                  <a:srgbClr val="C00000"/>
                </a:solidFill>
                <a:latin typeface="Lato"/>
                <a:ea typeface="Lato"/>
                <a:cs typeface="Lato"/>
              </a:defRPr>
            </a:lvl8pPr>
            <a:lvl9pPr>
              <a:defRPr sz="3600" b="1">
                <a:solidFill>
                  <a:srgbClr val="C00000"/>
                </a:solidFill>
                <a:latin typeface="Lato"/>
                <a:ea typeface="Lato"/>
                <a:cs typeface="Lato"/>
              </a:defRPr>
            </a:lvl9pPr>
          </a:lstStyle>
          <a:p>
            <a:pPr>
              <a:defRPr sz="3600" b="1">
                <a:solidFill>
                  <a:srgbClr val="C00000"/>
                </a:solidFill>
                <a:latin typeface="Lato"/>
                <a:ea typeface="Lato"/>
                <a:cs typeface="Lato"/>
              </a:defRPr>
            </a:pPr>
            <a:r>
              <a:rPr sz="4000" b="1" dirty="0">
                <a:solidFill>
                  <a:srgbClr val="C00000"/>
                </a:solidFill>
                <a:latin typeface="Lato"/>
                <a:ea typeface="Lato"/>
                <a:cs typeface="Lato"/>
              </a:rPr>
              <a:t>NHẬN DẠNG VĂN BẢN</a:t>
            </a:r>
          </a:p>
          <a:p>
            <a:pPr>
              <a:defRPr sz="3600" b="1">
                <a:solidFill>
                  <a:srgbClr val="C00000"/>
                </a:solidFill>
                <a:latin typeface="Lato"/>
                <a:ea typeface="Lato"/>
                <a:cs typeface="Lato"/>
              </a:defRPr>
            </a:pPr>
            <a:r>
              <a:rPr sz="4000" b="1" dirty="0">
                <a:solidFill>
                  <a:srgbClr val="C00000"/>
                </a:solidFill>
                <a:latin typeface="Lato"/>
                <a:ea typeface="Lato"/>
                <a:cs typeface="Lato"/>
              </a:rPr>
              <a:t>TIẾNG VIỆT BẰNG HỌC SÂU</a:t>
            </a:r>
          </a:p>
        </p:txBody>
      </p:sp>
      <p:sp>
        <p:nvSpPr>
          <p:cNvPr id="4" name="Title 6">
            <a:extLst>
              <a:ext uri="{FF2B5EF4-FFF2-40B4-BE49-F238E27FC236}">
                <a16:creationId xmlns:a16="http://schemas.microsoft.com/office/drawing/2014/main" id="{72BF49D9-2FCE-4950-8B1C-F580CC18F4C9}"/>
              </a:ext>
            </a:extLst>
          </p:cNvPr>
          <p:cNvSpPr>
            <a:spLocks noGrp="1"/>
          </p:cNvSpPr>
          <p:nvPr/>
        </p:nvSpPr>
        <p:spPr>
          <a:xfrm>
            <a:off x="409575" y="3495675"/>
            <a:ext cx="8858250" cy="704850"/>
          </a:xfrm>
          <a:prstGeom prst="rect">
            <a:avLst/>
          </a:prstGeom>
        </p:spPr>
        <p:txBody>
          <a:bodyPr lIns="0" tIns="0" rIns="0" bIns="0"/>
          <a:lstStyle>
            <a:defPPr>
              <a:defRPr sz="1950" b="0">
                <a:solidFill>
                  <a:srgbClr val="00376F"/>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1950" b="0">
                <a:solidFill>
                  <a:srgbClr val="00376F"/>
                </a:solidFill>
                <a:latin typeface="Lato"/>
                <a:ea typeface="Lato"/>
                <a:cs typeface="Lato"/>
              </a:defRPr>
            </a:lvl2pPr>
            <a:lvl3pPr>
              <a:defRPr sz="1950" b="0">
                <a:solidFill>
                  <a:srgbClr val="00376F"/>
                </a:solidFill>
                <a:latin typeface="Lato"/>
                <a:ea typeface="Lato"/>
                <a:cs typeface="Lato"/>
              </a:defRPr>
            </a:lvl3pPr>
            <a:lvl4pPr>
              <a:defRPr sz="1950" b="0">
                <a:solidFill>
                  <a:srgbClr val="00376F"/>
                </a:solidFill>
                <a:latin typeface="Lato"/>
                <a:ea typeface="Lato"/>
                <a:cs typeface="Lato"/>
              </a:defRPr>
            </a:lvl4pPr>
            <a:lvl5pPr>
              <a:defRPr sz="1950" b="0">
                <a:solidFill>
                  <a:srgbClr val="00376F"/>
                </a:solidFill>
                <a:latin typeface="Lato"/>
                <a:ea typeface="Lato"/>
                <a:cs typeface="Lato"/>
              </a:defRPr>
            </a:lvl5pPr>
            <a:lvl6pPr>
              <a:defRPr sz="1950" b="0">
                <a:solidFill>
                  <a:srgbClr val="00376F"/>
                </a:solidFill>
                <a:latin typeface="Lato"/>
                <a:ea typeface="Lato"/>
                <a:cs typeface="Lato"/>
              </a:defRPr>
            </a:lvl6pPr>
            <a:lvl7pPr>
              <a:defRPr sz="1950" b="0">
                <a:solidFill>
                  <a:srgbClr val="00376F"/>
                </a:solidFill>
                <a:latin typeface="Lato"/>
                <a:ea typeface="Lato"/>
                <a:cs typeface="Lato"/>
              </a:defRPr>
            </a:lvl7pPr>
            <a:lvl8pPr>
              <a:defRPr sz="1950" b="0">
                <a:solidFill>
                  <a:srgbClr val="00376F"/>
                </a:solidFill>
                <a:latin typeface="Lato"/>
                <a:ea typeface="Lato"/>
                <a:cs typeface="Lato"/>
              </a:defRPr>
            </a:lvl8pPr>
            <a:lvl9pPr>
              <a:defRPr sz="1950" b="0">
                <a:solidFill>
                  <a:srgbClr val="00376F"/>
                </a:solidFill>
                <a:latin typeface="Lato"/>
                <a:ea typeface="Lato"/>
                <a:cs typeface="Lato"/>
              </a:defRPr>
            </a:lvl9pPr>
          </a:lstStyle>
          <a:p>
            <a:pPr>
              <a:defRPr sz="1950" b="0">
                <a:solidFill>
                  <a:srgbClr val="00376F"/>
                </a:solidFill>
                <a:latin typeface="Lato"/>
                <a:ea typeface="Lato"/>
                <a:cs typeface="Lato"/>
              </a:defRPr>
            </a:pPr>
            <a:r>
              <a:rPr sz="1950" b="0" dirty="0">
                <a:solidFill>
                  <a:srgbClr val="00376F"/>
                </a:solidFill>
                <a:latin typeface="Lato"/>
                <a:ea typeface="Lato"/>
                <a:cs typeface="Lato"/>
              </a:rPr>
              <a:t>So </a:t>
            </a:r>
            <a:r>
              <a:rPr sz="1950" b="0" dirty="0" err="1">
                <a:solidFill>
                  <a:srgbClr val="00376F"/>
                </a:solidFill>
                <a:latin typeface="Lato"/>
                <a:ea typeface="Lato"/>
                <a:cs typeface="Lato"/>
              </a:rPr>
              <a:t>sánh</a:t>
            </a:r>
            <a:r>
              <a:rPr sz="1950" b="0" dirty="0">
                <a:solidFill>
                  <a:srgbClr val="00376F"/>
                </a:solidFill>
                <a:latin typeface="Lato"/>
                <a:ea typeface="Lato"/>
                <a:cs typeface="Lato"/>
              </a:rPr>
              <a:t> CRNN, Transformer </a:t>
            </a:r>
            <a:r>
              <a:rPr sz="1950" b="0" dirty="0" err="1">
                <a:solidFill>
                  <a:srgbClr val="00376F"/>
                </a:solidFill>
                <a:latin typeface="Lato"/>
                <a:ea typeface="Lato"/>
                <a:cs typeface="Lato"/>
              </a:rPr>
              <a:t>và</a:t>
            </a:r>
            <a:r>
              <a:rPr sz="1950" b="0" dirty="0">
                <a:solidFill>
                  <a:srgbClr val="00376F"/>
                </a:solidFill>
                <a:latin typeface="Lato"/>
                <a:ea typeface="Lato"/>
                <a:cs typeface="Lato"/>
              </a:rPr>
              <a:t> Sparse </a:t>
            </a:r>
            <a:r>
              <a:rPr sz="1950" b="0" dirty="0" err="1">
                <a:solidFill>
                  <a:srgbClr val="00376F"/>
                </a:solidFill>
                <a:latin typeface="Lato"/>
                <a:ea typeface="Lato"/>
                <a:cs typeface="Lato"/>
              </a:rPr>
              <a:t>MoE</a:t>
            </a:r>
            <a:endParaRPr sz="1950" b="0" dirty="0">
              <a:solidFill>
                <a:srgbClr val="00376F"/>
              </a:solidFill>
              <a:latin typeface="Lato"/>
              <a:ea typeface="Lato"/>
              <a:cs typeface="Lato"/>
            </a:endParaRPr>
          </a:p>
          <a:p>
            <a:pPr>
              <a:defRPr sz="1950" b="0">
                <a:solidFill>
                  <a:srgbClr val="00376F"/>
                </a:solidFill>
                <a:latin typeface="Lato"/>
                <a:ea typeface="Lato"/>
                <a:cs typeface="Lato"/>
              </a:defRPr>
            </a:pPr>
            <a:r>
              <a:rPr sz="1950" b="0" dirty="0" err="1">
                <a:solidFill>
                  <a:srgbClr val="00376F"/>
                </a:solidFill>
                <a:latin typeface="Lato"/>
                <a:ea typeface="Lato"/>
                <a:cs typeface="Lato"/>
              </a:rPr>
              <a:t>Ứng</a:t>
            </a:r>
            <a:r>
              <a:rPr sz="1950" b="0" dirty="0">
                <a:solidFill>
                  <a:srgbClr val="00376F"/>
                </a:solidFill>
                <a:latin typeface="Lato"/>
                <a:ea typeface="Lato"/>
                <a:cs typeface="Lato"/>
              </a:rPr>
              <a:t> </a:t>
            </a:r>
            <a:r>
              <a:rPr sz="1950" b="0" dirty="0" err="1">
                <a:solidFill>
                  <a:srgbClr val="00376F"/>
                </a:solidFill>
                <a:latin typeface="Lato"/>
                <a:ea typeface="Lato"/>
                <a:cs typeface="Lato"/>
              </a:rPr>
              <a:t>dụng</a:t>
            </a:r>
            <a:r>
              <a:rPr sz="1950" b="0" dirty="0">
                <a:solidFill>
                  <a:srgbClr val="00376F"/>
                </a:solidFill>
                <a:latin typeface="Lato"/>
                <a:ea typeface="Lato"/>
                <a:cs typeface="Lato"/>
              </a:rPr>
              <a:t> </a:t>
            </a:r>
            <a:r>
              <a:rPr sz="1950" b="0" dirty="0" err="1">
                <a:solidFill>
                  <a:srgbClr val="00376F"/>
                </a:solidFill>
                <a:latin typeface="Lato"/>
                <a:ea typeface="Lato"/>
                <a:cs typeface="Lato"/>
              </a:rPr>
              <a:t>nhận</a:t>
            </a:r>
            <a:r>
              <a:rPr sz="1950" b="0" dirty="0">
                <a:solidFill>
                  <a:srgbClr val="00376F"/>
                </a:solidFill>
                <a:latin typeface="Lato"/>
                <a:ea typeface="Lato"/>
                <a:cs typeface="Lato"/>
              </a:rPr>
              <a:t> </a:t>
            </a:r>
            <a:r>
              <a:rPr sz="1950" b="0" dirty="0" err="1">
                <a:solidFill>
                  <a:srgbClr val="00376F"/>
                </a:solidFill>
                <a:latin typeface="Lato"/>
                <a:ea typeface="Lato"/>
                <a:cs typeface="Lato"/>
              </a:rPr>
              <a:t>dạng</a:t>
            </a:r>
            <a:r>
              <a:rPr sz="1950" b="0" dirty="0">
                <a:solidFill>
                  <a:srgbClr val="00376F"/>
                </a:solidFill>
                <a:latin typeface="Lato"/>
                <a:ea typeface="Lato"/>
                <a:cs typeface="Lato"/>
              </a:rPr>
              <a:t> </a:t>
            </a:r>
            <a:r>
              <a:rPr sz="1950" b="0" dirty="0" err="1">
                <a:solidFill>
                  <a:srgbClr val="00376F"/>
                </a:solidFill>
                <a:latin typeface="Lato"/>
                <a:ea typeface="Lato"/>
                <a:cs typeface="Lato"/>
              </a:rPr>
              <a:t>chữ</a:t>
            </a:r>
            <a:r>
              <a:rPr sz="1950" b="0" dirty="0">
                <a:solidFill>
                  <a:srgbClr val="00376F"/>
                </a:solidFill>
                <a:latin typeface="Lato"/>
                <a:ea typeface="Lato"/>
                <a:cs typeface="Lato"/>
              </a:rPr>
              <a:t> in </a:t>
            </a:r>
            <a:r>
              <a:rPr sz="1950" b="0" dirty="0" err="1">
                <a:solidFill>
                  <a:srgbClr val="00376F"/>
                </a:solidFill>
                <a:latin typeface="Lato"/>
                <a:ea typeface="Lato"/>
                <a:cs typeface="Lato"/>
              </a:rPr>
              <a:t>và</a:t>
            </a:r>
            <a:r>
              <a:rPr sz="1950" b="0" dirty="0">
                <a:solidFill>
                  <a:srgbClr val="00376F"/>
                </a:solidFill>
                <a:latin typeface="Lato"/>
                <a:ea typeface="Lato"/>
                <a:cs typeface="Lato"/>
              </a:rPr>
              <a:t> </a:t>
            </a:r>
            <a:r>
              <a:rPr sz="1950" b="0" dirty="0" err="1">
                <a:solidFill>
                  <a:srgbClr val="00376F"/>
                </a:solidFill>
                <a:latin typeface="Lato"/>
                <a:ea typeface="Lato"/>
                <a:cs typeface="Lato"/>
              </a:rPr>
              <a:t>chữ</a:t>
            </a:r>
            <a:r>
              <a:rPr sz="1950" b="0" dirty="0">
                <a:solidFill>
                  <a:srgbClr val="00376F"/>
                </a:solidFill>
                <a:latin typeface="Lato"/>
                <a:ea typeface="Lato"/>
                <a:cs typeface="Lato"/>
              </a:rPr>
              <a:t> </a:t>
            </a:r>
            <a:r>
              <a:rPr sz="1950" b="0" dirty="0" err="1">
                <a:solidFill>
                  <a:srgbClr val="00376F"/>
                </a:solidFill>
                <a:latin typeface="Lato"/>
                <a:ea typeface="Lato"/>
                <a:cs typeface="Lato"/>
              </a:rPr>
              <a:t>viết</a:t>
            </a:r>
            <a:r>
              <a:rPr sz="1950" b="0" dirty="0">
                <a:solidFill>
                  <a:srgbClr val="00376F"/>
                </a:solidFill>
                <a:latin typeface="Lato"/>
                <a:ea typeface="Lato"/>
                <a:cs typeface="Lato"/>
              </a:rPr>
              <a:t> </a:t>
            </a:r>
            <a:r>
              <a:rPr sz="1950" b="0" dirty="0" err="1">
                <a:solidFill>
                  <a:srgbClr val="00376F"/>
                </a:solidFill>
                <a:latin typeface="Lato"/>
                <a:ea typeface="Lato"/>
                <a:cs typeface="Lato"/>
              </a:rPr>
              <a:t>tay</a:t>
            </a:r>
            <a:endParaRPr sz="1950" b="0" dirty="0">
              <a:solidFill>
                <a:srgbClr val="00376F"/>
              </a:solidFill>
              <a:latin typeface="Lato"/>
              <a:ea typeface="Lato"/>
              <a:cs typeface="Lato"/>
            </a:endParaRPr>
          </a:p>
        </p:txBody>
      </p:sp>
      <p:sp>
        <p:nvSpPr>
          <p:cNvPr id="9" name="Slide Number Placeholder 8">
            <a:extLst>
              <a:ext uri="{FF2B5EF4-FFF2-40B4-BE49-F238E27FC236}">
                <a16:creationId xmlns:a16="http://schemas.microsoft.com/office/drawing/2014/main" id="{99BF4829-01AB-4F75-A03B-DF4FC4C312C6}"/>
              </a:ext>
            </a:extLst>
          </p:cNvPr>
          <p:cNvSpPr>
            <a:spLocks noGrp="1"/>
          </p:cNvSpPr>
          <p:nvPr>
            <p:ph type="sldNum" idx="12"/>
          </p:nvPr>
        </p:nvSpPr>
        <p:spPr/>
        <p:txBody>
          <a:bodyPr/>
          <a:lstStyle/>
          <a:p>
            <a:fld id="{AD75FED6-38D0-DE9C-92C0-6E7FA635581C}" type="slidenum">
              <a:rPr/>
              <a:t>1</a:t>
            </a:fld>
            <a:endParaRPr/>
          </a:p>
        </p:txBody>
      </p:sp>
      <p:sp>
        <p:nvSpPr>
          <p:cNvPr id="10" name="text-0">
            <a:extLst>
              <a:ext uri="{FF2B5EF4-FFF2-40B4-BE49-F238E27FC236}">
                <a16:creationId xmlns:a16="http://schemas.microsoft.com/office/drawing/2014/main" id="{807E7C86-E434-4911-B4B4-385FF6527C74}"/>
              </a:ext>
            </a:extLst>
          </p:cNvPr>
          <p:cNvSpPr>
            <a:spLocks noGrp="1"/>
          </p:cNvSpPr>
          <p:nvPr/>
        </p:nvSpPr>
        <p:spPr>
          <a:xfrm>
            <a:off x="411480" y="1614488"/>
            <a:ext cx="9525000" cy="328613"/>
          </a:xfrm>
          <a:prstGeom prst="rect">
            <a:avLst/>
          </a:prstGeom>
          <a:noFill/>
          <a:ln w="0">
            <a:noFill/>
            <a:prstDash val="solid"/>
          </a:ln>
        </p:spPr>
        <p:txBody>
          <a:bodyPr lIns="0" tIns="0" rIns="0" bIns="0" anchor="t"/>
          <a:lstStyle>
            <a:defPPr>
              <a:defRPr sz="1500" b="1">
                <a:solidFill>
                  <a:srgbClr val="00376F"/>
                </a:solidFill>
                <a:latin typeface="Lato"/>
                <a:ea typeface="Lato"/>
                <a:cs typeface="Lato"/>
              </a:defRPr>
            </a:defPPr>
            <a:lvl1pPr>
              <a:defRPr sz="1500" b="1">
                <a:solidFill>
                  <a:srgbClr val="00376F"/>
                </a:solidFill>
                <a:latin typeface="Lato"/>
                <a:ea typeface="Lato"/>
                <a:cs typeface="Lato"/>
              </a:defRPr>
            </a:lvl1pPr>
            <a:lvl2pPr>
              <a:defRPr sz="1500" b="1">
                <a:solidFill>
                  <a:srgbClr val="00376F"/>
                </a:solidFill>
                <a:latin typeface="Lato"/>
                <a:ea typeface="Lato"/>
                <a:cs typeface="Lato"/>
              </a:defRPr>
            </a:lvl2pPr>
            <a:lvl3pPr>
              <a:defRPr sz="1500" b="1">
                <a:solidFill>
                  <a:srgbClr val="00376F"/>
                </a:solidFill>
                <a:latin typeface="Lato"/>
                <a:ea typeface="Lato"/>
                <a:cs typeface="Lato"/>
              </a:defRPr>
            </a:lvl3pPr>
            <a:lvl4pPr>
              <a:defRPr sz="1500" b="1">
                <a:solidFill>
                  <a:srgbClr val="00376F"/>
                </a:solidFill>
                <a:latin typeface="Lato"/>
                <a:ea typeface="Lato"/>
                <a:cs typeface="Lato"/>
              </a:defRPr>
            </a:lvl4pPr>
            <a:lvl5pPr>
              <a:defRPr sz="1500" b="1">
                <a:solidFill>
                  <a:srgbClr val="00376F"/>
                </a:solidFill>
                <a:latin typeface="Lato"/>
                <a:ea typeface="Lato"/>
                <a:cs typeface="Lato"/>
              </a:defRPr>
            </a:lvl5pPr>
            <a:lvl6pPr>
              <a:defRPr sz="1500" b="1">
                <a:solidFill>
                  <a:srgbClr val="00376F"/>
                </a:solidFill>
                <a:latin typeface="Lato"/>
                <a:ea typeface="Lato"/>
                <a:cs typeface="Lato"/>
              </a:defRPr>
            </a:lvl6pPr>
            <a:lvl7pPr>
              <a:defRPr sz="1500" b="1">
                <a:solidFill>
                  <a:srgbClr val="00376F"/>
                </a:solidFill>
                <a:latin typeface="Lato"/>
                <a:ea typeface="Lato"/>
                <a:cs typeface="Lato"/>
              </a:defRPr>
            </a:lvl7pPr>
            <a:lvl8pPr>
              <a:defRPr sz="1500" b="1">
                <a:solidFill>
                  <a:srgbClr val="00376F"/>
                </a:solidFill>
                <a:latin typeface="Lato"/>
                <a:ea typeface="Lato"/>
                <a:cs typeface="Lato"/>
              </a:defRPr>
            </a:lvl8pPr>
            <a:lvl9pPr>
              <a:defRPr sz="1500" b="1">
                <a:solidFill>
                  <a:srgbClr val="00376F"/>
                </a:solidFill>
                <a:latin typeface="Lato"/>
                <a:ea typeface="Lato"/>
                <a:cs typeface="Lato"/>
              </a:defRPr>
            </a:lvl9pPr>
          </a:lstStyle>
          <a:p>
            <a:pPr>
              <a:defRPr sz="1500" b="1">
                <a:solidFill>
                  <a:srgbClr val="00376F"/>
                </a:solidFill>
                <a:latin typeface="Lato"/>
                <a:ea typeface="Lato"/>
                <a:cs typeface="Lato"/>
              </a:defRPr>
            </a:pPr>
            <a:r>
              <a:rPr sz="1500" b="1" dirty="0">
                <a:solidFill>
                  <a:srgbClr val="00376F"/>
                </a:solidFill>
                <a:latin typeface="Lato"/>
                <a:ea typeface="Lato"/>
                <a:cs typeface="Lato"/>
              </a:rPr>
              <a:t>ĐỀ XUẤT BÀI TẬP LỚN  ·  HỌC SÂU VÀ ỨNG DỤNG</a:t>
            </a:r>
          </a:p>
        </p:txBody>
      </p:sp>
      <p:sp>
        <p:nvSpPr>
          <p:cNvPr id="11" name="text-1">
            <a:extLst>
              <a:ext uri="{FF2B5EF4-FFF2-40B4-BE49-F238E27FC236}">
                <a16:creationId xmlns:a16="http://schemas.microsoft.com/office/drawing/2014/main" id="{85D5279E-2B2C-4FBE-B010-22A291F72FBA}"/>
              </a:ext>
            </a:extLst>
          </p:cNvPr>
          <p:cNvSpPr>
            <a:spLocks noGrp="1"/>
          </p:cNvSpPr>
          <p:nvPr/>
        </p:nvSpPr>
        <p:spPr>
          <a:xfrm>
            <a:off x="411480" y="4357688"/>
            <a:ext cx="8382000" cy="328613"/>
          </a:xfrm>
          <a:prstGeom prst="rect">
            <a:avLst/>
          </a:prstGeom>
          <a:noFill/>
          <a:ln w="0">
            <a:noFill/>
            <a:prstDash val="solid"/>
          </a:ln>
        </p:spPr>
        <p:txBody>
          <a:bodyPr lIns="0" tIns="0" rIns="0" bIns="0" anchor="t"/>
          <a:lstStyle>
            <a:defPPr>
              <a:defRPr sz="1740" b="1">
                <a:solidFill>
                  <a:srgbClr val="BE1E2D"/>
                </a:solidFill>
                <a:latin typeface="Lato"/>
                <a:ea typeface="Lato"/>
                <a:cs typeface="Lato"/>
              </a:defRPr>
            </a:defPPr>
            <a:lvl1pPr>
              <a:defRPr sz="1740" b="1">
                <a:solidFill>
                  <a:srgbClr val="BE1E2D"/>
                </a:solidFill>
                <a:latin typeface="Lato"/>
                <a:ea typeface="Lato"/>
                <a:cs typeface="Lato"/>
              </a:defRPr>
            </a:lvl1pPr>
            <a:lvl2pPr>
              <a:defRPr sz="1740" b="1">
                <a:solidFill>
                  <a:srgbClr val="BE1E2D"/>
                </a:solidFill>
                <a:latin typeface="Lato"/>
                <a:ea typeface="Lato"/>
                <a:cs typeface="Lato"/>
              </a:defRPr>
            </a:lvl2pPr>
            <a:lvl3pPr>
              <a:defRPr sz="1740" b="1">
                <a:solidFill>
                  <a:srgbClr val="BE1E2D"/>
                </a:solidFill>
                <a:latin typeface="Lato"/>
                <a:ea typeface="Lato"/>
                <a:cs typeface="Lato"/>
              </a:defRPr>
            </a:lvl3pPr>
            <a:lvl4pPr>
              <a:defRPr sz="1740" b="1">
                <a:solidFill>
                  <a:srgbClr val="BE1E2D"/>
                </a:solidFill>
                <a:latin typeface="Lato"/>
                <a:ea typeface="Lato"/>
                <a:cs typeface="Lato"/>
              </a:defRPr>
            </a:lvl4pPr>
            <a:lvl5pPr>
              <a:defRPr sz="1740" b="1">
                <a:solidFill>
                  <a:srgbClr val="BE1E2D"/>
                </a:solidFill>
                <a:latin typeface="Lato"/>
                <a:ea typeface="Lato"/>
                <a:cs typeface="Lato"/>
              </a:defRPr>
            </a:lvl5pPr>
            <a:lvl6pPr>
              <a:defRPr sz="1740" b="1">
                <a:solidFill>
                  <a:srgbClr val="BE1E2D"/>
                </a:solidFill>
                <a:latin typeface="Lato"/>
                <a:ea typeface="Lato"/>
                <a:cs typeface="Lato"/>
              </a:defRPr>
            </a:lvl6pPr>
            <a:lvl7pPr>
              <a:defRPr sz="1740" b="1">
                <a:solidFill>
                  <a:srgbClr val="BE1E2D"/>
                </a:solidFill>
                <a:latin typeface="Lato"/>
                <a:ea typeface="Lato"/>
                <a:cs typeface="Lato"/>
              </a:defRPr>
            </a:lvl7pPr>
            <a:lvl8pPr>
              <a:defRPr sz="1740" b="1">
                <a:solidFill>
                  <a:srgbClr val="BE1E2D"/>
                </a:solidFill>
                <a:latin typeface="Lato"/>
                <a:ea typeface="Lato"/>
                <a:cs typeface="Lato"/>
              </a:defRPr>
            </a:lvl8pPr>
            <a:lvl9pPr>
              <a:defRPr sz="1740" b="1">
                <a:solidFill>
                  <a:srgbClr val="BE1E2D"/>
                </a:solidFill>
                <a:latin typeface="Lato"/>
                <a:ea typeface="Lato"/>
                <a:cs typeface="Lato"/>
              </a:defRPr>
            </a:lvl9pPr>
          </a:lstStyle>
          <a:p>
            <a:pPr>
              <a:defRPr sz="1740" b="1">
                <a:solidFill>
                  <a:srgbClr val="BE1E2D"/>
                </a:solidFill>
                <a:latin typeface="Lato"/>
                <a:ea typeface="Lato"/>
                <a:cs typeface="Lato"/>
              </a:defRPr>
            </a:pPr>
            <a:r>
              <a:rPr sz="1740" b="1" dirty="0">
                <a:solidFill>
                  <a:srgbClr val="BE1E2D"/>
                </a:solidFill>
                <a:latin typeface="Lato"/>
                <a:ea typeface="Lato"/>
                <a:cs typeface="Lato"/>
              </a:rPr>
              <a:t>NHÓM 11</a:t>
            </a:r>
          </a:p>
        </p:txBody>
      </p:sp>
      <p:sp>
        <p:nvSpPr>
          <p:cNvPr id="12" name="text-2">
            <a:extLst>
              <a:ext uri="{FF2B5EF4-FFF2-40B4-BE49-F238E27FC236}">
                <a16:creationId xmlns:a16="http://schemas.microsoft.com/office/drawing/2014/main" id="{49C1F7D1-F9D5-4065-B69B-BA06AC8DE87E}"/>
              </a:ext>
            </a:extLst>
          </p:cNvPr>
          <p:cNvSpPr>
            <a:spLocks noGrp="1"/>
          </p:cNvSpPr>
          <p:nvPr/>
        </p:nvSpPr>
        <p:spPr>
          <a:xfrm>
            <a:off x="411480" y="4836319"/>
            <a:ext cx="4267200" cy="714375"/>
          </a:xfrm>
          <a:prstGeom prst="rect">
            <a:avLst/>
          </a:prstGeom>
          <a:noFill/>
          <a:ln w="0">
            <a:noFill/>
            <a:prstDash val="solid"/>
          </a:ln>
        </p:spPr>
        <p:txBody>
          <a:bodyPr lIns="0" tIns="0" rIns="0" bIns="0" anchor="t"/>
          <a:lstStyle>
            <a:defPPr>
              <a:defRPr sz="1620" b="0">
                <a:solidFill>
                  <a:srgbClr val="00376F"/>
                </a:solidFill>
                <a:latin typeface="Lato"/>
                <a:ea typeface="Lato"/>
                <a:cs typeface="Lato"/>
              </a:defRPr>
            </a:defPPr>
            <a:lvl1pPr>
              <a:defRPr sz="1620" b="0">
                <a:solidFill>
                  <a:srgbClr val="00376F"/>
                </a:solidFill>
                <a:latin typeface="Lato"/>
                <a:ea typeface="Lato"/>
                <a:cs typeface="Lato"/>
              </a:defRPr>
            </a:lvl1pPr>
            <a:lvl2pPr>
              <a:defRPr sz="1620" b="0">
                <a:solidFill>
                  <a:srgbClr val="00376F"/>
                </a:solidFill>
                <a:latin typeface="Lato"/>
                <a:ea typeface="Lato"/>
                <a:cs typeface="Lato"/>
              </a:defRPr>
            </a:lvl2pPr>
            <a:lvl3pPr>
              <a:defRPr sz="1620" b="0">
                <a:solidFill>
                  <a:srgbClr val="00376F"/>
                </a:solidFill>
                <a:latin typeface="Lato"/>
                <a:ea typeface="Lato"/>
                <a:cs typeface="Lato"/>
              </a:defRPr>
            </a:lvl3pPr>
            <a:lvl4pPr>
              <a:defRPr sz="1620" b="0">
                <a:solidFill>
                  <a:srgbClr val="00376F"/>
                </a:solidFill>
                <a:latin typeface="Lato"/>
                <a:ea typeface="Lato"/>
                <a:cs typeface="Lato"/>
              </a:defRPr>
            </a:lvl4pPr>
            <a:lvl5pPr>
              <a:defRPr sz="1620" b="0">
                <a:solidFill>
                  <a:srgbClr val="00376F"/>
                </a:solidFill>
                <a:latin typeface="Lato"/>
                <a:ea typeface="Lato"/>
                <a:cs typeface="Lato"/>
              </a:defRPr>
            </a:lvl5pPr>
            <a:lvl6pPr>
              <a:defRPr sz="1620" b="0">
                <a:solidFill>
                  <a:srgbClr val="00376F"/>
                </a:solidFill>
                <a:latin typeface="Lato"/>
                <a:ea typeface="Lato"/>
                <a:cs typeface="Lato"/>
              </a:defRPr>
            </a:lvl6pPr>
            <a:lvl7pPr>
              <a:defRPr sz="1620" b="0">
                <a:solidFill>
                  <a:srgbClr val="00376F"/>
                </a:solidFill>
                <a:latin typeface="Lato"/>
                <a:ea typeface="Lato"/>
                <a:cs typeface="Lato"/>
              </a:defRPr>
            </a:lvl7pPr>
            <a:lvl8pPr>
              <a:defRPr sz="1620" b="0">
                <a:solidFill>
                  <a:srgbClr val="00376F"/>
                </a:solidFill>
                <a:latin typeface="Lato"/>
                <a:ea typeface="Lato"/>
                <a:cs typeface="Lato"/>
              </a:defRPr>
            </a:lvl8pPr>
            <a:lvl9pPr>
              <a:defRPr sz="1620" b="0">
                <a:solidFill>
                  <a:srgbClr val="00376F"/>
                </a:solidFill>
                <a:latin typeface="Lato"/>
                <a:ea typeface="Lato"/>
                <a:cs typeface="Lato"/>
              </a:defRPr>
            </a:lvl9pPr>
          </a:lstStyle>
          <a:p>
            <a:pPr>
              <a:defRPr sz="1620" b="0">
                <a:solidFill>
                  <a:srgbClr val="00376F"/>
                </a:solidFill>
                <a:latin typeface="Lato"/>
                <a:ea typeface="Lato"/>
                <a:cs typeface="Lato"/>
              </a:defRPr>
            </a:pPr>
            <a:r>
              <a:rPr sz="1620" b="0" dirty="0" err="1">
                <a:solidFill>
                  <a:srgbClr val="00376F"/>
                </a:solidFill>
                <a:latin typeface="Lato"/>
                <a:ea typeface="Lato"/>
                <a:cs typeface="Lato"/>
              </a:rPr>
              <a:t>Trần</a:t>
            </a:r>
            <a:r>
              <a:rPr sz="1620" b="0" dirty="0">
                <a:solidFill>
                  <a:srgbClr val="00376F"/>
                </a:solidFill>
                <a:latin typeface="Lato"/>
                <a:ea typeface="Lato"/>
                <a:cs typeface="Lato"/>
              </a:rPr>
              <a:t> Tuấn Minh   20230051</a:t>
            </a:r>
          </a:p>
          <a:p>
            <a:pPr>
              <a:defRPr sz="1620" b="0">
                <a:solidFill>
                  <a:srgbClr val="00376F"/>
                </a:solidFill>
                <a:latin typeface="Lato"/>
                <a:ea typeface="Lato"/>
                <a:cs typeface="Lato"/>
              </a:defRPr>
            </a:pPr>
            <a:r>
              <a:rPr sz="1620" b="0" dirty="0">
                <a:solidFill>
                  <a:srgbClr val="00376F"/>
                </a:solidFill>
                <a:latin typeface="Lato"/>
                <a:ea typeface="Lato"/>
                <a:cs typeface="Lato"/>
              </a:rPr>
              <a:t>Nguyễn Bá Hoàng   20230029</a:t>
            </a:r>
          </a:p>
        </p:txBody>
      </p:sp>
      <p:sp>
        <p:nvSpPr>
          <p:cNvPr id="13" name="text-3">
            <a:extLst>
              <a:ext uri="{FF2B5EF4-FFF2-40B4-BE49-F238E27FC236}">
                <a16:creationId xmlns:a16="http://schemas.microsoft.com/office/drawing/2014/main" id="{6417350B-95CF-4C0C-8FC1-FB2B04671F0F}"/>
              </a:ext>
            </a:extLst>
          </p:cNvPr>
          <p:cNvSpPr>
            <a:spLocks noGrp="1"/>
          </p:cNvSpPr>
          <p:nvPr/>
        </p:nvSpPr>
        <p:spPr>
          <a:xfrm>
            <a:off x="3561001" y="4843464"/>
            <a:ext cx="4876800" cy="714375"/>
          </a:xfrm>
          <a:prstGeom prst="rect">
            <a:avLst/>
          </a:prstGeom>
          <a:noFill/>
          <a:ln w="0">
            <a:noFill/>
            <a:prstDash val="solid"/>
          </a:ln>
        </p:spPr>
        <p:txBody>
          <a:bodyPr lIns="0" tIns="0" rIns="0" bIns="0" anchor="t"/>
          <a:lstStyle>
            <a:defPPr>
              <a:defRPr sz="1620" b="0">
                <a:solidFill>
                  <a:srgbClr val="00376F"/>
                </a:solidFill>
                <a:latin typeface="Lato"/>
                <a:ea typeface="Lato"/>
                <a:cs typeface="Lato"/>
              </a:defRPr>
            </a:defPPr>
            <a:lvl1pPr>
              <a:defRPr sz="1620" b="0">
                <a:solidFill>
                  <a:srgbClr val="00376F"/>
                </a:solidFill>
                <a:latin typeface="Lato"/>
                <a:ea typeface="Lato"/>
                <a:cs typeface="Lato"/>
              </a:defRPr>
            </a:lvl1pPr>
            <a:lvl2pPr>
              <a:defRPr sz="1620" b="0">
                <a:solidFill>
                  <a:srgbClr val="00376F"/>
                </a:solidFill>
                <a:latin typeface="Lato"/>
                <a:ea typeface="Lato"/>
                <a:cs typeface="Lato"/>
              </a:defRPr>
            </a:lvl2pPr>
            <a:lvl3pPr>
              <a:defRPr sz="1620" b="0">
                <a:solidFill>
                  <a:srgbClr val="00376F"/>
                </a:solidFill>
                <a:latin typeface="Lato"/>
                <a:ea typeface="Lato"/>
                <a:cs typeface="Lato"/>
              </a:defRPr>
            </a:lvl3pPr>
            <a:lvl4pPr>
              <a:defRPr sz="1620" b="0">
                <a:solidFill>
                  <a:srgbClr val="00376F"/>
                </a:solidFill>
                <a:latin typeface="Lato"/>
                <a:ea typeface="Lato"/>
                <a:cs typeface="Lato"/>
              </a:defRPr>
            </a:lvl4pPr>
            <a:lvl5pPr>
              <a:defRPr sz="1620" b="0">
                <a:solidFill>
                  <a:srgbClr val="00376F"/>
                </a:solidFill>
                <a:latin typeface="Lato"/>
                <a:ea typeface="Lato"/>
                <a:cs typeface="Lato"/>
              </a:defRPr>
            </a:lvl5pPr>
            <a:lvl6pPr>
              <a:defRPr sz="1620" b="0">
                <a:solidFill>
                  <a:srgbClr val="00376F"/>
                </a:solidFill>
                <a:latin typeface="Lato"/>
                <a:ea typeface="Lato"/>
                <a:cs typeface="Lato"/>
              </a:defRPr>
            </a:lvl6pPr>
            <a:lvl7pPr>
              <a:defRPr sz="1620" b="0">
                <a:solidFill>
                  <a:srgbClr val="00376F"/>
                </a:solidFill>
                <a:latin typeface="Lato"/>
                <a:ea typeface="Lato"/>
                <a:cs typeface="Lato"/>
              </a:defRPr>
            </a:lvl7pPr>
            <a:lvl8pPr>
              <a:defRPr sz="1620" b="0">
                <a:solidFill>
                  <a:srgbClr val="00376F"/>
                </a:solidFill>
                <a:latin typeface="Lato"/>
                <a:ea typeface="Lato"/>
                <a:cs typeface="Lato"/>
              </a:defRPr>
            </a:lvl8pPr>
            <a:lvl9pPr>
              <a:defRPr sz="1620" b="0">
                <a:solidFill>
                  <a:srgbClr val="00376F"/>
                </a:solidFill>
                <a:latin typeface="Lato"/>
                <a:ea typeface="Lato"/>
                <a:cs typeface="Lato"/>
              </a:defRPr>
            </a:lvl9pPr>
          </a:lstStyle>
          <a:p>
            <a:pPr>
              <a:defRPr sz="1620" b="0">
                <a:solidFill>
                  <a:srgbClr val="00376F"/>
                </a:solidFill>
                <a:latin typeface="Lato"/>
                <a:ea typeface="Lato"/>
                <a:cs typeface="Lato"/>
              </a:defRPr>
            </a:pPr>
            <a:r>
              <a:rPr sz="1620" b="0" dirty="0" err="1">
                <a:solidFill>
                  <a:srgbClr val="00376F"/>
                </a:solidFill>
                <a:latin typeface="Lato"/>
                <a:ea typeface="Lato"/>
                <a:cs typeface="Lato"/>
              </a:rPr>
              <a:t>Trần</a:t>
            </a:r>
            <a:r>
              <a:rPr sz="1620" b="0" dirty="0">
                <a:solidFill>
                  <a:srgbClr val="00376F"/>
                </a:solidFill>
                <a:latin typeface="Lato"/>
                <a:ea typeface="Lato"/>
                <a:cs typeface="Lato"/>
              </a:rPr>
              <a:t> Phương Nam   20235176</a:t>
            </a:r>
          </a:p>
          <a:p>
            <a:pPr>
              <a:defRPr sz="1620" b="0">
                <a:solidFill>
                  <a:srgbClr val="00376F"/>
                </a:solidFill>
                <a:latin typeface="Lato"/>
                <a:ea typeface="Lato"/>
                <a:cs typeface="Lato"/>
              </a:defRPr>
            </a:pPr>
            <a:r>
              <a:rPr sz="1620" b="0" dirty="0">
                <a:solidFill>
                  <a:srgbClr val="00376F"/>
                </a:solidFill>
                <a:latin typeface="Lato"/>
                <a:ea typeface="Lato"/>
                <a:cs typeface="Lato"/>
              </a:rPr>
              <a:t>Hoàng Quý Dương   202416180</a:t>
            </a:r>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B3AB5-95DF-4273-871C-843529DB7255}"/>
              </a:ext>
            </a:extLst>
          </p:cNvPr>
          <p:cNvSpPr>
            <a:spLocks noGrp="1"/>
          </p:cNvSpPr>
          <p:nvPr>
            <p:ph type="title"/>
          </p:nvPr>
        </p:nvSpPr>
        <p:spPr>
          <a:xfrm>
            <a:off x="342900" y="95250"/>
            <a:ext cx="11430000" cy="457200"/>
          </a:xfrm>
        </p:spPr>
        <p:txBody>
          <a:bodyPr lIns="0" tIns="0" rIns="0" bIns="0" anchor="ctr"/>
          <a:lstStyle>
            <a:defPPr>
              <a:defRPr sz="2800" b="1">
                <a:solidFill>
                  <a:srgbClr val="FFFFFF"/>
                </a:solidFill>
                <a:latin typeface="Lato"/>
                <a:ea typeface="Lato"/>
                <a:cs typeface="Lato"/>
              </a:defRPr>
            </a:defPPr>
            <a:lvl1pPr>
              <a:defRPr sz="2800" b="1">
                <a:solidFill>
                  <a:srgbClr val="FFFFFF"/>
                </a:solidFill>
                <a:latin typeface="Lato"/>
                <a:ea typeface="Lato"/>
                <a:cs typeface="Lato"/>
              </a:defRPr>
            </a:lvl1pPr>
            <a:lvl2pPr>
              <a:defRPr sz="2800" b="1">
                <a:solidFill>
                  <a:srgbClr val="FFFFFF"/>
                </a:solidFill>
                <a:latin typeface="Lato"/>
                <a:ea typeface="Lato"/>
                <a:cs typeface="Lato"/>
              </a:defRPr>
            </a:lvl2pPr>
            <a:lvl3pPr>
              <a:defRPr sz="2800" b="1">
                <a:solidFill>
                  <a:srgbClr val="FFFFFF"/>
                </a:solidFill>
                <a:latin typeface="Lato"/>
                <a:ea typeface="Lato"/>
                <a:cs typeface="Lato"/>
              </a:defRPr>
            </a:lvl3pPr>
            <a:lvl4pPr>
              <a:defRPr sz="2800" b="1">
                <a:solidFill>
                  <a:srgbClr val="FFFFFF"/>
                </a:solidFill>
                <a:latin typeface="Lato"/>
                <a:ea typeface="Lato"/>
                <a:cs typeface="Lato"/>
              </a:defRPr>
            </a:lvl4pPr>
            <a:lvl5pPr>
              <a:defRPr sz="2800" b="1">
                <a:solidFill>
                  <a:srgbClr val="FFFFFF"/>
                </a:solidFill>
                <a:latin typeface="Lato"/>
                <a:ea typeface="Lato"/>
                <a:cs typeface="Lato"/>
              </a:defRPr>
            </a:lvl5pPr>
            <a:lvl6pPr>
              <a:defRPr sz="2800" b="1">
                <a:solidFill>
                  <a:srgbClr val="FFFFFF"/>
                </a:solidFill>
                <a:latin typeface="Lato"/>
                <a:ea typeface="Lato"/>
                <a:cs typeface="Lato"/>
              </a:defRPr>
            </a:lvl6pPr>
            <a:lvl7pPr>
              <a:defRPr sz="2800" b="1">
                <a:solidFill>
                  <a:srgbClr val="FFFFFF"/>
                </a:solidFill>
                <a:latin typeface="Lato"/>
                <a:ea typeface="Lato"/>
                <a:cs typeface="Lato"/>
              </a:defRPr>
            </a:lvl7pPr>
            <a:lvl8pPr>
              <a:defRPr sz="2800" b="1">
                <a:solidFill>
                  <a:srgbClr val="FFFFFF"/>
                </a:solidFill>
                <a:latin typeface="Lato"/>
                <a:ea typeface="Lato"/>
                <a:cs typeface="Lato"/>
              </a:defRPr>
            </a:lvl8pPr>
            <a:lvl9pPr>
              <a:defRPr sz="2800" b="1">
                <a:solidFill>
                  <a:srgbClr val="FFFFFF"/>
                </a:solidFill>
                <a:latin typeface="Lato"/>
                <a:ea typeface="Lato"/>
                <a:cs typeface="Lato"/>
              </a:defRPr>
            </a:lvl9pPr>
          </a:lstStyle>
          <a:p>
            <a:pPr>
              <a:defRPr sz="2800" b="1">
                <a:solidFill>
                  <a:srgbClr val="FFFFFF"/>
                </a:solidFill>
                <a:latin typeface="Lato"/>
                <a:ea typeface="Lato"/>
                <a:cs typeface="Lato"/>
              </a:defRPr>
            </a:pPr>
            <a:r>
              <a:rPr sz="2800" b="1" dirty="0" err="1">
                <a:solidFill>
                  <a:srgbClr val="FFFFFF"/>
                </a:solidFill>
                <a:latin typeface="Lato"/>
                <a:ea typeface="Lato"/>
                <a:cs typeface="Lato"/>
              </a:rPr>
              <a:t>Dữ</a:t>
            </a:r>
            <a:r>
              <a:rPr sz="2800" b="1" dirty="0">
                <a:solidFill>
                  <a:srgbClr val="FFFFFF"/>
                </a:solidFill>
                <a:latin typeface="Lato"/>
                <a:ea typeface="Lato"/>
                <a:cs typeface="Lato"/>
              </a:rPr>
              <a:t> </a:t>
            </a:r>
            <a:r>
              <a:rPr sz="2800" b="1" dirty="0" err="1">
                <a:solidFill>
                  <a:srgbClr val="FFFFFF"/>
                </a:solidFill>
                <a:latin typeface="Lato"/>
                <a:ea typeface="Lato"/>
                <a:cs typeface="Lato"/>
              </a:rPr>
              <a:t>liệu</a:t>
            </a:r>
            <a:endParaRPr dirty="0"/>
          </a:p>
        </p:txBody>
      </p:sp>
      <p:pic>
        <p:nvPicPr>
          <p:cNvPr id="8" name="Content Placeholder 7">
            <a:extLst>
              <a:ext uri="{FF2B5EF4-FFF2-40B4-BE49-F238E27FC236}">
                <a16:creationId xmlns:a16="http://schemas.microsoft.com/office/drawing/2014/main" id="{37793D4B-5805-56E0-7CC0-03EC7B18E309}"/>
              </a:ext>
            </a:extLst>
          </p:cNvPr>
          <p:cNvPicPr>
            <a:picLocks noGrp="1" noChangeAspect="1"/>
          </p:cNvPicPr>
          <p:nvPr>
            <p:ph idx="13"/>
          </p:nvPr>
        </p:nvPicPr>
        <p:blipFill>
          <a:blip r:embed="rId3"/>
          <a:stretch>
            <a:fillRect/>
          </a:stretch>
        </p:blipFill>
        <p:spPr>
          <a:xfrm>
            <a:off x="556260" y="4651589"/>
            <a:ext cx="4788146" cy="361969"/>
          </a:xfrm>
          <a:prstGeom prst="rect">
            <a:avLst/>
          </a:prstGeom>
        </p:spPr>
      </p:pic>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idx="12"/>
          </p:nvPr>
        </p:nvSpPr>
        <p:spPr/>
        <p:txBody>
          <a:bodyPr/>
          <a:lstStyle/>
          <a:p>
            <a:fld id="{E2598689-54C9-18A7-3A19-ED76AA08988F}" type="slidenum">
              <a:rPr/>
              <a:t>2</a:t>
            </a:fld>
            <a:endParaRPr/>
          </a:p>
        </p:txBody>
      </p:sp>
      <p:sp>
        <p:nvSpPr>
          <p:cNvPr id="5" name="text-4">
            <a:extLst>
              <a:ext uri="{FF2B5EF4-FFF2-40B4-BE49-F238E27FC236}">
                <a16:creationId xmlns:a16="http://schemas.microsoft.com/office/drawing/2014/main" id="{13221736-219D-4535-BCF1-0F6F2D8649E1}"/>
              </a:ext>
            </a:extLst>
          </p:cNvPr>
          <p:cNvSpPr>
            <a:spLocks noGrp="1"/>
          </p:cNvSpPr>
          <p:nvPr/>
        </p:nvSpPr>
        <p:spPr>
          <a:xfrm>
            <a:off x="365760" y="985838"/>
            <a:ext cx="11391900" cy="500063"/>
          </a:xfrm>
          <a:prstGeom prst="rect">
            <a:avLst/>
          </a:prstGeom>
          <a:noFill/>
          <a:ln w="0">
            <a:noFill/>
            <a:prstDash val="solid"/>
          </a:ln>
        </p:spPr>
        <p:txBody>
          <a:bodyPr lIns="0" tIns="0" rIns="0" bIns="0" anchor="t"/>
          <a:lstStyle>
            <a:defPPr>
              <a:defRPr sz="1560" b="0">
                <a:solidFill>
                  <a:srgbClr val="526170"/>
                </a:solidFill>
                <a:latin typeface="Lato"/>
                <a:ea typeface="Lato"/>
                <a:cs typeface="Lato"/>
              </a:defRPr>
            </a:defPPr>
            <a:lvl1pPr>
              <a:defRPr sz="1560" b="0">
                <a:solidFill>
                  <a:srgbClr val="526170"/>
                </a:solidFill>
                <a:latin typeface="Lato"/>
                <a:ea typeface="Lato"/>
                <a:cs typeface="Lato"/>
              </a:defRPr>
            </a:lvl1pPr>
            <a:lvl2pPr>
              <a:defRPr sz="1560" b="0">
                <a:solidFill>
                  <a:srgbClr val="526170"/>
                </a:solidFill>
                <a:latin typeface="Lato"/>
                <a:ea typeface="Lato"/>
                <a:cs typeface="Lato"/>
              </a:defRPr>
            </a:lvl2pPr>
            <a:lvl3pPr>
              <a:defRPr sz="1560" b="0">
                <a:solidFill>
                  <a:srgbClr val="526170"/>
                </a:solidFill>
                <a:latin typeface="Lato"/>
                <a:ea typeface="Lato"/>
                <a:cs typeface="Lato"/>
              </a:defRPr>
            </a:lvl3pPr>
            <a:lvl4pPr>
              <a:defRPr sz="1560" b="0">
                <a:solidFill>
                  <a:srgbClr val="526170"/>
                </a:solidFill>
                <a:latin typeface="Lato"/>
                <a:ea typeface="Lato"/>
                <a:cs typeface="Lato"/>
              </a:defRPr>
            </a:lvl4pPr>
            <a:lvl5pPr>
              <a:defRPr sz="1560" b="0">
                <a:solidFill>
                  <a:srgbClr val="526170"/>
                </a:solidFill>
                <a:latin typeface="Lato"/>
                <a:ea typeface="Lato"/>
                <a:cs typeface="Lato"/>
              </a:defRPr>
            </a:lvl5pPr>
            <a:lvl6pPr>
              <a:defRPr sz="1560" b="0">
                <a:solidFill>
                  <a:srgbClr val="526170"/>
                </a:solidFill>
                <a:latin typeface="Lato"/>
                <a:ea typeface="Lato"/>
                <a:cs typeface="Lato"/>
              </a:defRPr>
            </a:lvl6pPr>
            <a:lvl7pPr>
              <a:defRPr sz="1560" b="0">
                <a:solidFill>
                  <a:srgbClr val="526170"/>
                </a:solidFill>
                <a:latin typeface="Lato"/>
                <a:ea typeface="Lato"/>
                <a:cs typeface="Lato"/>
              </a:defRPr>
            </a:lvl7pPr>
            <a:lvl8pPr>
              <a:defRPr sz="1560" b="0">
                <a:solidFill>
                  <a:srgbClr val="526170"/>
                </a:solidFill>
                <a:latin typeface="Lato"/>
                <a:ea typeface="Lato"/>
                <a:cs typeface="Lato"/>
              </a:defRPr>
            </a:lvl8pPr>
            <a:lvl9pPr>
              <a:defRPr sz="1560" b="0">
                <a:solidFill>
                  <a:srgbClr val="526170"/>
                </a:solidFill>
                <a:latin typeface="Lato"/>
                <a:ea typeface="Lato"/>
                <a:cs typeface="Lato"/>
              </a:defRPr>
            </a:lvl9pPr>
          </a:lstStyle>
          <a:p>
            <a:pPr>
              <a:defRPr sz="1560" b="0">
                <a:solidFill>
                  <a:srgbClr val="526170"/>
                </a:solidFill>
                <a:latin typeface="Lato"/>
                <a:ea typeface="Lato"/>
                <a:cs typeface="Lato"/>
              </a:defRPr>
            </a:pPr>
            <a:endParaRPr lang="en-US" sz="1560" b="0" dirty="0">
              <a:solidFill>
                <a:srgbClr val="526170"/>
              </a:solidFill>
              <a:latin typeface="Lato"/>
              <a:ea typeface="Lato"/>
              <a:cs typeface="Lato"/>
            </a:endParaRPr>
          </a:p>
          <a:p>
            <a:pPr>
              <a:defRPr sz="1560" b="0">
                <a:solidFill>
                  <a:srgbClr val="526170"/>
                </a:solidFill>
                <a:latin typeface="Lato"/>
                <a:ea typeface="Lato"/>
                <a:cs typeface="Lato"/>
              </a:defRPr>
            </a:pPr>
            <a:r>
              <a:rPr sz="1560" b="0" dirty="0" err="1">
                <a:solidFill>
                  <a:srgbClr val="526170"/>
                </a:solidFill>
                <a:latin typeface="Lato"/>
                <a:ea typeface="Lato"/>
                <a:cs typeface="Lato"/>
              </a:rPr>
              <a:t>Đơn</a:t>
            </a:r>
            <a:r>
              <a:rPr sz="1560" b="0" dirty="0">
                <a:solidFill>
                  <a:srgbClr val="526170"/>
                </a:solidFill>
                <a:latin typeface="Lato"/>
                <a:ea typeface="Lato"/>
                <a:cs typeface="Lato"/>
              </a:rPr>
              <a:t> </a:t>
            </a:r>
            <a:r>
              <a:rPr sz="1560" b="0" dirty="0" err="1">
                <a:solidFill>
                  <a:srgbClr val="526170"/>
                </a:solidFill>
                <a:latin typeface="Lato"/>
                <a:ea typeface="Lato"/>
                <a:cs typeface="Lato"/>
              </a:rPr>
              <a:t>vị</a:t>
            </a:r>
            <a:r>
              <a:rPr sz="1560" b="0" dirty="0">
                <a:solidFill>
                  <a:srgbClr val="526170"/>
                </a:solidFill>
                <a:latin typeface="Lato"/>
                <a:ea typeface="Lato"/>
                <a:cs typeface="Lato"/>
              </a:rPr>
              <a:t> </a:t>
            </a:r>
            <a:r>
              <a:rPr sz="1560" b="0" dirty="0" err="1">
                <a:solidFill>
                  <a:srgbClr val="526170"/>
                </a:solidFill>
                <a:latin typeface="Lato"/>
                <a:ea typeface="Lato"/>
                <a:cs typeface="Lato"/>
              </a:rPr>
              <a:t>nhận</a:t>
            </a:r>
            <a:r>
              <a:rPr sz="1560" b="0" dirty="0">
                <a:solidFill>
                  <a:srgbClr val="526170"/>
                </a:solidFill>
                <a:latin typeface="Lato"/>
                <a:ea typeface="Lato"/>
                <a:cs typeface="Lato"/>
              </a:rPr>
              <a:t> </a:t>
            </a:r>
            <a:r>
              <a:rPr sz="1560" b="0" dirty="0" err="1">
                <a:solidFill>
                  <a:srgbClr val="526170"/>
                </a:solidFill>
                <a:latin typeface="Lato"/>
                <a:ea typeface="Lato"/>
                <a:cs typeface="Lato"/>
              </a:rPr>
              <a:t>dạng</a:t>
            </a:r>
            <a:r>
              <a:rPr sz="1560" b="0" dirty="0">
                <a:solidFill>
                  <a:srgbClr val="526170"/>
                </a:solidFill>
                <a:latin typeface="Lato"/>
                <a:ea typeface="Lato"/>
                <a:cs typeface="Lato"/>
              </a:rPr>
              <a:t> </a:t>
            </a:r>
            <a:r>
              <a:rPr sz="1560" b="0" dirty="0" err="1">
                <a:solidFill>
                  <a:srgbClr val="526170"/>
                </a:solidFill>
                <a:latin typeface="Lato"/>
                <a:ea typeface="Lato"/>
                <a:cs typeface="Lato"/>
              </a:rPr>
              <a:t>thống</a:t>
            </a:r>
            <a:r>
              <a:rPr sz="1560" b="0" dirty="0">
                <a:solidFill>
                  <a:srgbClr val="526170"/>
                </a:solidFill>
                <a:latin typeface="Lato"/>
                <a:ea typeface="Lato"/>
                <a:cs typeface="Lato"/>
              </a:rPr>
              <a:t> </a:t>
            </a:r>
            <a:r>
              <a:rPr sz="1560" b="0" dirty="0" err="1">
                <a:solidFill>
                  <a:srgbClr val="526170"/>
                </a:solidFill>
                <a:latin typeface="Lato"/>
                <a:ea typeface="Lato"/>
                <a:cs typeface="Lato"/>
              </a:rPr>
              <a:t>nhất</a:t>
            </a:r>
            <a:r>
              <a:rPr sz="1560" b="0" dirty="0">
                <a:solidFill>
                  <a:srgbClr val="526170"/>
                </a:solidFill>
                <a:latin typeface="Lato"/>
                <a:ea typeface="Lato"/>
                <a:cs typeface="Lato"/>
              </a:rPr>
              <a:t>: </a:t>
            </a:r>
            <a:r>
              <a:rPr sz="1560" b="0" dirty="0" err="1">
                <a:solidFill>
                  <a:srgbClr val="526170"/>
                </a:solidFill>
                <a:latin typeface="Lato"/>
                <a:ea typeface="Lato"/>
                <a:cs typeface="Lato"/>
              </a:rPr>
              <a:t>ảnh</a:t>
            </a:r>
            <a:r>
              <a:rPr sz="1560" b="0" dirty="0">
                <a:solidFill>
                  <a:srgbClr val="526170"/>
                </a:solidFill>
                <a:latin typeface="Lato"/>
                <a:ea typeface="Lato"/>
                <a:cs typeface="Lato"/>
              </a:rPr>
              <a:t> </a:t>
            </a:r>
            <a:r>
              <a:rPr sz="1560" b="0" dirty="0" err="1">
                <a:solidFill>
                  <a:srgbClr val="526170"/>
                </a:solidFill>
                <a:latin typeface="Lato"/>
                <a:ea typeface="Lato"/>
                <a:cs typeface="Lato"/>
              </a:rPr>
              <a:t>một</a:t>
            </a:r>
            <a:r>
              <a:rPr sz="1560" b="0" dirty="0">
                <a:solidFill>
                  <a:srgbClr val="526170"/>
                </a:solidFill>
                <a:latin typeface="Lato"/>
                <a:ea typeface="Lato"/>
                <a:cs typeface="Lato"/>
              </a:rPr>
              <a:t> </a:t>
            </a:r>
            <a:r>
              <a:rPr sz="1560" b="0" dirty="0" err="1">
                <a:solidFill>
                  <a:srgbClr val="526170"/>
                </a:solidFill>
                <a:latin typeface="Lato"/>
                <a:ea typeface="Lato"/>
                <a:cs typeface="Lato"/>
              </a:rPr>
              <a:t>dòng</a:t>
            </a:r>
            <a:r>
              <a:rPr sz="1560" b="0" dirty="0">
                <a:solidFill>
                  <a:srgbClr val="526170"/>
                </a:solidFill>
                <a:latin typeface="Lato"/>
                <a:ea typeface="Lato"/>
                <a:cs typeface="Lato"/>
              </a:rPr>
              <a:t> </a:t>
            </a:r>
            <a:r>
              <a:rPr sz="1560" b="0" dirty="0" err="1">
                <a:solidFill>
                  <a:srgbClr val="526170"/>
                </a:solidFill>
                <a:latin typeface="Lato"/>
                <a:ea typeface="Lato"/>
                <a:cs typeface="Lato"/>
              </a:rPr>
              <a:t>ch</a:t>
            </a:r>
            <a:r>
              <a:rPr lang="en-US" sz="1560" b="0" dirty="0" err="1">
                <a:solidFill>
                  <a:srgbClr val="526170"/>
                </a:solidFill>
                <a:latin typeface="Lato"/>
                <a:ea typeface="Lato"/>
                <a:cs typeface="Lato"/>
              </a:rPr>
              <a:t>ữ</a:t>
            </a:r>
            <a:r>
              <a:rPr lang="en-US" sz="1560" b="0" dirty="0">
                <a:solidFill>
                  <a:srgbClr val="526170"/>
                </a:solidFill>
                <a:latin typeface="Lato"/>
                <a:ea typeface="Lato"/>
                <a:cs typeface="Lato"/>
              </a:rPr>
              <a:t>.</a:t>
            </a:r>
            <a:endParaRPr sz="1560" b="0" dirty="0">
              <a:solidFill>
                <a:srgbClr val="526170"/>
              </a:solidFill>
              <a:latin typeface="Lato"/>
              <a:ea typeface="Lato"/>
              <a:cs typeface="Lato"/>
            </a:endParaRPr>
          </a:p>
        </p:txBody>
      </p:sp>
      <p:graphicFrame>
        <p:nvGraphicFramePr>
          <p:cNvPr id="6" name="Table 5">
            <a:extLst>
              <a:ext uri="{FF2B5EF4-FFF2-40B4-BE49-F238E27FC236}">
                <a16:creationId xmlns:a16="http://schemas.microsoft.com/office/drawing/2014/main" id="{86158612-2B7C-4AE2-BAEC-DE4A5C754932}"/>
              </a:ext>
            </a:extLst>
          </p:cNvPr>
          <p:cNvGraphicFramePr/>
          <p:nvPr>
            <p:extLst>
              <p:ext uri="{D42A27DB-BD31-4B8C-83A1-F6EECF244321}">
                <p14:modId xmlns:p14="http://schemas.microsoft.com/office/powerpoint/2010/main" val="2699473483"/>
              </p:ext>
            </p:extLst>
          </p:nvPr>
        </p:nvGraphicFramePr>
        <p:xfrm>
          <a:off x="556260" y="1802604"/>
          <a:ext cx="11003280" cy="2607470"/>
        </p:xfrm>
        <a:graphic>
          <a:graphicData uri="http://schemas.openxmlformats.org/drawingml/2006/table">
            <a:tbl>
              <a:tblPr/>
              <a:tblGrid>
                <a:gridCol w="2362200">
                  <a:extLst>
                    <a:ext uri="{9D8B030D-6E8A-4147-A177-3AD203B41FA5}">
                      <a16:colId xmlns:a16="http://schemas.microsoft.com/office/drawing/2014/main" val="20000"/>
                    </a:ext>
                  </a:extLst>
                </a:gridCol>
                <a:gridCol w="4953000">
                  <a:extLst>
                    <a:ext uri="{9D8B030D-6E8A-4147-A177-3AD203B41FA5}">
                      <a16:colId xmlns:a16="http://schemas.microsoft.com/office/drawing/2014/main" val="20001"/>
                    </a:ext>
                  </a:extLst>
                </a:gridCol>
                <a:gridCol w="3688080">
                  <a:extLst>
                    <a:ext uri="{9D8B030D-6E8A-4147-A177-3AD203B41FA5}">
                      <a16:colId xmlns:a16="http://schemas.microsoft.com/office/drawing/2014/main" val="20002"/>
                    </a:ext>
                  </a:extLst>
                </a:gridCol>
              </a:tblGrid>
              <a:tr h="521494">
                <a:tc>
                  <a:txBody>
                    <a:bodyPr/>
                    <a:lstStyle/>
                    <a:p>
                      <a:r>
                        <a:rPr sz="1500" b="1" dirty="0">
                          <a:solidFill>
                            <a:srgbClr val="FFFFFF"/>
                          </a:solidFill>
                          <a:latin typeface="Lato"/>
                          <a:ea typeface="Lato"/>
                          <a:cs typeface="Lato"/>
                        </a:rPr>
                        <a:t>Giai </a:t>
                      </a:r>
                      <a:r>
                        <a:rPr sz="1500" b="1" dirty="0" err="1">
                          <a:solidFill>
                            <a:srgbClr val="FFFFFF"/>
                          </a:solidFill>
                          <a:latin typeface="Lato"/>
                          <a:ea typeface="Lato"/>
                          <a:cs typeface="Lato"/>
                        </a:rPr>
                        <a:t>đoạn</a:t>
                      </a:r>
                      <a:endParaRPr sz="1500" b="1" dirty="0">
                        <a:solidFill>
                          <a:srgbClr val="FFFFFF"/>
                        </a:solidFill>
                        <a:latin typeface="Lato"/>
                        <a:ea typeface="Lato"/>
                        <a:cs typeface="Lato"/>
                      </a:endParaRPr>
                    </a:p>
                  </a:txBody>
                  <a:tcPr>
                    <a:lnL w="9525">
                      <a:solidFill>
                        <a:srgbClr val="CBD5E0"/>
                      </a:solidFill>
                      <a:prstDash val="solid"/>
                    </a:lnL>
                    <a:lnR w="9525">
                      <a:solidFill>
                        <a:srgbClr val="CBD5E0"/>
                      </a:solidFill>
                      <a:prstDash val="solid"/>
                    </a:lnR>
                    <a:lnT w="9525">
                      <a:solidFill>
                        <a:srgbClr val="CBD5E0"/>
                      </a:solidFill>
                      <a:prstDash val="solid"/>
                    </a:lnT>
                    <a:lnB w="9525">
                      <a:solidFill>
                        <a:srgbClr val="CBD5E0"/>
                      </a:solidFill>
                      <a:prstDash val="solid"/>
                    </a:lnB>
                    <a:solidFill>
                      <a:srgbClr val="003063"/>
                    </a:solidFill>
                  </a:tcPr>
                </a:tc>
                <a:tc>
                  <a:txBody>
                    <a:bodyPr/>
                    <a:lstStyle/>
                    <a:p>
                      <a:r>
                        <a:rPr sz="1500" b="1" dirty="0" err="1">
                          <a:solidFill>
                            <a:srgbClr val="FFFFFF"/>
                          </a:solidFill>
                          <a:latin typeface="Lato"/>
                          <a:ea typeface="Lato"/>
                          <a:cs typeface="Lato"/>
                        </a:rPr>
                        <a:t>Bộ</a:t>
                      </a:r>
                      <a:r>
                        <a:rPr sz="1500" b="1" dirty="0">
                          <a:solidFill>
                            <a:srgbClr val="FFFFFF"/>
                          </a:solidFill>
                          <a:latin typeface="Lato"/>
                          <a:ea typeface="Lato"/>
                          <a:cs typeface="Lato"/>
                        </a:rPr>
                        <a:t> </a:t>
                      </a:r>
                      <a:r>
                        <a:rPr sz="1500" b="1" dirty="0" err="1">
                          <a:solidFill>
                            <a:srgbClr val="FFFFFF"/>
                          </a:solidFill>
                          <a:latin typeface="Lato"/>
                          <a:ea typeface="Lato"/>
                          <a:cs typeface="Lato"/>
                        </a:rPr>
                        <a:t>dữ</a:t>
                      </a:r>
                      <a:r>
                        <a:rPr sz="1500" b="1" dirty="0">
                          <a:solidFill>
                            <a:srgbClr val="FFFFFF"/>
                          </a:solidFill>
                          <a:latin typeface="Lato"/>
                          <a:ea typeface="Lato"/>
                          <a:cs typeface="Lato"/>
                        </a:rPr>
                        <a:t> </a:t>
                      </a:r>
                      <a:r>
                        <a:rPr sz="1500" b="1" dirty="0" err="1">
                          <a:solidFill>
                            <a:srgbClr val="FFFFFF"/>
                          </a:solidFill>
                          <a:latin typeface="Lato"/>
                          <a:ea typeface="Lato"/>
                          <a:cs typeface="Lato"/>
                        </a:rPr>
                        <a:t>liệu</a:t>
                      </a:r>
                      <a:endParaRPr sz="1500" b="1" dirty="0">
                        <a:solidFill>
                          <a:srgbClr val="FFFFF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a:solidFill>
                        <a:srgbClr val="CBD5E0"/>
                      </a:solidFill>
                      <a:prstDash val="solid"/>
                    </a:lnT>
                    <a:lnB w="9525">
                      <a:solidFill>
                        <a:srgbClr val="CBD5E0"/>
                      </a:solidFill>
                      <a:prstDash val="solid"/>
                    </a:lnB>
                    <a:solidFill>
                      <a:srgbClr val="003063"/>
                    </a:solidFill>
                  </a:tcPr>
                </a:tc>
                <a:tc>
                  <a:txBody>
                    <a:bodyPr/>
                    <a:lstStyle/>
                    <a:p>
                      <a:r>
                        <a:rPr sz="1500" b="1">
                          <a:solidFill>
                            <a:srgbClr val="FFFFFF"/>
                          </a:solidFill>
                          <a:latin typeface="Lato"/>
                          <a:ea typeface="Lato"/>
                          <a:cs typeface="Lato"/>
                        </a:rPr>
                        <a:t>Quy mô / lựa chọn</a:t>
                      </a:r>
                    </a:p>
                  </a:txBody>
                  <a:tcPr>
                    <a:lnL w="9525" cap="flat" cmpd="sng" algn="ctr">
                      <a:solidFill>
                        <a:srgbClr val="CBD5E0"/>
                      </a:solidFill>
                      <a:prstDash val="solid"/>
                      <a:round/>
                      <a:headEnd type="none" w="med" len="med"/>
                      <a:tailEnd type="none" w="med" len="med"/>
                    </a:lnL>
                    <a:lnR w="9525">
                      <a:solidFill>
                        <a:srgbClr val="CBD5E0"/>
                      </a:solidFill>
                      <a:prstDash val="solid"/>
                    </a:lnR>
                    <a:lnT w="9525">
                      <a:solidFill>
                        <a:srgbClr val="CBD5E0"/>
                      </a:solidFill>
                      <a:prstDash val="solid"/>
                    </a:lnT>
                    <a:lnB w="9525">
                      <a:solidFill>
                        <a:srgbClr val="CBD5E0"/>
                      </a:solidFill>
                      <a:prstDash val="solid"/>
                    </a:lnB>
                    <a:solidFill>
                      <a:srgbClr val="003063"/>
                    </a:solidFill>
                  </a:tcPr>
                </a:tc>
                <a:extLst>
                  <a:ext uri="{0D108BD9-81ED-4DB2-BD59-A6C34878D82A}">
                    <a16:rowId xmlns:a16="http://schemas.microsoft.com/office/drawing/2014/main" val="10000"/>
                  </a:ext>
                </a:extLst>
              </a:tr>
              <a:tr h="521494">
                <a:tc>
                  <a:txBody>
                    <a:bodyPr/>
                    <a:lstStyle/>
                    <a:p>
                      <a:r>
                        <a:rPr sz="1500" b="0">
                          <a:solidFill>
                            <a:srgbClr val="00376F"/>
                          </a:solidFill>
                          <a:latin typeface="Lato"/>
                          <a:ea typeface="Lato"/>
                          <a:cs typeface="Lato"/>
                        </a:rPr>
                        <a:t>01 · Train từ đầu</a:t>
                      </a:r>
                    </a:p>
                  </a:txBody>
                  <a:tcPr>
                    <a:lnL w="9525">
                      <a:solidFill>
                        <a:srgbClr val="CBD5E0"/>
                      </a:solidFill>
                      <a:prstDash val="soli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tc>
                  <a:txBody>
                    <a:bodyPr/>
                    <a:lstStyle/>
                    <a:p>
                      <a:r>
                        <a:rPr sz="1500" b="0" dirty="0" err="1">
                          <a:solidFill>
                            <a:srgbClr val="00376F"/>
                          </a:solidFill>
                          <a:latin typeface="Lato"/>
                          <a:ea typeface="Lato"/>
                          <a:cs typeface="Lato"/>
                        </a:rPr>
                        <a:t>VietOCR</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Chữ</a:t>
                      </a:r>
                      <a:r>
                        <a:rPr lang="en-US" sz="1500" b="0" dirty="0">
                          <a:solidFill>
                            <a:srgbClr val="00376F"/>
                          </a:solidFill>
                          <a:latin typeface="Lato"/>
                          <a:ea typeface="Lato"/>
                          <a:cs typeface="Lato"/>
                        </a:rPr>
                        <a:t> in, </a:t>
                      </a:r>
                      <a:r>
                        <a:rPr lang="en-US" sz="1500" b="0" dirty="0" err="1">
                          <a:solidFill>
                            <a:srgbClr val="00376F"/>
                          </a:solidFill>
                          <a:latin typeface="Lato"/>
                          <a:ea typeface="Lato"/>
                          <a:cs typeface="Lato"/>
                        </a:rPr>
                        <a:t>cả</a:t>
                      </a:r>
                      <a:r>
                        <a:rPr lang="en-US" sz="1500" b="0" dirty="0">
                          <a:solidFill>
                            <a:srgbClr val="00376F"/>
                          </a:solidFill>
                          <a:latin typeface="Lato"/>
                          <a:ea typeface="Lato"/>
                          <a:cs typeface="Lato"/>
                        </a:rPr>
                        <a:t> 50% Anh, 50% Việt)</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tc>
                  <a:txBody>
                    <a:bodyPr/>
                    <a:lstStyle/>
                    <a:p>
                      <a:r>
                        <a:rPr lang="en-US" sz="1500" b="0" dirty="0" err="1">
                          <a:solidFill>
                            <a:srgbClr val="00376F"/>
                          </a:solidFill>
                          <a:latin typeface="Lato"/>
                          <a:ea typeface="Lato"/>
                          <a:cs typeface="Lato"/>
                        </a:rPr>
                        <a:t>Khoảng</a:t>
                      </a:r>
                      <a:r>
                        <a:rPr lang="en-US" sz="1500" b="0" dirty="0">
                          <a:solidFill>
                            <a:srgbClr val="00376F"/>
                          </a:solidFill>
                          <a:latin typeface="Lato"/>
                          <a:ea typeface="Lato"/>
                          <a:cs typeface="Lato"/>
                        </a:rPr>
                        <a:t> 1 </a:t>
                      </a:r>
                      <a:r>
                        <a:rPr lang="en-US" sz="1500" b="0" dirty="0" err="1">
                          <a:solidFill>
                            <a:srgbClr val="00376F"/>
                          </a:solidFill>
                          <a:latin typeface="Lato"/>
                          <a:ea typeface="Lato"/>
                          <a:cs typeface="Lato"/>
                        </a:rPr>
                        <a:t>triệu</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ảnh</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dòng</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chữ</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extLst>
                  <a:ext uri="{0D108BD9-81ED-4DB2-BD59-A6C34878D82A}">
                    <a16:rowId xmlns:a16="http://schemas.microsoft.com/office/drawing/2014/main" val="10001"/>
                  </a:ext>
                </a:extLst>
              </a:tr>
              <a:tr h="521494">
                <a:tc>
                  <a:txBody>
                    <a:bodyPr/>
                    <a:lstStyle/>
                    <a:p>
                      <a:r>
                        <a:rPr sz="1500" b="0">
                          <a:solidFill>
                            <a:srgbClr val="00376F"/>
                          </a:solidFill>
                          <a:latin typeface="Lato"/>
                          <a:ea typeface="Lato"/>
                          <a:cs typeface="Lato"/>
                        </a:rPr>
                        <a:t>02 · Fine-tune</a:t>
                      </a:r>
                    </a:p>
                  </a:txBody>
                  <a:tcPr>
                    <a:lnL w="9525">
                      <a:solidFill>
                        <a:srgbClr val="CBD5E0"/>
                      </a:solidFill>
                      <a:prstDash val="soli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tc>
                  <a:txBody>
                    <a:bodyPr/>
                    <a:lstStyle/>
                    <a:p>
                      <a:r>
                        <a:rPr sz="1500" b="0" dirty="0">
                          <a:solidFill>
                            <a:srgbClr val="00376F"/>
                          </a:solidFill>
                          <a:latin typeface="Lato"/>
                          <a:ea typeface="Lato"/>
                          <a:cs typeface="Lato"/>
                        </a:rPr>
                        <a:t>5CD-A</a:t>
                      </a:r>
                      <a:r>
                        <a:rPr lang="en-US" sz="1500" b="0" dirty="0">
                          <a:solidFill>
                            <a:srgbClr val="00376F"/>
                          </a:solidFill>
                          <a:latin typeface="Lato"/>
                          <a:ea typeface="Lato"/>
                          <a:cs typeface="Lato"/>
                        </a:rPr>
                        <a:t>I/</a:t>
                      </a:r>
                      <a:r>
                        <a:rPr lang="en-US" sz="1500" b="0" dirty="0" err="1">
                          <a:solidFill>
                            <a:srgbClr val="00376F"/>
                          </a:solidFill>
                          <a:latin typeface="Lato"/>
                          <a:ea typeface="Lato"/>
                          <a:cs typeface="Lato"/>
                        </a:rPr>
                        <a:t>VietHTR</a:t>
                      </a:r>
                      <a:r>
                        <a:rPr lang="en-US" sz="1500" b="0" dirty="0">
                          <a:solidFill>
                            <a:srgbClr val="00376F"/>
                          </a:solidFill>
                          <a:latin typeface="Lato"/>
                          <a:ea typeface="Lato"/>
                          <a:cs typeface="Lato"/>
                        </a:rPr>
                        <a:t>-Line (</a:t>
                      </a:r>
                      <a:r>
                        <a:rPr lang="en-US" sz="1500" b="0" dirty="0" err="1">
                          <a:solidFill>
                            <a:srgbClr val="00376F"/>
                          </a:solidFill>
                          <a:latin typeface="Lato"/>
                          <a:ea typeface="Lato"/>
                          <a:cs typeface="Lato"/>
                        </a:rPr>
                        <a:t>Chữ</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viết</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tay</a:t>
                      </a:r>
                      <a:r>
                        <a:rPr lang="en-US" sz="1500" b="0" dirty="0">
                          <a:solidFill>
                            <a:srgbClr val="00376F"/>
                          </a:solidFill>
                          <a:latin typeface="Lato"/>
                          <a:ea typeface="Lato"/>
                          <a:cs typeface="Lato"/>
                        </a:rPr>
                        <a:t> Việt)</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tc>
                  <a:txBody>
                    <a:bodyPr/>
                    <a:lstStyle/>
                    <a:p>
                      <a:r>
                        <a:rPr lang="en-US" sz="1500" b="0" dirty="0">
                          <a:solidFill>
                            <a:srgbClr val="00376F"/>
                          </a:solidFill>
                          <a:latin typeface="Lato"/>
                          <a:ea typeface="Lato"/>
                          <a:cs typeface="Lato"/>
                        </a:rPr>
                        <a:t>60.247</a:t>
                      </a:r>
                      <a:r>
                        <a:rPr sz="1500" b="0" dirty="0">
                          <a:solidFill>
                            <a:srgbClr val="00376F"/>
                          </a:solidFill>
                          <a:latin typeface="Lato"/>
                          <a:ea typeface="Lato"/>
                          <a:cs typeface="Lato"/>
                        </a:rPr>
                        <a:t> </a:t>
                      </a:r>
                      <a:r>
                        <a:rPr lang="en-US" sz="1500" b="0" dirty="0" err="1">
                          <a:solidFill>
                            <a:srgbClr val="00376F"/>
                          </a:solidFill>
                          <a:latin typeface="Lato"/>
                          <a:ea typeface="Lato"/>
                          <a:cs typeface="Lato"/>
                        </a:rPr>
                        <a:t>ảnh</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dòng</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chữ</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extLst>
                  <a:ext uri="{0D108BD9-81ED-4DB2-BD59-A6C34878D82A}">
                    <a16:rowId xmlns:a16="http://schemas.microsoft.com/office/drawing/2014/main" val="10002"/>
                  </a:ext>
                </a:extLst>
              </a:tr>
              <a:tr h="521494">
                <a:tc>
                  <a:txBody>
                    <a:bodyPr/>
                    <a:lstStyle/>
                    <a:p>
                      <a:r>
                        <a:rPr sz="1500" b="0">
                          <a:solidFill>
                            <a:srgbClr val="00376F"/>
                          </a:solidFill>
                          <a:latin typeface="Lato"/>
                          <a:ea typeface="Lato"/>
                          <a:cs typeface="Lato"/>
                        </a:rPr>
                        <a:t>02 · Fine-tune</a:t>
                      </a:r>
                    </a:p>
                  </a:txBody>
                  <a:tcPr>
                    <a:lnL w="9525">
                      <a:solidFill>
                        <a:srgbClr val="CBD5E0"/>
                      </a:solidFill>
                      <a:prstDash val="soli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tc>
                  <a:txBody>
                    <a:bodyPr/>
                    <a:lstStyle/>
                    <a:p>
                      <a:r>
                        <a:rPr sz="1500" b="0" dirty="0">
                          <a:solidFill>
                            <a:srgbClr val="00376F"/>
                          </a:solidFill>
                          <a:latin typeface="Lato"/>
                          <a:ea typeface="Lato"/>
                          <a:cs typeface="Lato"/>
                        </a:rPr>
                        <a:t>UIT-HWDB-line</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Chữ</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viết</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tay</a:t>
                      </a:r>
                      <a:r>
                        <a:rPr lang="en-US" sz="1500" b="0" dirty="0">
                          <a:solidFill>
                            <a:srgbClr val="00376F"/>
                          </a:solidFill>
                          <a:latin typeface="Lato"/>
                          <a:ea typeface="Lato"/>
                          <a:cs typeface="Lato"/>
                        </a:rPr>
                        <a:t> Việt)</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tc>
                  <a:txBody>
                    <a:bodyPr/>
                    <a:lstStyle/>
                    <a:p>
                      <a:r>
                        <a:rPr sz="1500" b="0">
                          <a:solidFill>
                            <a:srgbClr val="00376F"/>
                          </a:solidFill>
                          <a:latin typeface="Lato"/>
                          <a:ea typeface="Lato"/>
                          <a:cs typeface="Lato"/>
                        </a:rPr>
                        <a:t>7.273 ảnh dòng chữ</a:t>
                      </a: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extLst>
                  <a:ext uri="{0D108BD9-81ED-4DB2-BD59-A6C34878D82A}">
                    <a16:rowId xmlns:a16="http://schemas.microsoft.com/office/drawing/2014/main" val="10003"/>
                  </a:ext>
                </a:extLst>
              </a:tr>
              <a:tr h="521494">
                <a:tc>
                  <a:txBody>
                    <a:bodyPr/>
                    <a:lstStyle/>
                    <a:p>
                      <a:r>
                        <a:rPr sz="1500" b="0">
                          <a:solidFill>
                            <a:srgbClr val="00376F"/>
                          </a:solidFill>
                          <a:latin typeface="Lato"/>
                          <a:ea typeface="Lato"/>
                          <a:cs typeface="Lato"/>
                        </a:rPr>
                        <a:t>02 · Fine-tune</a:t>
                      </a:r>
                    </a:p>
                  </a:txBody>
                  <a:tcPr>
                    <a:lnL w="9525">
                      <a:solidFill>
                        <a:srgbClr val="CBD5E0"/>
                      </a:solidFill>
                      <a:prstDash val="soli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tc>
                  <a:txBody>
                    <a:bodyPr/>
                    <a:lstStyle/>
                    <a:p>
                      <a:r>
                        <a:rPr lang="en-US" sz="1500" b="0" dirty="0" err="1">
                          <a:solidFill>
                            <a:srgbClr val="00376F"/>
                          </a:solidFill>
                          <a:latin typeface="Lato"/>
                          <a:ea typeface="Lato"/>
                          <a:cs typeface="Lato"/>
                        </a:rPr>
                        <a:t>VietOCR</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Chữ</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viết</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tay</a:t>
                      </a:r>
                      <a:r>
                        <a:rPr lang="en-US" sz="1500" b="0" dirty="0">
                          <a:solidFill>
                            <a:srgbClr val="00376F"/>
                          </a:solidFill>
                          <a:latin typeface="Lato"/>
                          <a:ea typeface="Lato"/>
                          <a:cs typeface="Lato"/>
                        </a:rPr>
                        <a:t> Việt)</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tc>
                  <a:txBody>
                    <a:bodyPr/>
                    <a:lstStyle/>
                    <a:p>
                      <a:r>
                        <a:rPr lang="en-US" sz="1500" b="0" dirty="0">
                          <a:solidFill>
                            <a:srgbClr val="00376F"/>
                          </a:solidFill>
                          <a:latin typeface="Lato"/>
                          <a:ea typeface="Lato"/>
                          <a:cs typeface="Lato"/>
                        </a:rPr>
                        <a:t>7.296 </a:t>
                      </a:r>
                      <a:r>
                        <a:rPr lang="en-US" sz="1500" b="0" dirty="0" err="1">
                          <a:solidFill>
                            <a:srgbClr val="00376F"/>
                          </a:solidFill>
                          <a:latin typeface="Lato"/>
                          <a:ea typeface="Lato"/>
                          <a:cs typeface="Lato"/>
                        </a:rPr>
                        <a:t>ảnh</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dòng</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chữ</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extLst>
                  <a:ext uri="{0D108BD9-81ED-4DB2-BD59-A6C34878D82A}">
                    <a16:rowId xmlns:a16="http://schemas.microsoft.com/office/drawing/2014/main" val="10004"/>
                  </a:ext>
                </a:extLst>
              </a:tr>
            </a:tbl>
          </a:graphicData>
        </a:graphic>
      </p:graphicFrame>
      <p:pic>
        <p:nvPicPr>
          <p:cNvPr id="10" name="Picture 9">
            <a:extLst>
              <a:ext uri="{FF2B5EF4-FFF2-40B4-BE49-F238E27FC236}">
                <a16:creationId xmlns:a16="http://schemas.microsoft.com/office/drawing/2014/main" id="{B7F99AAC-AD4F-0479-0364-5A505F6899E9}"/>
              </a:ext>
            </a:extLst>
          </p:cNvPr>
          <p:cNvPicPr>
            <a:picLocks noChangeAspect="1"/>
          </p:cNvPicPr>
          <p:nvPr/>
        </p:nvPicPr>
        <p:blipFill>
          <a:blip r:embed="rId4"/>
          <a:stretch>
            <a:fillRect/>
          </a:stretch>
        </p:blipFill>
        <p:spPr>
          <a:xfrm>
            <a:off x="556260" y="5092062"/>
            <a:ext cx="3168813" cy="800141"/>
          </a:xfrm>
          <a:prstGeom prst="rect">
            <a:avLst/>
          </a:prstGeom>
        </p:spPr>
      </p:pic>
      <p:pic>
        <p:nvPicPr>
          <p:cNvPr id="14" name="Picture 13">
            <a:extLst>
              <a:ext uri="{FF2B5EF4-FFF2-40B4-BE49-F238E27FC236}">
                <a16:creationId xmlns:a16="http://schemas.microsoft.com/office/drawing/2014/main" id="{DF41E0CF-5D91-C824-E39C-2BC3D9839F5E}"/>
              </a:ext>
            </a:extLst>
          </p:cNvPr>
          <p:cNvPicPr>
            <a:picLocks noChangeAspect="1"/>
          </p:cNvPicPr>
          <p:nvPr/>
        </p:nvPicPr>
        <p:blipFill>
          <a:blip r:embed="rId5"/>
          <a:stretch>
            <a:fillRect/>
          </a:stretch>
        </p:blipFill>
        <p:spPr>
          <a:xfrm>
            <a:off x="5708338" y="5185219"/>
            <a:ext cx="6064562" cy="190510"/>
          </a:xfrm>
          <a:prstGeom prst="rect">
            <a:avLst/>
          </a:prstGeom>
        </p:spPr>
      </p:pic>
      <p:pic>
        <p:nvPicPr>
          <p:cNvPr id="16" name="Picture 15">
            <a:extLst>
              <a:ext uri="{FF2B5EF4-FFF2-40B4-BE49-F238E27FC236}">
                <a16:creationId xmlns:a16="http://schemas.microsoft.com/office/drawing/2014/main" id="{8986AA73-3737-7537-09BC-A2A0560780F3}"/>
              </a:ext>
            </a:extLst>
          </p:cNvPr>
          <p:cNvPicPr>
            <a:picLocks noChangeAspect="1"/>
          </p:cNvPicPr>
          <p:nvPr/>
        </p:nvPicPr>
        <p:blipFill>
          <a:blip r:embed="rId6"/>
          <a:stretch>
            <a:fillRect/>
          </a:stretch>
        </p:blipFill>
        <p:spPr>
          <a:xfrm>
            <a:off x="5544272" y="4726777"/>
            <a:ext cx="3257717" cy="482625"/>
          </a:xfrm>
          <a:prstGeom prst="rect">
            <a:avLst/>
          </a:prstGeom>
        </p:spPr>
      </p:pic>
    </p:spTree>
    <p:extLst>
      <p:ext uri="{BB962C8B-B14F-4D97-AF65-F5344CB8AC3E}">
        <p14:creationId xmlns:p14="http://schemas.microsoft.com/office/powerpoint/2010/main" val="221433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Arrow Connector 34">
            <a:extLst>
              <a:ext uri="{FF2B5EF4-FFF2-40B4-BE49-F238E27FC236}">
                <a16:creationId xmlns:a16="http://schemas.microsoft.com/office/drawing/2014/main" id="{8CFEDA02-A958-4F1E-9DE9-0AF715914FE7}"/>
              </a:ext>
            </a:extLst>
          </p:cNvPr>
          <p:cNvCxnSpPr>
            <a:cxnSpLocks/>
            <a:endCxn id="31" idx="1"/>
          </p:cNvCxnSpPr>
          <p:nvPr/>
        </p:nvCxnSpPr>
        <p:spPr>
          <a:xfrm>
            <a:off x="9372600" y="4200526"/>
            <a:ext cx="304800" cy="0"/>
          </a:xfrm>
          <a:prstGeom prst="straightConnector1">
            <a:avLst/>
          </a:prstGeom>
          <a:ln w="19050">
            <a:solidFill>
              <a:srgbClr val="BE1E2D"/>
            </a:solidFill>
            <a:prstDash val="solid"/>
            <a:tailEnd type="triangle" w="sm" len="sm"/>
          </a:ln>
        </p:spPr>
      </p:cxnSp>
      <p:cxnSp>
        <p:nvCxnSpPr>
          <p:cNvPr id="34" name="Straight Arrow Connector 33">
            <a:extLst>
              <a:ext uri="{FF2B5EF4-FFF2-40B4-BE49-F238E27FC236}">
                <a16:creationId xmlns:a16="http://schemas.microsoft.com/office/drawing/2014/main" id="{F5CDE51A-3B7F-4F05-B52A-16983CDA7C86}"/>
              </a:ext>
            </a:extLst>
          </p:cNvPr>
          <p:cNvCxnSpPr>
            <a:cxnSpLocks/>
            <a:stCxn id="29" idx="3"/>
          </p:cNvCxnSpPr>
          <p:nvPr/>
        </p:nvCxnSpPr>
        <p:spPr>
          <a:xfrm>
            <a:off x="6705600" y="4200526"/>
            <a:ext cx="304800" cy="0"/>
          </a:xfrm>
          <a:prstGeom prst="straightConnector1">
            <a:avLst/>
          </a:prstGeom>
          <a:ln w="19050">
            <a:solidFill>
              <a:srgbClr val="BE1E2D"/>
            </a:solidFill>
            <a:prstDash val="solid"/>
            <a:tailEnd type="triangle" w="sm" len="sm"/>
          </a:ln>
        </p:spPr>
      </p:cxnSp>
      <p:cxnSp>
        <p:nvCxnSpPr>
          <p:cNvPr id="33" name="Straight Arrow Connector 32">
            <a:extLst>
              <a:ext uri="{FF2B5EF4-FFF2-40B4-BE49-F238E27FC236}">
                <a16:creationId xmlns:a16="http://schemas.microsoft.com/office/drawing/2014/main" id="{5191F881-3483-4C21-8F83-23E0FC119C26}"/>
              </a:ext>
            </a:extLst>
          </p:cNvPr>
          <p:cNvCxnSpPr>
            <a:stCxn id="28" idx="3"/>
            <a:endCxn id="29" idx="1"/>
          </p:cNvCxnSpPr>
          <p:nvPr/>
        </p:nvCxnSpPr>
        <p:spPr>
          <a:xfrm>
            <a:off x="4114800" y="4200526"/>
            <a:ext cx="304800" cy="0"/>
          </a:xfrm>
          <a:prstGeom prst="straightConnector1">
            <a:avLst/>
          </a:prstGeom>
          <a:ln w="19050">
            <a:solidFill>
              <a:srgbClr val="BE1E2D"/>
            </a:solidFill>
            <a:prstDash val="solid"/>
            <a:tailEnd type="triangle" w="sm" len="sm"/>
          </a:ln>
        </p:spPr>
      </p:cxnSp>
      <p:cxnSp>
        <p:nvCxnSpPr>
          <p:cNvPr id="32" name="Straight Arrow Connector 31">
            <a:extLst>
              <a:ext uri="{FF2B5EF4-FFF2-40B4-BE49-F238E27FC236}">
                <a16:creationId xmlns:a16="http://schemas.microsoft.com/office/drawing/2014/main" id="{7DE18C1E-B550-4E19-9E22-78E02C254A93}"/>
              </a:ext>
            </a:extLst>
          </p:cNvPr>
          <p:cNvCxnSpPr>
            <a:stCxn id="27" idx="3"/>
            <a:endCxn id="28" idx="1"/>
          </p:cNvCxnSpPr>
          <p:nvPr/>
        </p:nvCxnSpPr>
        <p:spPr>
          <a:xfrm>
            <a:off x="2057400" y="4200526"/>
            <a:ext cx="304800" cy="0"/>
          </a:xfrm>
          <a:prstGeom prst="straightConnector1">
            <a:avLst/>
          </a:prstGeom>
          <a:ln w="19050">
            <a:solidFill>
              <a:srgbClr val="BE1E2D"/>
            </a:solidFill>
            <a:prstDash val="solid"/>
            <a:tailEnd type="triangle" w="sm" len="sm"/>
          </a:ln>
        </p:spPr>
      </p:cxnSp>
      <p:cxnSp>
        <p:nvCxnSpPr>
          <p:cNvPr id="25" name="Straight Arrow Connector 24">
            <a:extLst>
              <a:ext uri="{FF2B5EF4-FFF2-40B4-BE49-F238E27FC236}">
                <a16:creationId xmlns:a16="http://schemas.microsoft.com/office/drawing/2014/main" id="{F2A37DAC-F1F3-49A2-9AD9-E82A6373647B}"/>
              </a:ext>
            </a:extLst>
          </p:cNvPr>
          <p:cNvCxnSpPr>
            <a:stCxn id="20" idx="3"/>
            <a:endCxn id="21" idx="1"/>
          </p:cNvCxnSpPr>
          <p:nvPr/>
        </p:nvCxnSpPr>
        <p:spPr>
          <a:xfrm>
            <a:off x="9372600" y="3157538"/>
            <a:ext cx="304800" cy="0"/>
          </a:xfrm>
          <a:prstGeom prst="straightConnector1">
            <a:avLst/>
          </a:prstGeom>
          <a:ln w="19050">
            <a:solidFill>
              <a:srgbClr val="BE1E2D"/>
            </a:solidFill>
            <a:prstDash val="solid"/>
            <a:tailEnd type="triangle" w="sm" len="sm"/>
          </a:ln>
        </p:spPr>
      </p:cxnSp>
      <p:cxnSp>
        <p:nvCxnSpPr>
          <p:cNvPr id="24" name="Straight Arrow Connector 23">
            <a:extLst>
              <a:ext uri="{FF2B5EF4-FFF2-40B4-BE49-F238E27FC236}">
                <a16:creationId xmlns:a16="http://schemas.microsoft.com/office/drawing/2014/main" id="{D3FB2D84-11FA-4BFE-8A79-21362E6EE3FE}"/>
              </a:ext>
            </a:extLst>
          </p:cNvPr>
          <p:cNvCxnSpPr>
            <a:stCxn id="19" idx="3"/>
            <a:endCxn id="20" idx="1"/>
          </p:cNvCxnSpPr>
          <p:nvPr/>
        </p:nvCxnSpPr>
        <p:spPr>
          <a:xfrm>
            <a:off x="6705600" y="3157538"/>
            <a:ext cx="304800" cy="0"/>
          </a:xfrm>
          <a:prstGeom prst="straightConnector1">
            <a:avLst/>
          </a:prstGeom>
          <a:ln w="19050">
            <a:solidFill>
              <a:srgbClr val="BE1E2D"/>
            </a:solidFill>
            <a:prstDash val="solid"/>
            <a:tailEnd type="triangle" w="sm" len="sm"/>
          </a:ln>
        </p:spPr>
      </p:cxnSp>
      <p:cxnSp>
        <p:nvCxnSpPr>
          <p:cNvPr id="23" name="Straight Arrow Connector 22">
            <a:extLst>
              <a:ext uri="{FF2B5EF4-FFF2-40B4-BE49-F238E27FC236}">
                <a16:creationId xmlns:a16="http://schemas.microsoft.com/office/drawing/2014/main" id="{C49476A6-4697-4E69-BD7E-64D5CE0B1C66}"/>
              </a:ext>
            </a:extLst>
          </p:cNvPr>
          <p:cNvCxnSpPr>
            <a:stCxn id="18" idx="3"/>
            <a:endCxn id="19" idx="1"/>
          </p:cNvCxnSpPr>
          <p:nvPr/>
        </p:nvCxnSpPr>
        <p:spPr>
          <a:xfrm>
            <a:off x="4114800" y="3157538"/>
            <a:ext cx="304800" cy="0"/>
          </a:xfrm>
          <a:prstGeom prst="straightConnector1">
            <a:avLst/>
          </a:prstGeom>
          <a:ln w="19050">
            <a:solidFill>
              <a:srgbClr val="BE1E2D"/>
            </a:solidFill>
            <a:prstDash val="solid"/>
            <a:tailEnd type="triangle" w="sm" len="sm"/>
          </a:ln>
        </p:spPr>
      </p:cxnSp>
      <p:cxnSp>
        <p:nvCxnSpPr>
          <p:cNvPr id="22" name="Straight Arrow Connector 21">
            <a:extLst>
              <a:ext uri="{FF2B5EF4-FFF2-40B4-BE49-F238E27FC236}">
                <a16:creationId xmlns:a16="http://schemas.microsoft.com/office/drawing/2014/main" id="{45016779-81DF-46F0-B35E-9FE88E8D3631}"/>
              </a:ext>
            </a:extLst>
          </p:cNvPr>
          <p:cNvCxnSpPr>
            <a:stCxn id="17" idx="3"/>
            <a:endCxn id="18" idx="1"/>
          </p:cNvCxnSpPr>
          <p:nvPr/>
        </p:nvCxnSpPr>
        <p:spPr>
          <a:xfrm>
            <a:off x="2057400" y="3157538"/>
            <a:ext cx="304800" cy="0"/>
          </a:xfrm>
          <a:prstGeom prst="straightConnector1">
            <a:avLst/>
          </a:prstGeom>
          <a:ln w="19050">
            <a:solidFill>
              <a:srgbClr val="BE1E2D"/>
            </a:solidFill>
            <a:prstDash val="solid"/>
            <a:tailEnd type="triangle" w="sm" len="sm"/>
          </a:ln>
        </p:spPr>
      </p:cxnSp>
      <p:cxnSp>
        <p:nvCxnSpPr>
          <p:cNvPr id="15" name="Straight Arrow Connector 14">
            <a:extLst>
              <a:ext uri="{FF2B5EF4-FFF2-40B4-BE49-F238E27FC236}">
                <a16:creationId xmlns:a16="http://schemas.microsoft.com/office/drawing/2014/main" id="{D36E6D26-81A5-4B83-AED4-ADD92A9CBC0E}"/>
              </a:ext>
            </a:extLst>
          </p:cNvPr>
          <p:cNvCxnSpPr>
            <a:stCxn id="10" idx="3"/>
            <a:endCxn id="11" idx="1"/>
          </p:cNvCxnSpPr>
          <p:nvPr/>
        </p:nvCxnSpPr>
        <p:spPr>
          <a:xfrm>
            <a:off x="9372600" y="2114551"/>
            <a:ext cx="304800" cy="0"/>
          </a:xfrm>
          <a:prstGeom prst="straightConnector1">
            <a:avLst/>
          </a:prstGeom>
          <a:ln w="19050">
            <a:solidFill>
              <a:srgbClr val="BE1E2D"/>
            </a:solidFill>
            <a:prstDash val="solid"/>
            <a:tailEnd type="triangle" w="sm" len="sm"/>
          </a:ln>
        </p:spPr>
      </p:cxnSp>
      <p:cxnSp>
        <p:nvCxnSpPr>
          <p:cNvPr id="14" name="Straight Arrow Connector 13">
            <a:extLst>
              <a:ext uri="{FF2B5EF4-FFF2-40B4-BE49-F238E27FC236}">
                <a16:creationId xmlns:a16="http://schemas.microsoft.com/office/drawing/2014/main" id="{74E15C95-293B-4F15-A6D7-877D899048B2}"/>
              </a:ext>
            </a:extLst>
          </p:cNvPr>
          <p:cNvCxnSpPr>
            <a:stCxn id="9" idx="3"/>
            <a:endCxn id="10" idx="1"/>
          </p:cNvCxnSpPr>
          <p:nvPr/>
        </p:nvCxnSpPr>
        <p:spPr>
          <a:xfrm>
            <a:off x="6705600" y="2114551"/>
            <a:ext cx="304800" cy="0"/>
          </a:xfrm>
          <a:prstGeom prst="straightConnector1">
            <a:avLst/>
          </a:prstGeom>
          <a:ln w="19050">
            <a:solidFill>
              <a:srgbClr val="BE1E2D"/>
            </a:solidFill>
            <a:prstDash val="solid"/>
            <a:tailEnd type="triangle" w="sm" len="sm"/>
          </a:ln>
        </p:spPr>
      </p:cxnSp>
      <p:cxnSp>
        <p:nvCxnSpPr>
          <p:cNvPr id="13" name="Straight Arrow Connector 12">
            <a:extLst>
              <a:ext uri="{FF2B5EF4-FFF2-40B4-BE49-F238E27FC236}">
                <a16:creationId xmlns:a16="http://schemas.microsoft.com/office/drawing/2014/main" id="{6B2FDA09-57D5-46B4-BB2F-49AABE019067}"/>
              </a:ext>
            </a:extLst>
          </p:cNvPr>
          <p:cNvCxnSpPr>
            <a:stCxn id="8" idx="3"/>
            <a:endCxn id="9" idx="1"/>
          </p:cNvCxnSpPr>
          <p:nvPr/>
        </p:nvCxnSpPr>
        <p:spPr>
          <a:xfrm>
            <a:off x="4114800" y="2114551"/>
            <a:ext cx="304800" cy="0"/>
          </a:xfrm>
          <a:prstGeom prst="straightConnector1">
            <a:avLst/>
          </a:prstGeom>
          <a:ln w="19050">
            <a:solidFill>
              <a:srgbClr val="BE1E2D"/>
            </a:solidFill>
            <a:prstDash val="solid"/>
            <a:tailEnd type="triangle" w="sm" len="sm"/>
          </a:ln>
        </p:spPr>
      </p:cxnSp>
      <p:cxnSp>
        <p:nvCxnSpPr>
          <p:cNvPr id="12" name="Straight Arrow Connector 11">
            <a:extLst>
              <a:ext uri="{FF2B5EF4-FFF2-40B4-BE49-F238E27FC236}">
                <a16:creationId xmlns:a16="http://schemas.microsoft.com/office/drawing/2014/main" id="{8822E55A-32DA-403B-8CE2-33AC8F8D8985}"/>
              </a:ext>
            </a:extLst>
          </p:cNvPr>
          <p:cNvCxnSpPr>
            <a:stCxn id="7" idx="3"/>
            <a:endCxn id="8" idx="1"/>
          </p:cNvCxnSpPr>
          <p:nvPr/>
        </p:nvCxnSpPr>
        <p:spPr>
          <a:xfrm>
            <a:off x="2057400" y="2114551"/>
            <a:ext cx="304800" cy="0"/>
          </a:xfrm>
          <a:prstGeom prst="straightConnector1">
            <a:avLst/>
          </a:prstGeom>
          <a:ln w="19050">
            <a:solidFill>
              <a:srgbClr val="BE1E2D"/>
            </a:solidFill>
            <a:prstDash val="solid"/>
            <a:tailEnd type="triangle" w="sm" len="sm"/>
          </a:ln>
        </p:spPr>
      </p:cxnSp>
      <p:sp>
        <p:nvSpPr>
          <p:cNvPr id="2" name="Title 1">
            <a:extLst>
              <a:ext uri="{FF2B5EF4-FFF2-40B4-BE49-F238E27FC236}">
                <a16:creationId xmlns:a16="http://schemas.microsoft.com/office/drawing/2014/main" id="{EF9B3AB5-95DF-4273-871C-843529DB7255}"/>
              </a:ext>
            </a:extLst>
          </p:cNvPr>
          <p:cNvSpPr>
            <a:spLocks noGrp="1"/>
          </p:cNvSpPr>
          <p:nvPr>
            <p:ph type="title"/>
          </p:nvPr>
        </p:nvSpPr>
        <p:spPr>
          <a:xfrm>
            <a:off x="342900" y="95250"/>
            <a:ext cx="11430000" cy="457200"/>
          </a:xfrm>
        </p:spPr>
        <p:txBody>
          <a:bodyPr lIns="0" tIns="0" rIns="0" bIns="0" anchor="ctr"/>
          <a:lstStyle>
            <a:defPPr>
              <a:defRPr sz="2800" b="1">
                <a:solidFill>
                  <a:srgbClr val="FFFFFF"/>
                </a:solidFill>
                <a:latin typeface="Lato"/>
                <a:ea typeface="Lato"/>
                <a:cs typeface="Lato"/>
              </a:defRPr>
            </a:defPPr>
            <a:lvl1pPr>
              <a:defRPr sz="2800" b="1">
                <a:solidFill>
                  <a:srgbClr val="FFFFFF"/>
                </a:solidFill>
                <a:latin typeface="Lato"/>
                <a:ea typeface="Lato"/>
                <a:cs typeface="Lato"/>
              </a:defRPr>
            </a:lvl1pPr>
            <a:lvl2pPr>
              <a:defRPr sz="2800" b="1">
                <a:solidFill>
                  <a:srgbClr val="FFFFFF"/>
                </a:solidFill>
                <a:latin typeface="Lato"/>
                <a:ea typeface="Lato"/>
                <a:cs typeface="Lato"/>
              </a:defRPr>
            </a:lvl2pPr>
            <a:lvl3pPr>
              <a:defRPr sz="2800" b="1">
                <a:solidFill>
                  <a:srgbClr val="FFFFFF"/>
                </a:solidFill>
                <a:latin typeface="Lato"/>
                <a:ea typeface="Lato"/>
                <a:cs typeface="Lato"/>
              </a:defRPr>
            </a:lvl3pPr>
            <a:lvl4pPr>
              <a:defRPr sz="2800" b="1">
                <a:solidFill>
                  <a:srgbClr val="FFFFFF"/>
                </a:solidFill>
                <a:latin typeface="Lato"/>
                <a:ea typeface="Lato"/>
                <a:cs typeface="Lato"/>
              </a:defRPr>
            </a:lvl4pPr>
            <a:lvl5pPr>
              <a:defRPr sz="2800" b="1">
                <a:solidFill>
                  <a:srgbClr val="FFFFFF"/>
                </a:solidFill>
                <a:latin typeface="Lato"/>
                <a:ea typeface="Lato"/>
                <a:cs typeface="Lato"/>
              </a:defRPr>
            </a:lvl5pPr>
            <a:lvl6pPr>
              <a:defRPr sz="2800" b="1">
                <a:solidFill>
                  <a:srgbClr val="FFFFFF"/>
                </a:solidFill>
                <a:latin typeface="Lato"/>
                <a:ea typeface="Lato"/>
                <a:cs typeface="Lato"/>
              </a:defRPr>
            </a:lvl6pPr>
            <a:lvl7pPr>
              <a:defRPr sz="2800" b="1">
                <a:solidFill>
                  <a:srgbClr val="FFFFFF"/>
                </a:solidFill>
                <a:latin typeface="Lato"/>
                <a:ea typeface="Lato"/>
                <a:cs typeface="Lato"/>
              </a:defRPr>
            </a:lvl7pPr>
            <a:lvl8pPr>
              <a:defRPr sz="2800" b="1">
                <a:solidFill>
                  <a:srgbClr val="FFFFFF"/>
                </a:solidFill>
                <a:latin typeface="Lato"/>
                <a:ea typeface="Lato"/>
                <a:cs typeface="Lato"/>
              </a:defRPr>
            </a:lvl8pPr>
            <a:lvl9pPr>
              <a:defRPr sz="2800" b="1">
                <a:solidFill>
                  <a:srgbClr val="FFFFFF"/>
                </a:solidFill>
                <a:latin typeface="Lato"/>
                <a:ea typeface="Lato"/>
                <a:cs typeface="Lato"/>
              </a:defRPr>
            </a:lvl9pPr>
          </a:lstStyle>
          <a:p>
            <a:pPr>
              <a:defRPr sz="2800" b="1">
                <a:solidFill>
                  <a:srgbClr val="FFFFFF"/>
                </a:solidFill>
                <a:latin typeface="Lato"/>
                <a:ea typeface="Lato"/>
                <a:cs typeface="Lato"/>
              </a:defRPr>
            </a:pPr>
            <a:r>
              <a:rPr lang="en-US" sz="2800" b="1" dirty="0">
                <a:solidFill>
                  <a:srgbClr val="FFFFFF"/>
                </a:solidFill>
                <a:latin typeface="Lato"/>
                <a:ea typeface="Lato"/>
                <a:cs typeface="Lato"/>
              </a:rPr>
              <a:t>Giai </a:t>
            </a:r>
            <a:r>
              <a:rPr lang="en-US" dirty="0" err="1"/>
              <a:t>đoạn</a:t>
            </a:r>
            <a:r>
              <a:rPr lang="en-US" dirty="0"/>
              <a:t> 1: Cài </a:t>
            </a:r>
            <a:r>
              <a:rPr lang="en-US" dirty="0" err="1"/>
              <a:t>đặt</a:t>
            </a:r>
            <a:r>
              <a:rPr lang="en-US" dirty="0"/>
              <a:t> </a:t>
            </a:r>
            <a:r>
              <a:rPr lang="en-US" dirty="0" err="1"/>
              <a:t>và</a:t>
            </a:r>
            <a:r>
              <a:rPr lang="en-US" dirty="0"/>
              <a:t> so </a:t>
            </a:r>
            <a:r>
              <a:rPr lang="en-US" dirty="0" err="1"/>
              <a:t>sánh</a:t>
            </a:r>
            <a:r>
              <a:rPr lang="en-US" dirty="0"/>
              <a:t> 3 </a:t>
            </a:r>
            <a:r>
              <a:rPr lang="en-US" dirty="0" err="1"/>
              <a:t>kiến</a:t>
            </a:r>
            <a:r>
              <a:rPr lang="en-US" dirty="0"/>
              <a:t> </a:t>
            </a:r>
            <a:r>
              <a:rPr lang="en-US" dirty="0" err="1"/>
              <a:t>trúc</a:t>
            </a:r>
            <a:endParaRPr dirty="0"/>
          </a:p>
        </p:txBody>
      </p:sp>
      <p:sp>
        <p:nvSpPr>
          <p:cNvPr id="3" name="Content Placeholder 2">
            <a:extLst>
              <a:ext uri="{FF2B5EF4-FFF2-40B4-BE49-F238E27FC236}">
                <a16:creationId xmlns:a16="http://schemas.microsoft.com/office/drawing/2014/main" id="{3573E091-9DCD-4DE7-96D1-A93E44E0F5B9}"/>
              </a:ext>
            </a:extLst>
          </p:cNvPr>
          <p:cNvSpPr>
            <a:spLocks noGrp="1"/>
          </p:cNvSpPr>
          <p:nvPr>
            <p:ph idx="13"/>
          </p:nvPr>
        </p:nvSpPr>
        <p:spPr/>
        <p:txBody>
          <a:bodyPr/>
          <a:lstStyle/>
          <a:p>
            <a:endParaRPr dirty="0"/>
          </a:p>
        </p:txBody>
      </p:sp>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idx="12"/>
          </p:nvPr>
        </p:nvSpPr>
        <p:spPr/>
        <p:txBody>
          <a:bodyPr/>
          <a:lstStyle/>
          <a:p>
            <a:fld id="{202359C0-8A7A-196E-DD58-8E6569619F09}" type="slidenum">
              <a:rPr/>
              <a:t>3</a:t>
            </a:fld>
            <a:endParaRPr/>
          </a:p>
        </p:txBody>
      </p:sp>
      <p:sp>
        <p:nvSpPr>
          <p:cNvPr id="6" name="text-9">
            <a:extLst>
              <a:ext uri="{FF2B5EF4-FFF2-40B4-BE49-F238E27FC236}">
                <a16:creationId xmlns:a16="http://schemas.microsoft.com/office/drawing/2014/main" id="{F95F6277-46F8-4150-84A8-5E73CE93EE77}"/>
              </a:ext>
            </a:extLst>
          </p:cNvPr>
          <p:cNvSpPr>
            <a:spLocks noGrp="1"/>
          </p:cNvSpPr>
          <p:nvPr/>
        </p:nvSpPr>
        <p:spPr>
          <a:xfrm>
            <a:off x="609600" y="1521619"/>
            <a:ext cx="10668000" cy="271463"/>
          </a:xfrm>
          <a:prstGeom prst="rect">
            <a:avLst/>
          </a:prstGeom>
          <a:noFill/>
          <a:ln w="0">
            <a:noFill/>
            <a:prstDash val="solid"/>
          </a:ln>
        </p:spPr>
        <p:txBody>
          <a:bodyPr lIns="0" tIns="0" rIns="0" bIns="0" anchor="t"/>
          <a:lstStyle>
            <a:defPPr>
              <a:defRPr sz="1680" b="1">
                <a:solidFill>
                  <a:srgbClr val="BE1E2D"/>
                </a:solidFill>
                <a:latin typeface="Lato"/>
                <a:ea typeface="Lato"/>
                <a:cs typeface="Lato"/>
              </a:defRPr>
            </a:defPPr>
            <a:lvl1pPr>
              <a:defRPr sz="1680" b="1">
                <a:solidFill>
                  <a:srgbClr val="BE1E2D"/>
                </a:solidFill>
                <a:latin typeface="Lato"/>
                <a:ea typeface="Lato"/>
                <a:cs typeface="Lato"/>
              </a:defRPr>
            </a:lvl1pPr>
            <a:lvl2pPr>
              <a:defRPr sz="1680" b="1">
                <a:solidFill>
                  <a:srgbClr val="BE1E2D"/>
                </a:solidFill>
                <a:latin typeface="Lato"/>
                <a:ea typeface="Lato"/>
                <a:cs typeface="Lato"/>
              </a:defRPr>
            </a:lvl2pPr>
            <a:lvl3pPr>
              <a:defRPr sz="1680" b="1">
                <a:solidFill>
                  <a:srgbClr val="BE1E2D"/>
                </a:solidFill>
                <a:latin typeface="Lato"/>
                <a:ea typeface="Lato"/>
                <a:cs typeface="Lato"/>
              </a:defRPr>
            </a:lvl3pPr>
            <a:lvl4pPr>
              <a:defRPr sz="1680" b="1">
                <a:solidFill>
                  <a:srgbClr val="BE1E2D"/>
                </a:solidFill>
                <a:latin typeface="Lato"/>
                <a:ea typeface="Lato"/>
                <a:cs typeface="Lato"/>
              </a:defRPr>
            </a:lvl4pPr>
            <a:lvl5pPr>
              <a:defRPr sz="1680" b="1">
                <a:solidFill>
                  <a:srgbClr val="BE1E2D"/>
                </a:solidFill>
                <a:latin typeface="Lato"/>
                <a:ea typeface="Lato"/>
                <a:cs typeface="Lato"/>
              </a:defRPr>
            </a:lvl5pPr>
            <a:lvl6pPr>
              <a:defRPr sz="1680" b="1">
                <a:solidFill>
                  <a:srgbClr val="BE1E2D"/>
                </a:solidFill>
                <a:latin typeface="Lato"/>
                <a:ea typeface="Lato"/>
                <a:cs typeface="Lato"/>
              </a:defRPr>
            </a:lvl6pPr>
            <a:lvl7pPr>
              <a:defRPr sz="1680" b="1">
                <a:solidFill>
                  <a:srgbClr val="BE1E2D"/>
                </a:solidFill>
                <a:latin typeface="Lato"/>
                <a:ea typeface="Lato"/>
                <a:cs typeface="Lato"/>
              </a:defRPr>
            </a:lvl7pPr>
            <a:lvl8pPr>
              <a:defRPr sz="1680" b="1">
                <a:solidFill>
                  <a:srgbClr val="BE1E2D"/>
                </a:solidFill>
                <a:latin typeface="Lato"/>
                <a:ea typeface="Lato"/>
                <a:cs typeface="Lato"/>
              </a:defRPr>
            </a:lvl8pPr>
            <a:lvl9pPr>
              <a:defRPr sz="1680" b="1">
                <a:solidFill>
                  <a:srgbClr val="BE1E2D"/>
                </a:solidFill>
                <a:latin typeface="Lato"/>
                <a:ea typeface="Lato"/>
                <a:cs typeface="Lato"/>
              </a:defRPr>
            </a:lvl9pPr>
          </a:lstStyle>
          <a:p>
            <a:pPr>
              <a:defRPr sz="1680" b="1">
                <a:solidFill>
                  <a:srgbClr val="BE1E2D"/>
                </a:solidFill>
                <a:latin typeface="Lato"/>
                <a:ea typeface="Lato"/>
                <a:cs typeface="Lato"/>
              </a:defRPr>
            </a:pPr>
            <a:r>
              <a:rPr sz="1680" b="1">
                <a:solidFill>
                  <a:srgbClr val="BE1E2D"/>
                </a:solidFill>
                <a:latin typeface="Lato"/>
                <a:ea typeface="Lato"/>
                <a:cs typeface="Lato"/>
              </a:rPr>
              <a:t>A  CRNN</a:t>
            </a:r>
          </a:p>
        </p:txBody>
      </p:sp>
      <p:sp>
        <p:nvSpPr>
          <p:cNvPr id="7" name="node-10">
            <a:extLst>
              <a:ext uri="{FF2B5EF4-FFF2-40B4-BE49-F238E27FC236}">
                <a16:creationId xmlns:a16="http://schemas.microsoft.com/office/drawing/2014/main" id="{92FF313B-ECA4-4117-BA9B-5CBFE22125C9}"/>
              </a:ext>
            </a:extLst>
          </p:cNvPr>
          <p:cNvSpPr>
            <a:spLocks noGrp="1"/>
          </p:cNvSpPr>
          <p:nvPr/>
        </p:nvSpPr>
        <p:spPr>
          <a:xfrm>
            <a:off x="609600" y="1843088"/>
            <a:ext cx="1447800" cy="542925"/>
          </a:xfrm>
          <a:prstGeom prst="rect">
            <a:avLst/>
          </a:prstGeom>
          <a:solidFill>
            <a:srgbClr val="E9F0F8"/>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Ảnh dòng</a:t>
            </a:r>
          </a:p>
        </p:txBody>
      </p:sp>
      <p:sp>
        <p:nvSpPr>
          <p:cNvPr id="8" name="node-11">
            <a:extLst>
              <a:ext uri="{FF2B5EF4-FFF2-40B4-BE49-F238E27FC236}">
                <a16:creationId xmlns:a16="http://schemas.microsoft.com/office/drawing/2014/main" id="{8DD40B1C-700B-4AB7-A1F2-D7CA37CD80AC}"/>
              </a:ext>
            </a:extLst>
          </p:cNvPr>
          <p:cNvSpPr>
            <a:spLocks noGrp="1"/>
          </p:cNvSpPr>
          <p:nvPr/>
        </p:nvSpPr>
        <p:spPr>
          <a:xfrm>
            <a:off x="2362200" y="1843088"/>
            <a:ext cx="1752600" cy="542925"/>
          </a:xfrm>
          <a:prstGeom prst="rect">
            <a:avLst/>
          </a:prstGeom>
          <a:solidFill>
            <a:srgbClr val="E9F0F8"/>
          </a:solidFill>
          <a:ln w="12383">
            <a:solidFill>
              <a:srgbClr val="BE1E2D"/>
            </a:solidFill>
            <a:prstDash val="solid"/>
          </a:ln>
        </p:spPr>
        <p:txBody>
          <a:bodyPr lIns="95250" tIns="95250" rIns="95250" bIns="95250" anchor="ctr"/>
          <a:lstStyle>
            <a:defPPr algn="ctr">
              <a:defRPr sz="1380" b="1">
                <a:solidFill>
                  <a:srgbClr val="00376F"/>
                </a:solidFill>
                <a:latin typeface="Lato"/>
                <a:ea typeface="Lato"/>
                <a:cs typeface="Lato"/>
              </a:defRPr>
            </a:defPPr>
            <a:lvl1pPr algn="ctr">
              <a:defRPr sz="1380" b="1">
                <a:solidFill>
                  <a:srgbClr val="00376F"/>
                </a:solidFill>
                <a:latin typeface="Lato"/>
                <a:ea typeface="Lato"/>
                <a:cs typeface="Lato"/>
              </a:defRPr>
            </a:lvl1pPr>
            <a:lvl2pPr algn="ctr">
              <a:defRPr sz="1380" b="1">
                <a:solidFill>
                  <a:srgbClr val="00376F"/>
                </a:solidFill>
                <a:latin typeface="Lato"/>
                <a:ea typeface="Lato"/>
                <a:cs typeface="Lato"/>
              </a:defRPr>
            </a:lvl2pPr>
            <a:lvl3pPr algn="ctr">
              <a:defRPr sz="1380" b="1">
                <a:solidFill>
                  <a:srgbClr val="00376F"/>
                </a:solidFill>
                <a:latin typeface="Lato"/>
                <a:ea typeface="Lato"/>
                <a:cs typeface="Lato"/>
              </a:defRPr>
            </a:lvl3pPr>
            <a:lvl4pPr algn="ctr">
              <a:defRPr sz="1380" b="1">
                <a:solidFill>
                  <a:srgbClr val="00376F"/>
                </a:solidFill>
                <a:latin typeface="Lato"/>
                <a:ea typeface="Lato"/>
                <a:cs typeface="Lato"/>
              </a:defRPr>
            </a:lvl4pPr>
            <a:lvl5pPr algn="ctr">
              <a:defRPr sz="1380" b="1">
                <a:solidFill>
                  <a:srgbClr val="00376F"/>
                </a:solidFill>
                <a:latin typeface="Lato"/>
                <a:ea typeface="Lato"/>
                <a:cs typeface="Lato"/>
              </a:defRPr>
            </a:lvl5pPr>
            <a:lvl6pPr algn="ctr">
              <a:defRPr sz="1380" b="1">
                <a:solidFill>
                  <a:srgbClr val="00376F"/>
                </a:solidFill>
                <a:latin typeface="Lato"/>
                <a:ea typeface="Lato"/>
                <a:cs typeface="Lato"/>
              </a:defRPr>
            </a:lvl6pPr>
            <a:lvl7pPr algn="ctr">
              <a:defRPr sz="1380" b="1">
                <a:solidFill>
                  <a:srgbClr val="00376F"/>
                </a:solidFill>
                <a:latin typeface="Lato"/>
                <a:ea typeface="Lato"/>
                <a:cs typeface="Lato"/>
              </a:defRPr>
            </a:lvl7pPr>
            <a:lvl8pPr algn="ctr">
              <a:defRPr sz="1380" b="1">
                <a:solidFill>
                  <a:srgbClr val="00376F"/>
                </a:solidFill>
                <a:latin typeface="Lato"/>
                <a:ea typeface="Lato"/>
                <a:cs typeface="Lato"/>
              </a:defRPr>
            </a:lvl8pPr>
            <a:lvl9pPr algn="ctr">
              <a:defRPr sz="1380" b="1">
                <a:solidFill>
                  <a:srgbClr val="00376F"/>
                </a:solidFill>
                <a:latin typeface="Lato"/>
                <a:ea typeface="Lato"/>
                <a:cs typeface="Lato"/>
              </a:defRPr>
            </a:lvl9pPr>
          </a:lstStyle>
          <a:p>
            <a:pPr algn="ctr">
              <a:defRPr sz="1380" b="1">
                <a:solidFill>
                  <a:srgbClr val="00376F"/>
                </a:solidFill>
                <a:latin typeface="Lato"/>
                <a:ea typeface="Lato"/>
                <a:cs typeface="Lato"/>
              </a:defRPr>
            </a:pPr>
            <a:r>
              <a:rPr lang="en-US" sz="1380" b="1" dirty="0">
                <a:solidFill>
                  <a:srgbClr val="00376F"/>
                </a:solidFill>
                <a:latin typeface="Lato"/>
                <a:ea typeface="Lato"/>
                <a:cs typeface="Lato"/>
              </a:rPr>
              <a:t>CNN network</a:t>
            </a:r>
            <a:endParaRPr sz="1380" b="1" dirty="0">
              <a:solidFill>
                <a:srgbClr val="00376F"/>
              </a:solidFill>
              <a:latin typeface="Lato"/>
              <a:ea typeface="Lato"/>
              <a:cs typeface="Lato"/>
            </a:endParaRPr>
          </a:p>
        </p:txBody>
      </p:sp>
      <p:sp>
        <p:nvSpPr>
          <p:cNvPr id="9" name="node-12">
            <a:extLst>
              <a:ext uri="{FF2B5EF4-FFF2-40B4-BE49-F238E27FC236}">
                <a16:creationId xmlns:a16="http://schemas.microsoft.com/office/drawing/2014/main" id="{38F887C1-8AC0-486E-ABAB-54AD68F659AC}"/>
              </a:ext>
            </a:extLst>
          </p:cNvPr>
          <p:cNvSpPr>
            <a:spLocks noGrp="1"/>
          </p:cNvSpPr>
          <p:nvPr/>
        </p:nvSpPr>
        <p:spPr>
          <a:xfrm>
            <a:off x="4419600" y="1843088"/>
            <a:ext cx="2286000" cy="542925"/>
          </a:xfrm>
          <a:prstGeom prst="rect">
            <a:avLst/>
          </a:prstGeom>
          <a:solidFill>
            <a:srgbClr val="E9F0F8"/>
          </a:solidFill>
          <a:ln w="12383">
            <a:solidFill>
              <a:srgbClr val="BE1E2D"/>
            </a:solidFill>
            <a:prstDash val="solid"/>
          </a:ln>
        </p:spPr>
        <p:txBody>
          <a:bodyPr lIns="95250" tIns="95250" rIns="95250" bIns="95250" anchor="ctr"/>
          <a:lstStyle>
            <a:defPPr algn="ctr">
              <a:defRPr sz="1440" b="1">
                <a:solidFill>
                  <a:srgbClr val="00376F"/>
                </a:solidFill>
                <a:latin typeface="Lato"/>
                <a:ea typeface="Lato"/>
                <a:cs typeface="Lato"/>
              </a:defRPr>
            </a:defPPr>
            <a:lvl1pPr algn="ctr">
              <a:defRPr sz="1440" b="1">
                <a:solidFill>
                  <a:srgbClr val="00376F"/>
                </a:solidFill>
                <a:latin typeface="Lato"/>
                <a:ea typeface="Lato"/>
                <a:cs typeface="Lato"/>
              </a:defRPr>
            </a:lvl1pPr>
            <a:lvl2pPr algn="ctr">
              <a:defRPr sz="1440" b="1">
                <a:solidFill>
                  <a:srgbClr val="00376F"/>
                </a:solidFill>
                <a:latin typeface="Lato"/>
                <a:ea typeface="Lato"/>
                <a:cs typeface="Lato"/>
              </a:defRPr>
            </a:lvl2pPr>
            <a:lvl3pPr algn="ctr">
              <a:defRPr sz="1440" b="1">
                <a:solidFill>
                  <a:srgbClr val="00376F"/>
                </a:solidFill>
                <a:latin typeface="Lato"/>
                <a:ea typeface="Lato"/>
                <a:cs typeface="Lato"/>
              </a:defRPr>
            </a:lvl3pPr>
            <a:lvl4pPr algn="ctr">
              <a:defRPr sz="1440" b="1">
                <a:solidFill>
                  <a:srgbClr val="00376F"/>
                </a:solidFill>
                <a:latin typeface="Lato"/>
                <a:ea typeface="Lato"/>
                <a:cs typeface="Lato"/>
              </a:defRPr>
            </a:lvl4pPr>
            <a:lvl5pPr algn="ctr">
              <a:defRPr sz="1440" b="1">
                <a:solidFill>
                  <a:srgbClr val="00376F"/>
                </a:solidFill>
                <a:latin typeface="Lato"/>
                <a:ea typeface="Lato"/>
                <a:cs typeface="Lato"/>
              </a:defRPr>
            </a:lvl5pPr>
            <a:lvl6pPr algn="ctr">
              <a:defRPr sz="1440" b="1">
                <a:solidFill>
                  <a:srgbClr val="00376F"/>
                </a:solidFill>
                <a:latin typeface="Lato"/>
                <a:ea typeface="Lato"/>
                <a:cs typeface="Lato"/>
              </a:defRPr>
            </a:lvl6pPr>
            <a:lvl7pPr algn="ctr">
              <a:defRPr sz="1440" b="1">
                <a:solidFill>
                  <a:srgbClr val="00376F"/>
                </a:solidFill>
                <a:latin typeface="Lato"/>
                <a:ea typeface="Lato"/>
                <a:cs typeface="Lato"/>
              </a:defRPr>
            </a:lvl7pPr>
            <a:lvl8pPr algn="ctr">
              <a:defRPr sz="1440" b="1">
                <a:solidFill>
                  <a:srgbClr val="00376F"/>
                </a:solidFill>
                <a:latin typeface="Lato"/>
                <a:ea typeface="Lato"/>
                <a:cs typeface="Lato"/>
              </a:defRPr>
            </a:lvl8pPr>
            <a:lvl9pPr algn="ctr">
              <a:defRPr sz="1440" b="1">
                <a:solidFill>
                  <a:srgbClr val="00376F"/>
                </a:solidFill>
                <a:latin typeface="Lato"/>
                <a:ea typeface="Lato"/>
                <a:cs typeface="Lato"/>
              </a:defRPr>
            </a:lvl9pPr>
          </a:lstStyle>
          <a:p>
            <a:pPr algn="ctr">
              <a:defRPr sz="1440" b="1">
                <a:solidFill>
                  <a:srgbClr val="00376F"/>
                </a:solidFill>
                <a:latin typeface="Lato"/>
                <a:ea typeface="Lato"/>
                <a:cs typeface="Lato"/>
              </a:defRPr>
            </a:pPr>
            <a:r>
              <a:rPr sz="1440" b="1">
                <a:solidFill>
                  <a:srgbClr val="00376F"/>
                </a:solidFill>
                <a:latin typeface="Lato"/>
                <a:ea typeface="Lato"/>
                <a:cs typeface="Lato"/>
              </a:rPr>
              <a:t>BiLSTM</a:t>
            </a:r>
          </a:p>
        </p:txBody>
      </p:sp>
      <p:sp>
        <p:nvSpPr>
          <p:cNvPr id="10" name="node-13">
            <a:extLst>
              <a:ext uri="{FF2B5EF4-FFF2-40B4-BE49-F238E27FC236}">
                <a16:creationId xmlns:a16="http://schemas.microsoft.com/office/drawing/2014/main" id="{5F427C49-9A39-4C4F-B54F-B47E5DCCCFDF}"/>
              </a:ext>
            </a:extLst>
          </p:cNvPr>
          <p:cNvSpPr>
            <a:spLocks noGrp="1"/>
          </p:cNvSpPr>
          <p:nvPr/>
        </p:nvSpPr>
        <p:spPr>
          <a:xfrm>
            <a:off x="7010400" y="1843088"/>
            <a:ext cx="2362200" cy="542925"/>
          </a:xfrm>
          <a:prstGeom prst="rect">
            <a:avLst/>
          </a:prstGeom>
          <a:solidFill>
            <a:srgbClr val="E9F0F8"/>
          </a:solidFill>
          <a:ln w="12383">
            <a:solidFill>
              <a:srgbClr val="BE1E2D"/>
            </a:solidFill>
            <a:prstDash val="solid"/>
          </a:ln>
        </p:spPr>
        <p:txBody>
          <a:bodyPr lIns="95250" tIns="95250" rIns="95250" bIns="95250" anchor="ctr"/>
          <a:lstStyle>
            <a:defPPr algn="ctr">
              <a:defRPr sz="1380" b="1">
                <a:solidFill>
                  <a:srgbClr val="00376F"/>
                </a:solidFill>
                <a:latin typeface="Lato"/>
                <a:ea typeface="Lato"/>
                <a:cs typeface="Lato"/>
              </a:defRPr>
            </a:defPPr>
            <a:lvl1pPr algn="ctr">
              <a:defRPr sz="1380" b="1">
                <a:solidFill>
                  <a:srgbClr val="00376F"/>
                </a:solidFill>
                <a:latin typeface="Lato"/>
                <a:ea typeface="Lato"/>
                <a:cs typeface="Lato"/>
              </a:defRPr>
            </a:lvl1pPr>
            <a:lvl2pPr algn="ctr">
              <a:defRPr sz="1380" b="1">
                <a:solidFill>
                  <a:srgbClr val="00376F"/>
                </a:solidFill>
                <a:latin typeface="Lato"/>
                <a:ea typeface="Lato"/>
                <a:cs typeface="Lato"/>
              </a:defRPr>
            </a:lvl2pPr>
            <a:lvl3pPr algn="ctr">
              <a:defRPr sz="1380" b="1">
                <a:solidFill>
                  <a:srgbClr val="00376F"/>
                </a:solidFill>
                <a:latin typeface="Lato"/>
                <a:ea typeface="Lato"/>
                <a:cs typeface="Lato"/>
              </a:defRPr>
            </a:lvl3pPr>
            <a:lvl4pPr algn="ctr">
              <a:defRPr sz="1380" b="1">
                <a:solidFill>
                  <a:srgbClr val="00376F"/>
                </a:solidFill>
                <a:latin typeface="Lato"/>
                <a:ea typeface="Lato"/>
                <a:cs typeface="Lato"/>
              </a:defRPr>
            </a:lvl4pPr>
            <a:lvl5pPr algn="ctr">
              <a:defRPr sz="1380" b="1">
                <a:solidFill>
                  <a:srgbClr val="00376F"/>
                </a:solidFill>
                <a:latin typeface="Lato"/>
                <a:ea typeface="Lato"/>
                <a:cs typeface="Lato"/>
              </a:defRPr>
            </a:lvl5pPr>
            <a:lvl6pPr algn="ctr">
              <a:defRPr sz="1380" b="1">
                <a:solidFill>
                  <a:srgbClr val="00376F"/>
                </a:solidFill>
                <a:latin typeface="Lato"/>
                <a:ea typeface="Lato"/>
                <a:cs typeface="Lato"/>
              </a:defRPr>
            </a:lvl6pPr>
            <a:lvl7pPr algn="ctr">
              <a:defRPr sz="1380" b="1">
                <a:solidFill>
                  <a:srgbClr val="00376F"/>
                </a:solidFill>
                <a:latin typeface="Lato"/>
                <a:ea typeface="Lato"/>
                <a:cs typeface="Lato"/>
              </a:defRPr>
            </a:lvl7pPr>
            <a:lvl8pPr algn="ctr">
              <a:defRPr sz="1380" b="1">
                <a:solidFill>
                  <a:srgbClr val="00376F"/>
                </a:solidFill>
                <a:latin typeface="Lato"/>
                <a:ea typeface="Lato"/>
                <a:cs typeface="Lato"/>
              </a:defRPr>
            </a:lvl8pPr>
            <a:lvl9pPr algn="ctr">
              <a:defRPr sz="1380" b="1">
                <a:solidFill>
                  <a:srgbClr val="00376F"/>
                </a:solidFill>
                <a:latin typeface="Lato"/>
                <a:ea typeface="Lato"/>
                <a:cs typeface="Lato"/>
              </a:defRPr>
            </a:lvl9pPr>
          </a:lstStyle>
          <a:p>
            <a:pPr algn="ctr">
              <a:defRPr sz="1380" b="1">
                <a:solidFill>
                  <a:srgbClr val="00376F"/>
                </a:solidFill>
                <a:latin typeface="Lato"/>
                <a:ea typeface="Lato"/>
                <a:cs typeface="Lato"/>
              </a:defRPr>
            </a:pPr>
            <a:r>
              <a:rPr sz="1380" b="1">
                <a:solidFill>
                  <a:srgbClr val="00376F"/>
                </a:solidFill>
                <a:latin typeface="Lato"/>
                <a:ea typeface="Lato"/>
                <a:cs typeface="Lato"/>
              </a:rPr>
              <a:t>Linear + CTC</a:t>
            </a:r>
          </a:p>
        </p:txBody>
      </p:sp>
      <p:sp>
        <p:nvSpPr>
          <p:cNvPr id="11" name="node-14">
            <a:extLst>
              <a:ext uri="{FF2B5EF4-FFF2-40B4-BE49-F238E27FC236}">
                <a16:creationId xmlns:a16="http://schemas.microsoft.com/office/drawing/2014/main" id="{DE626886-8851-4AB7-9D6C-419C173405E2}"/>
              </a:ext>
            </a:extLst>
          </p:cNvPr>
          <p:cNvSpPr>
            <a:spLocks noGrp="1"/>
          </p:cNvSpPr>
          <p:nvPr/>
        </p:nvSpPr>
        <p:spPr>
          <a:xfrm>
            <a:off x="9677400" y="1843088"/>
            <a:ext cx="1905000" cy="542925"/>
          </a:xfrm>
          <a:prstGeom prst="rect">
            <a:avLst/>
          </a:prstGeom>
          <a:solidFill>
            <a:srgbClr val="FFFFFF"/>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Văn bản</a:t>
            </a:r>
          </a:p>
        </p:txBody>
      </p:sp>
      <p:sp>
        <p:nvSpPr>
          <p:cNvPr id="16" name="text-15">
            <a:extLst>
              <a:ext uri="{FF2B5EF4-FFF2-40B4-BE49-F238E27FC236}">
                <a16:creationId xmlns:a16="http://schemas.microsoft.com/office/drawing/2014/main" id="{4A666D15-A6B7-46F1-AECD-6C25E570911F}"/>
              </a:ext>
            </a:extLst>
          </p:cNvPr>
          <p:cNvSpPr>
            <a:spLocks noGrp="1"/>
          </p:cNvSpPr>
          <p:nvPr/>
        </p:nvSpPr>
        <p:spPr>
          <a:xfrm>
            <a:off x="609600" y="2564606"/>
            <a:ext cx="10668000" cy="271463"/>
          </a:xfrm>
          <a:prstGeom prst="rect">
            <a:avLst/>
          </a:prstGeom>
          <a:noFill/>
          <a:ln w="0">
            <a:noFill/>
            <a:prstDash val="solid"/>
          </a:ln>
        </p:spPr>
        <p:txBody>
          <a:bodyPr lIns="0" tIns="0" rIns="0" bIns="0" anchor="t"/>
          <a:lstStyle>
            <a:defPPr>
              <a:defRPr sz="1680" b="1">
                <a:solidFill>
                  <a:srgbClr val="BE1E2D"/>
                </a:solidFill>
                <a:latin typeface="Lato"/>
                <a:ea typeface="Lato"/>
                <a:cs typeface="Lato"/>
              </a:defRPr>
            </a:defPPr>
            <a:lvl1pPr>
              <a:defRPr sz="1680" b="1">
                <a:solidFill>
                  <a:srgbClr val="BE1E2D"/>
                </a:solidFill>
                <a:latin typeface="Lato"/>
                <a:ea typeface="Lato"/>
                <a:cs typeface="Lato"/>
              </a:defRPr>
            </a:lvl1pPr>
            <a:lvl2pPr>
              <a:defRPr sz="1680" b="1">
                <a:solidFill>
                  <a:srgbClr val="BE1E2D"/>
                </a:solidFill>
                <a:latin typeface="Lato"/>
                <a:ea typeface="Lato"/>
                <a:cs typeface="Lato"/>
              </a:defRPr>
            </a:lvl2pPr>
            <a:lvl3pPr>
              <a:defRPr sz="1680" b="1">
                <a:solidFill>
                  <a:srgbClr val="BE1E2D"/>
                </a:solidFill>
                <a:latin typeface="Lato"/>
                <a:ea typeface="Lato"/>
                <a:cs typeface="Lato"/>
              </a:defRPr>
            </a:lvl3pPr>
            <a:lvl4pPr>
              <a:defRPr sz="1680" b="1">
                <a:solidFill>
                  <a:srgbClr val="BE1E2D"/>
                </a:solidFill>
                <a:latin typeface="Lato"/>
                <a:ea typeface="Lato"/>
                <a:cs typeface="Lato"/>
              </a:defRPr>
            </a:lvl4pPr>
            <a:lvl5pPr>
              <a:defRPr sz="1680" b="1">
                <a:solidFill>
                  <a:srgbClr val="BE1E2D"/>
                </a:solidFill>
                <a:latin typeface="Lato"/>
                <a:ea typeface="Lato"/>
                <a:cs typeface="Lato"/>
              </a:defRPr>
            </a:lvl5pPr>
            <a:lvl6pPr>
              <a:defRPr sz="1680" b="1">
                <a:solidFill>
                  <a:srgbClr val="BE1E2D"/>
                </a:solidFill>
                <a:latin typeface="Lato"/>
                <a:ea typeface="Lato"/>
                <a:cs typeface="Lato"/>
              </a:defRPr>
            </a:lvl6pPr>
            <a:lvl7pPr>
              <a:defRPr sz="1680" b="1">
                <a:solidFill>
                  <a:srgbClr val="BE1E2D"/>
                </a:solidFill>
                <a:latin typeface="Lato"/>
                <a:ea typeface="Lato"/>
                <a:cs typeface="Lato"/>
              </a:defRPr>
            </a:lvl7pPr>
            <a:lvl8pPr>
              <a:defRPr sz="1680" b="1">
                <a:solidFill>
                  <a:srgbClr val="BE1E2D"/>
                </a:solidFill>
                <a:latin typeface="Lato"/>
                <a:ea typeface="Lato"/>
                <a:cs typeface="Lato"/>
              </a:defRPr>
            </a:lvl8pPr>
            <a:lvl9pPr>
              <a:defRPr sz="1680" b="1">
                <a:solidFill>
                  <a:srgbClr val="BE1E2D"/>
                </a:solidFill>
                <a:latin typeface="Lato"/>
                <a:ea typeface="Lato"/>
                <a:cs typeface="Lato"/>
              </a:defRPr>
            </a:lvl9pPr>
          </a:lstStyle>
          <a:p>
            <a:pPr>
              <a:defRPr sz="1680" b="1">
                <a:solidFill>
                  <a:srgbClr val="BE1E2D"/>
                </a:solidFill>
                <a:latin typeface="Lato"/>
                <a:ea typeface="Lato"/>
                <a:cs typeface="Lato"/>
              </a:defRPr>
            </a:pPr>
            <a:r>
              <a:rPr sz="1680" b="1">
                <a:solidFill>
                  <a:srgbClr val="BE1E2D"/>
                </a:solidFill>
                <a:latin typeface="Lato"/>
                <a:ea typeface="Lato"/>
                <a:cs typeface="Lato"/>
              </a:rPr>
              <a:t>B  Transformer</a:t>
            </a:r>
          </a:p>
        </p:txBody>
      </p:sp>
      <p:sp>
        <p:nvSpPr>
          <p:cNvPr id="17" name="node-16">
            <a:extLst>
              <a:ext uri="{FF2B5EF4-FFF2-40B4-BE49-F238E27FC236}">
                <a16:creationId xmlns:a16="http://schemas.microsoft.com/office/drawing/2014/main" id="{8A37896D-0853-420A-80D4-5924BE6F8185}"/>
              </a:ext>
            </a:extLst>
          </p:cNvPr>
          <p:cNvSpPr>
            <a:spLocks noGrp="1"/>
          </p:cNvSpPr>
          <p:nvPr/>
        </p:nvSpPr>
        <p:spPr>
          <a:xfrm>
            <a:off x="609600" y="2886075"/>
            <a:ext cx="1447800" cy="542925"/>
          </a:xfrm>
          <a:prstGeom prst="rect">
            <a:avLst/>
          </a:prstGeom>
          <a:solidFill>
            <a:srgbClr val="E9F0F8"/>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Ảnh dòng</a:t>
            </a:r>
          </a:p>
        </p:txBody>
      </p:sp>
      <p:sp>
        <p:nvSpPr>
          <p:cNvPr id="18" name="node-17">
            <a:extLst>
              <a:ext uri="{FF2B5EF4-FFF2-40B4-BE49-F238E27FC236}">
                <a16:creationId xmlns:a16="http://schemas.microsoft.com/office/drawing/2014/main" id="{9FB76BA0-44C1-49CB-8B84-4630AB27068C}"/>
              </a:ext>
            </a:extLst>
          </p:cNvPr>
          <p:cNvSpPr>
            <a:spLocks noGrp="1"/>
          </p:cNvSpPr>
          <p:nvPr/>
        </p:nvSpPr>
        <p:spPr>
          <a:xfrm>
            <a:off x="2362200" y="2886075"/>
            <a:ext cx="1752600" cy="542925"/>
          </a:xfrm>
          <a:prstGeom prst="rect">
            <a:avLst/>
          </a:prstGeom>
          <a:solidFill>
            <a:srgbClr val="E9F0F8"/>
          </a:solidFill>
          <a:ln w="12383">
            <a:solidFill>
              <a:srgbClr val="BE1E2D"/>
            </a:solidFill>
            <a:prstDash val="solid"/>
          </a:ln>
        </p:spPr>
        <p:txBody>
          <a:bodyPr lIns="95250" tIns="95250" rIns="95250" bIns="95250" anchor="ctr"/>
          <a:lstStyle>
            <a:defPPr algn="ctr">
              <a:defRPr sz="1380" b="1">
                <a:solidFill>
                  <a:srgbClr val="00376F"/>
                </a:solidFill>
                <a:latin typeface="Lato"/>
                <a:ea typeface="Lato"/>
                <a:cs typeface="Lato"/>
              </a:defRPr>
            </a:defPPr>
            <a:lvl1pPr algn="ctr">
              <a:defRPr sz="1380" b="1">
                <a:solidFill>
                  <a:srgbClr val="00376F"/>
                </a:solidFill>
                <a:latin typeface="Lato"/>
                <a:ea typeface="Lato"/>
                <a:cs typeface="Lato"/>
              </a:defRPr>
            </a:lvl1pPr>
            <a:lvl2pPr algn="ctr">
              <a:defRPr sz="1380" b="1">
                <a:solidFill>
                  <a:srgbClr val="00376F"/>
                </a:solidFill>
                <a:latin typeface="Lato"/>
                <a:ea typeface="Lato"/>
                <a:cs typeface="Lato"/>
              </a:defRPr>
            </a:lvl2pPr>
            <a:lvl3pPr algn="ctr">
              <a:defRPr sz="1380" b="1">
                <a:solidFill>
                  <a:srgbClr val="00376F"/>
                </a:solidFill>
                <a:latin typeface="Lato"/>
                <a:ea typeface="Lato"/>
                <a:cs typeface="Lato"/>
              </a:defRPr>
            </a:lvl3pPr>
            <a:lvl4pPr algn="ctr">
              <a:defRPr sz="1380" b="1">
                <a:solidFill>
                  <a:srgbClr val="00376F"/>
                </a:solidFill>
                <a:latin typeface="Lato"/>
                <a:ea typeface="Lato"/>
                <a:cs typeface="Lato"/>
              </a:defRPr>
            </a:lvl4pPr>
            <a:lvl5pPr algn="ctr">
              <a:defRPr sz="1380" b="1">
                <a:solidFill>
                  <a:srgbClr val="00376F"/>
                </a:solidFill>
                <a:latin typeface="Lato"/>
                <a:ea typeface="Lato"/>
                <a:cs typeface="Lato"/>
              </a:defRPr>
            </a:lvl5pPr>
            <a:lvl6pPr algn="ctr">
              <a:defRPr sz="1380" b="1">
                <a:solidFill>
                  <a:srgbClr val="00376F"/>
                </a:solidFill>
                <a:latin typeface="Lato"/>
                <a:ea typeface="Lato"/>
                <a:cs typeface="Lato"/>
              </a:defRPr>
            </a:lvl6pPr>
            <a:lvl7pPr algn="ctr">
              <a:defRPr sz="1380" b="1">
                <a:solidFill>
                  <a:srgbClr val="00376F"/>
                </a:solidFill>
                <a:latin typeface="Lato"/>
                <a:ea typeface="Lato"/>
                <a:cs typeface="Lato"/>
              </a:defRPr>
            </a:lvl7pPr>
            <a:lvl8pPr algn="ctr">
              <a:defRPr sz="1380" b="1">
                <a:solidFill>
                  <a:srgbClr val="00376F"/>
                </a:solidFill>
                <a:latin typeface="Lato"/>
                <a:ea typeface="Lato"/>
                <a:cs typeface="Lato"/>
              </a:defRPr>
            </a:lvl8pPr>
            <a:lvl9pPr algn="ctr">
              <a:defRPr sz="1380" b="1">
                <a:solidFill>
                  <a:srgbClr val="00376F"/>
                </a:solidFill>
                <a:latin typeface="Lato"/>
                <a:ea typeface="Lato"/>
                <a:cs typeface="Lato"/>
              </a:defRPr>
            </a:lvl9pPr>
          </a:lstStyle>
          <a:p>
            <a:pPr>
              <a:defRPr sz="1380" b="1">
                <a:solidFill>
                  <a:srgbClr val="00376F"/>
                </a:solidFill>
                <a:latin typeface="Lato"/>
                <a:ea typeface="Lato"/>
                <a:cs typeface="Lato"/>
              </a:defRPr>
            </a:pPr>
            <a:r>
              <a:rPr lang="en-US" dirty="0"/>
              <a:t>CNN network</a:t>
            </a:r>
          </a:p>
        </p:txBody>
      </p:sp>
      <p:sp>
        <p:nvSpPr>
          <p:cNvPr id="19" name="node-18">
            <a:extLst>
              <a:ext uri="{FF2B5EF4-FFF2-40B4-BE49-F238E27FC236}">
                <a16:creationId xmlns:a16="http://schemas.microsoft.com/office/drawing/2014/main" id="{59721179-4459-414E-B684-69B314156291}"/>
              </a:ext>
            </a:extLst>
          </p:cNvPr>
          <p:cNvSpPr>
            <a:spLocks noGrp="1"/>
          </p:cNvSpPr>
          <p:nvPr/>
        </p:nvSpPr>
        <p:spPr>
          <a:xfrm>
            <a:off x="4419600" y="2886075"/>
            <a:ext cx="2286000" cy="542925"/>
          </a:xfrm>
          <a:prstGeom prst="rect">
            <a:avLst/>
          </a:prstGeom>
          <a:solidFill>
            <a:srgbClr val="E9F0F8"/>
          </a:solidFill>
          <a:ln w="12383">
            <a:solidFill>
              <a:srgbClr val="BE1E2D"/>
            </a:solidFill>
            <a:prstDash val="solid"/>
          </a:ln>
        </p:spPr>
        <p:txBody>
          <a:bodyPr lIns="95250" tIns="95250" rIns="95250" bIns="95250" anchor="ctr"/>
          <a:lstStyle>
            <a:defPPr algn="ctr">
              <a:defRPr sz="1440" b="1">
                <a:solidFill>
                  <a:srgbClr val="00376F"/>
                </a:solidFill>
                <a:latin typeface="Lato"/>
                <a:ea typeface="Lato"/>
                <a:cs typeface="Lato"/>
              </a:defRPr>
            </a:defPPr>
            <a:lvl1pPr algn="ctr">
              <a:defRPr sz="1440" b="1">
                <a:solidFill>
                  <a:srgbClr val="00376F"/>
                </a:solidFill>
                <a:latin typeface="Lato"/>
                <a:ea typeface="Lato"/>
                <a:cs typeface="Lato"/>
              </a:defRPr>
            </a:lvl1pPr>
            <a:lvl2pPr algn="ctr">
              <a:defRPr sz="1440" b="1">
                <a:solidFill>
                  <a:srgbClr val="00376F"/>
                </a:solidFill>
                <a:latin typeface="Lato"/>
                <a:ea typeface="Lato"/>
                <a:cs typeface="Lato"/>
              </a:defRPr>
            </a:lvl2pPr>
            <a:lvl3pPr algn="ctr">
              <a:defRPr sz="1440" b="1">
                <a:solidFill>
                  <a:srgbClr val="00376F"/>
                </a:solidFill>
                <a:latin typeface="Lato"/>
                <a:ea typeface="Lato"/>
                <a:cs typeface="Lato"/>
              </a:defRPr>
            </a:lvl3pPr>
            <a:lvl4pPr algn="ctr">
              <a:defRPr sz="1440" b="1">
                <a:solidFill>
                  <a:srgbClr val="00376F"/>
                </a:solidFill>
                <a:latin typeface="Lato"/>
                <a:ea typeface="Lato"/>
                <a:cs typeface="Lato"/>
              </a:defRPr>
            </a:lvl4pPr>
            <a:lvl5pPr algn="ctr">
              <a:defRPr sz="1440" b="1">
                <a:solidFill>
                  <a:srgbClr val="00376F"/>
                </a:solidFill>
                <a:latin typeface="Lato"/>
                <a:ea typeface="Lato"/>
                <a:cs typeface="Lato"/>
              </a:defRPr>
            </a:lvl5pPr>
            <a:lvl6pPr algn="ctr">
              <a:defRPr sz="1440" b="1">
                <a:solidFill>
                  <a:srgbClr val="00376F"/>
                </a:solidFill>
                <a:latin typeface="Lato"/>
                <a:ea typeface="Lato"/>
                <a:cs typeface="Lato"/>
              </a:defRPr>
            </a:lvl6pPr>
            <a:lvl7pPr algn="ctr">
              <a:defRPr sz="1440" b="1">
                <a:solidFill>
                  <a:srgbClr val="00376F"/>
                </a:solidFill>
                <a:latin typeface="Lato"/>
                <a:ea typeface="Lato"/>
                <a:cs typeface="Lato"/>
              </a:defRPr>
            </a:lvl7pPr>
            <a:lvl8pPr algn="ctr">
              <a:defRPr sz="1440" b="1">
                <a:solidFill>
                  <a:srgbClr val="00376F"/>
                </a:solidFill>
                <a:latin typeface="Lato"/>
                <a:ea typeface="Lato"/>
                <a:cs typeface="Lato"/>
              </a:defRPr>
            </a:lvl8pPr>
            <a:lvl9pPr algn="ctr">
              <a:defRPr sz="1440" b="1">
                <a:solidFill>
                  <a:srgbClr val="00376F"/>
                </a:solidFill>
                <a:latin typeface="Lato"/>
                <a:ea typeface="Lato"/>
                <a:cs typeface="Lato"/>
              </a:defRPr>
            </a:lvl9pPr>
          </a:lstStyle>
          <a:p>
            <a:pPr algn="ctr">
              <a:defRPr sz="1440" b="1">
                <a:solidFill>
                  <a:srgbClr val="00376F"/>
                </a:solidFill>
                <a:latin typeface="Lato"/>
                <a:ea typeface="Lato"/>
                <a:cs typeface="Lato"/>
              </a:defRPr>
            </a:pPr>
            <a:r>
              <a:rPr sz="1440" b="1">
                <a:solidFill>
                  <a:srgbClr val="00376F"/>
                </a:solidFill>
                <a:latin typeface="Lato"/>
                <a:ea typeface="Lato"/>
                <a:cs typeface="Lato"/>
              </a:rPr>
              <a:t>Transformer</a:t>
            </a:r>
          </a:p>
          <a:p>
            <a:pPr algn="ctr">
              <a:defRPr sz="1440" b="1">
                <a:solidFill>
                  <a:srgbClr val="00376F"/>
                </a:solidFill>
                <a:latin typeface="Lato"/>
                <a:ea typeface="Lato"/>
                <a:cs typeface="Lato"/>
              </a:defRPr>
            </a:pPr>
            <a:r>
              <a:rPr sz="1440" b="1">
                <a:solidFill>
                  <a:srgbClr val="00376F"/>
                </a:solidFill>
                <a:latin typeface="Lato"/>
                <a:ea typeface="Lato"/>
                <a:cs typeface="Lato"/>
              </a:rPr>
              <a:t>Encoder</a:t>
            </a:r>
          </a:p>
        </p:txBody>
      </p:sp>
      <p:sp>
        <p:nvSpPr>
          <p:cNvPr id="20" name="node-19">
            <a:extLst>
              <a:ext uri="{FF2B5EF4-FFF2-40B4-BE49-F238E27FC236}">
                <a16:creationId xmlns:a16="http://schemas.microsoft.com/office/drawing/2014/main" id="{04E33539-89FC-4618-90E6-B5065026A437}"/>
              </a:ext>
            </a:extLst>
          </p:cNvPr>
          <p:cNvSpPr>
            <a:spLocks noGrp="1"/>
          </p:cNvSpPr>
          <p:nvPr/>
        </p:nvSpPr>
        <p:spPr>
          <a:xfrm>
            <a:off x="7010400" y="2886075"/>
            <a:ext cx="2362200" cy="542925"/>
          </a:xfrm>
          <a:prstGeom prst="rect">
            <a:avLst/>
          </a:prstGeom>
          <a:solidFill>
            <a:srgbClr val="E9F0F8"/>
          </a:solidFill>
          <a:ln w="12383">
            <a:solidFill>
              <a:srgbClr val="BE1E2D"/>
            </a:solidFill>
            <a:prstDash val="solid"/>
          </a:ln>
        </p:spPr>
        <p:txBody>
          <a:bodyPr lIns="95250" tIns="95250" rIns="95250" bIns="95250" anchor="ctr"/>
          <a:lstStyle>
            <a:defPPr algn="ctr">
              <a:defRPr sz="1380" b="1">
                <a:solidFill>
                  <a:srgbClr val="00376F"/>
                </a:solidFill>
                <a:latin typeface="Lato"/>
                <a:ea typeface="Lato"/>
                <a:cs typeface="Lato"/>
              </a:defRPr>
            </a:defPPr>
            <a:lvl1pPr algn="ctr">
              <a:defRPr sz="1380" b="1">
                <a:solidFill>
                  <a:srgbClr val="00376F"/>
                </a:solidFill>
                <a:latin typeface="Lato"/>
                <a:ea typeface="Lato"/>
                <a:cs typeface="Lato"/>
              </a:defRPr>
            </a:lvl1pPr>
            <a:lvl2pPr algn="ctr">
              <a:defRPr sz="1380" b="1">
                <a:solidFill>
                  <a:srgbClr val="00376F"/>
                </a:solidFill>
                <a:latin typeface="Lato"/>
                <a:ea typeface="Lato"/>
                <a:cs typeface="Lato"/>
              </a:defRPr>
            </a:lvl2pPr>
            <a:lvl3pPr algn="ctr">
              <a:defRPr sz="1380" b="1">
                <a:solidFill>
                  <a:srgbClr val="00376F"/>
                </a:solidFill>
                <a:latin typeface="Lato"/>
                <a:ea typeface="Lato"/>
                <a:cs typeface="Lato"/>
              </a:defRPr>
            </a:lvl3pPr>
            <a:lvl4pPr algn="ctr">
              <a:defRPr sz="1380" b="1">
                <a:solidFill>
                  <a:srgbClr val="00376F"/>
                </a:solidFill>
                <a:latin typeface="Lato"/>
                <a:ea typeface="Lato"/>
                <a:cs typeface="Lato"/>
              </a:defRPr>
            </a:lvl4pPr>
            <a:lvl5pPr algn="ctr">
              <a:defRPr sz="1380" b="1">
                <a:solidFill>
                  <a:srgbClr val="00376F"/>
                </a:solidFill>
                <a:latin typeface="Lato"/>
                <a:ea typeface="Lato"/>
                <a:cs typeface="Lato"/>
              </a:defRPr>
            </a:lvl5pPr>
            <a:lvl6pPr algn="ctr">
              <a:defRPr sz="1380" b="1">
                <a:solidFill>
                  <a:srgbClr val="00376F"/>
                </a:solidFill>
                <a:latin typeface="Lato"/>
                <a:ea typeface="Lato"/>
                <a:cs typeface="Lato"/>
              </a:defRPr>
            </a:lvl6pPr>
            <a:lvl7pPr algn="ctr">
              <a:defRPr sz="1380" b="1">
                <a:solidFill>
                  <a:srgbClr val="00376F"/>
                </a:solidFill>
                <a:latin typeface="Lato"/>
                <a:ea typeface="Lato"/>
                <a:cs typeface="Lato"/>
              </a:defRPr>
            </a:lvl7pPr>
            <a:lvl8pPr algn="ctr">
              <a:defRPr sz="1380" b="1">
                <a:solidFill>
                  <a:srgbClr val="00376F"/>
                </a:solidFill>
                <a:latin typeface="Lato"/>
                <a:ea typeface="Lato"/>
                <a:cs typeface="Lato"/>
              </a:defRPr>
            </a:lvl8pPr>
            <a:lvl9pPr algn="ctr">
              <a:defRPr sz="1380" b="1">
                <a:solidFill>
                  <a:srgbClr val="00376F"/>
                </a:solidFill>
                <a:latin typeface="Lato"/>
                <a:ea typeface="Lato"/>
                <a:cs typeface="Lato"/>
              </a:defRPr>
            </a:lvl9pPr>
          </a:lstStyle>
          <a:p>
            <a:pPr algn="ctr">
              <a:defRPr sz="1380" b="1">
                <a:solidFill>
                  <a:srgbClr val="00376F"/>
                </a:solidFill>
                <a:latin typeface="Lato"/>
                <a:ea typeface="Lato"/>
                <a:cs typeface="Lato"/>
              </a:defRPr>
            </a:pPr>
            <a:r>
              <a:rPr sz="1380" b="1">
                <a:solidFill>
                  <a:srgbClr val="00376F"/>
                </a:solidFill>
                <a:latin typeface="Lato"/>
                <a:ea typeface="Lato"/>
                <a:cs typeface="Lato"/>
              </a:rPr>
              <a:t>Autoregressive</a:t>
            </a:r>
          </a:p>
          <a:p>
            <a:pPr algn="ctr">
              <a:defRPr sz="1380" b="1">
                <a:solidFill>
                  <a:srgbClr val="00376F"/>
                </a:solidFill>
                <a:latin typeface="Lato"/>
                <a:ea typeface="Lato"/>
                <a:cs typeface="Lato"/>
              </a:defRPr>
            </a:pPr>
            <a:r>
              <a:rPr sz="1380" b="1">
                <a:solidFill>
                  <a:srgbClr val="00376F"/>
                </a:solidFill>
                <a:latin typeface="Lato"/>
                <a:ea typeface="Lato"/>
                <a:cs typeface="Lato"/>
              </a:rPr>
              <a:t>Decoder + Linear</a:t>
            </a:r>
          </a:p>
        </p:txBody>
      </p:sp>
      <p:sp>
        <p:nvSpPr>
          <p:cNvPr id="21" name="node-20">
            <a:extLst>
              <a:ext uri="{FF2B5EF4-FFF2-40B4-BE49-F238E27FC236}">
                <a16:creationId xmlns:a16="http://schemas.microsoft.com/office/drawing/2014/main" id="{805515F6-EF19-4A50-8ABB-55EB109DDE58}"/>
              </a:ext>
            </a:extLst>
          </p:cNvPr>
          <p:cNvSpPr>
            <a:spLocks noGrp="1"/>
          </p:cNvSpPr>
          <p:nvPr/>
        </p:nvSpPr>
        <p:spPr>
          <a:xfrm>
            <a:off x="9677400" y="2886075"/>
            <a:ext cx="1905000" cy="542925"/>
          </a:xfrm>
          <a:prstGeom prst="rect">
            <a:avLst/>
          </a:prstGeom>
          <a:solidFill>
            <a:srgbClr val="FFFFFF"/>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Văn bản</a:t>
            </a:r>
          </a:p>
        </p:txBody>
      </p:sp>
      <p:sp>
        <p:nvSpPr>
          <p:cNvPr id="26" name="text-21">
            <a:extLst>
              <a:ext uri="{FF2B5EF4-FFF2-40B4-BE49-F238E27FC236}">
                <a16:creationId xmlns:a16="http://schemas.microsoft.com/office/drawing/2014/main" id="{797130E6-03DB-426B-93A3-CF8331262C57}"/>
              </a:ext>
            </a:extLst>
          </p:cNvPr>
          <p:cNvSpPr>
            <a:spLocks noGrp="1"/>
          </p:cNvSpPr>
          <p:nvPr/>
        </p:nvSpPr>
        <p:spPr>
          <a:xfrm>
            <a:off x="609600" y="3607594"/>
            <a:ext cx="10668000" cy="271463"/>
          </a:xfrm>
          <a:prstGeom prst="rect">
            <a:avLst/>
          </a:prstGeom>
          <a:noFill/>
          <a:ln w="0">
            <a:noFill/>
            <a:prstDash val="solid"/>
          </a:ln>
        </p:spPr>
        <p:txBody>
          <a:bodyPr lIns="0" tIns="0" rIns="0" bIns="0" anchor="t"/>
          <a:lstStyle>
            <a:defPPr>
              <a:defRPr sz="1680" b="1">
                <a:solidFill>
                  <a:srgbClr val="BE1E2D"/>
                </a:solidFill>
                <a:latin typeface="Lato"/>
                <a:ea typeface="Lato"/>
                <a:cs typeface="Lato"/>
              </a:defRPr>
            </a:defPPr>
            <a:lvl1pPr>
              <a:defRPr sz="1680" b="1">
                <a:solidFill>
                  <a:srgbClr val="BE1E2D"/>
                </a:solidFill>
                <a:latin typeface="Lato"/>
                <a:ea typeface="Lato"/>
                <a:cs typeface="Lato"/>
              </a:defRPr>
            </a:lvl1pPr>
            <a:lvl2pPr>
              <a:defRPr sz="1680" b="1">
                <a:solidFill>
                  <a:srgbClr val="BE1E2D"/>
                </a:solidFill>
                <a:latin typeface="Lato"/>
                <a:ea typeface="Lato"/>
                <a:cs typeface="Lato"/>
              </a:defRPr>
            </a:lvl2pPr>
            <a:lvl3pPr>
              <a:defRPr sz="1680" b="1">
                <a:solidFill>
                  <a:srgbClr val="BE1E2D"/>
                </a:solidFill>
                <a:latin typeface="Lato"/>
                <a:ea typeface="Lato"/>
                <a:cs typeface="Lato"/>
              </a:defRPr>
            </a:lvl3pPr>
            <a:lvl4pPr>
              <a:defRPr sz="1680" b="1">
                <a:solidFill>
                  <a:srgbClr val="BE1E2D"/>
                </a:solidFill>
                <a:latin typeface="Lato"/>
                <a:ea typeface="Lato"/>
                <a:cs typeface="Lato"/>
              </a:defRPr>
            </a:lvl4pPr>
            <a:lvl5pPr>
              <a:defRPr sz="1680" b="1">
                <a:solidFill>
                  <a:srgbClr val="BE1E2D"/>
                </a:solidFill>
                <a:latin typeface="Lato"/>
                <a:ea typeface="Lato"/>
                <a:cs typeface="Lato"/>
              </a:defRPr>
            </a:lvl5pPr>
            <a:lvl6pPr>
              <a:defRPr sz="1680" b="1">
                <a:solidFill>
                  <a:srgbClr val="BE1E2D"/>
                </a:solidFill>
                <a:latin typeface="Lato"/>
                <a:ea typeface="Lato"/>
                <a:cs typeface="Lato"/>
              </a:defRPr>
            </a:lvl6pPr>
            <a:lvl7pPr>
              <a:defRPr sz="1680" b="1">
                <a:solidFill>
                  <a:srgbClr val="BE1E2D"/>
                </a:solidFill>
                <a:latin typeface="Lato"/>
                <a:ea typeface="Lato"/>
                <a:cs typeface="Lato"/>
              </a:defRPr>
            </a:lvl7pPr>
            <a:lvl8pPr>
              <a:defRPr sz="1680" b="1">
                <a:solidFill>
                  <a:srgbClr val="BE1E2D"/>
                </a:solidFill>
                <a:latin typeface="Lato"/>
                <a:ea typeface="Lato"/>
                <a:cs typeface="Lato"/>
              </a:defRPr>
            </a:lvl8pPr>
            <a:lvl9pPr>
              <a:defRPr sz="1680" b="1">
                <a:solidFill>
                  <a:srgbClr val="BE1E2D"/>
                </a:solidFill>
                <a:latin typeface="Lato"/>
                <a:ea typeface="Lato"/>
                <a:cs typeface="Lato"/>
              </a:defRPr>
            </a:lvl9pPr>
          </a:lstStyle>
          <a:p>
            <a:pPr>
              <a:defRPr sz="1680" b="1">
                <a:solidFill>
                  <a:srgbClr val="BE1E2D"/>
                </a:solidFill>
                <a:latin typeface="Lato"/>
                <a:ea typeface="Lato"/>
                <a:cs typeface="Lato"/>
              </a:defRPr>
            </a:pPr>
            <a:r>
              <a:rPr sz="1680" b="1">
                <a:solidFill>
                  <a:srgbClr val="BE1E2D"/>
                </a:solidFill>
                <a:latin typeface="Lato"/>
                <a:ea typeface="Lato"/>
                <a:cs typeface="Lato"/>
              </a:rPr>
              <a:t>C  Transformer + MoE</a:t>
            </a:r>
          </a:p>
        </p:txBody>
      </p:sp>
      <p:sp>
        <p:nvSpPr>
          <p:cNvPr id="27" name="node-22">
            <a:extLst>
              <a:ext uri="{FF2B5EF4-FFF2-40B4-BE49-F238E27FC236}">
                <a16:creationId xmlns:a16="http://schemas.microsoft.com/office/drawing/2014/main" id="{9F8A2A9A-6F03-4DBE-8A0B-D090706C81F0}"/>
              </a:ext>
            </a:extLst>
          </p:cNvPr>
          <p:cNvSpPr>
            <a:spLocks noGrp="1"/>
          </p:cNvSpPr>
          <p:nvPr/>
        </p:nvSpPr>
        <p:spPr>
          <a:xfrm>
            <a:off x="609600" y="3929063"/>
            <a:ext cx="1447800" cy="542925"/>
          </a:xfrm>
          <a:prstGeom prst="rect">
            <a:avLst/>
          </a:prstGeom>
          <a:solidFill>
            <a:srgbClr val="E9F0F8"/>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Ảnh dòng</a:t>
            </a:r>
          </a:p>
        </p:txBody>
      </p:sp>
      <p:sp>
        <p:nvSpPr>
          <p:cNvPr id="28" name="node-23">
            <a:extLst>
              <a:ext uri="{FF2B5EF4-FFF2-40B4-BE49-F238E27FC236}">
                <a16:creationId xmlns:a16="http://schemas.microsoft.com/office/drawing/2014/main" id="{9D017B3D-89F9-4FD5-AE2B-8BC16840FAD1}"/>
              </a:ext>
            </a:extLst>
          </p:cNvPr>
          <p:cNvSpPr>
            <a:spLocks noGrp="1"/>
          </p:cNvSpPr>
          <p:nvPr/>
        </p:nvSpPr>
        <p:spPr>
          <a:xfrm>
            <a:off x="2362200" y="3929063"/>
            <a:ext cx="1752600" cy="542925"/>
          </a:xfrm>
          <a:prstGeom prst="rect">
            <a:avLst/>
          </a:prstGeom>
          <a:solidFill>
            <a:srgbClr val="E9F0F8"/>
          </a:solidFill>
          <a:ln w="12383">
            <a:solidFill>
              <a:srgbClr val="BE1E2D"/>
            </a:solidFill>
            <a:prstDash val="solid"/>
          </a:ln>
        </p:spPr>
        <p:txBody>
          <a:bodyPr lIns="95250" tIns="95250" rIns="95250" bIns="95250" anchor="ctr"/>
          <a:lstStyle>
            <a:defPPr algn="ctr">
              <a:defRPr sz="1380" b="1">
                <a:solidFill>
                  <a:srgbClr val="00376F"/>
                </a:solidFill>
                <a:latin typeface="Lato"/>
                <a:ea typeface="Lato"/>
                <a:cs typeface="Lato"/>
              </a:defRPr>
            </a:defPPr>
            <a:lvl1pPr algn="ctr">
              <a:defRPr sz="1380" b="1">
                <a:solidFill>
                  <a:srgbClr val="00376F"/>
                </a:solidFill>
                <a:latin typeface="Lato"/>
                <a:ea typeface="Lato"/>
                <a:cs typeface="Lato"/>
              </a:defRPr>
            </a:lvl1pPr>
            <a:lvl2pPr algn="ctr">
              <a:defRPr sz="1380" b="1">
                <a:solidFill>
                  <a:srgbClr val="00376F"/>
                </a:solidFill>
                <a:latin typeface="Lato"/>
                <a:ea typeface="Lato"/>
                <a:cs typeface="Lato"/>
              </a:defRPr>
            </a:lvl2pPr>
            <a:lvl3pPr algn="ctr">
              <a:defRPr sz="1380" b="1">
                <a:solidFill>
                  <a:srgbClr val="00376F"/>
                </a:solidFill>
                <a:latin typeface="Lato"/>
                <a:ea typeface="Lato"/>
                <a:cs typeface="Lato"/>
              </a:defRPr>
            </a:lvl3pPr>
            <a:lvl4pPr algn="ctr">
              <a:defRPr sz="1380" b="1">
                <a:solidFill>
                  <a:srgbClr val="00376F"/>
                </a:solidFill>
                <a:latin typeface="Lato"/>
                <a:ea typeface="Lato"/>
                <a:cs typeface="Lato"/>
              </a:defRPr>
            </a:lvl4pPr>
            <a:lvl5pPr algn="ctr">
              <a:defRPr sz="1380" b="1">
                <a:solidFill>
                  <a:srgbClr val="00376F"/>
                </a:solidFill>
                <a:latin typeface="Lato"/>
                <a:ea typeface="Lato"/>
                <a:cs typeface="Lato"/>
              </a:defRPr>
            </a:lvl5pPr>
            <a:lvl6pPr algn="ctr">
              <a:defRPr sz="1380" b="1">
                <a:solidFill>
                  <a:srgbClr val="00376F"/>
                </a:solidFill>
                <a:latin typeface="Lato"/>
                <a:ea typeface="Lato"/>
                <a:cs typeface="Lato"/>
              </a:defRPr>
            </a:lvl6pPr>
            <a:lvl7pPr algn="ctr">
              <a:defRPr sz="1380" b="1">
                <a:solidFill>
                  <a:srgbClr val="00376F"/>
                </a:solidFill>
                <a:latin typeface="Lato"/>
                <a:ea typeface="Lato"/>
                <a:cs typeface="Lato"/>
              </a:defRPr>
            </a:lvl7pPr>
            <a:lvl8pPr algn="ctr">
              <a:defRPr sz="1380" b="1">
                <a:solidFill>
                  <a:srgbClr val="00376F"/>
                </a:solidFill>
                <a:latin typeface="Lato"/>
                <a:ea typeface="Lato"/>
                <a:cs typeface="Lato"/>
              </a:defRPr>
            </a:lvl8pPr>
            <a:lvl9pPr algn="ctr">
              <a:defRPr sz="1380" b="1">
                <a:solidFill>
                  <a:srgbClr val="00376F"/>
                </a:solidFill>
                <a:latin typeface="Lato"/>
                <a:ea typeface="Lato"/>
                <a:cs typeface="Lato"/>
              </a:defRPr>
            </a:lvl9pPr>
          </a:lstStyle>
          <a:p>
            <a:pPr>
              <a:defRPr sz="1380" b="1">
                <a:solidFill>
                  <a:srgbClr val="00376F"/>
                </a:solidFill>
                <a:latin typeface="Lato"/>
                <a:ea typeface="Lato"/>
                <a:cs typeface="Lato"/>
              </a:defRPr>
            </a:pPr>
            <a:r>
              <a:rPr lang="en-US" dirty="0"/>
              <a:t>CNN network</a:t>
            </a:r>
          </a:p>
        </p:txBody>
      </p:sp>
      <p:sp>
        <p:nvSpPr>
          <p:cNvPr id="29" name="node-24">
            <a:extLst>
              <a:ext uri="{FF2B5EF4-FFF2-40B4-BE49-F238E27FC236}">
                <a16:creationId xmlns:a16="http://schemas.microsoft.com/office/drawing/2014/main" id="{7BE212E1-33F1-4CE6-9A33-E52AB00609E8}"/>
              </a:ext>
            </a:extLst>
          </p:cNvPr>
          <p:cNvSpPr>
            <a:spLocks noGrp="1"/>
          </p:cNvSpPr>
          <p:nvPr/>
        </p:nvSpPr>
        <p:spPr>
          <a:xfrm>
            <a:off x="4419600" y="3929063"/>
            <a:ext cx="2286000" cy="542925"/>
          </a:xfrm>
          <a:prstGeom prst="rect">
            <a:avLst/>
          </a:prstGeom>
          <a:solidFill>
            <a:srgbClr val="F8E7EA"/>
          </a:solidFill>
          <a:ln w="12383">
            <a:solidFill>
              <a:srgbClr val="BE1E2D"/>
            </a:solidFill>
            <a:prstDash val="solid"/>
          </a:ln>
        </p:spPr>
        <p:txBody>
          <a:bodyPr lIns="95250" tIns="95250" rIns="95250" bIns="95250" anchor="ctr"/>
          <a:lstStyle>
            <a:defPPr algn="ctr">
              <a:defRPr sz="1440" b="1">
                <a:solidFill>
                  <a:srgbClr val="00376F"/>
                </a:solidFill>
                <a:latin typeface="Lato"/>
                <a:ea typeface="Lato"/>
                <a:cs typeface="Lato"/>
              </a:defRPr>
            </a:defPPr>
            <a:lvl1pPr algn="ctr">
              <a:defRPr sz="1440" b="1">
                <a:solidFill>
                  <a:srgbClr val="00376F"/>
                </a:solidFill>
                <a:latin typeface="Lato"/>
                <a:ea typeface="Lato"/>
                <a:cs typeface="Lato"/>
              </a:defRPr>
            </a:lvl1pPr>
            <a:lvl2pPr algn="ctr">
              <a:defRPr sz="1440" b="1">
                <a:solidFill>
                  <a:srgbClr val="00376F"/>
                </a:solidFill>
                <a:latin typeface="Lato"/>
                <a:ea typeface="Lato"/>
                <a:cs typeface="Lato"/>
              </a:defRPr>
            </a:lvl2pPr>
            <a:lvl3pPr algn="ctr">
              <a:defRPr sz="1440" b="1">
                <a:solidFill>
                  <a:srgbClr val="00376F"/>
                </a:solidFill>
                <a:latin typeface="Lato"/>
                <a:ea typeface="Lato"/>
                <a:cs typeface="Lato"/>
              </a:defRPr>
            </a:lvl3pPr>
            <a:lvl4pPr algn="ctr">
              <a:defRPr sz="1440" b="1">
                <a:solidFill>
                  <a:srgbClr val="00376F"/>
                </a:solidFill>
                <a:latin typeface="Lato"/>
                <a:ea typeface="Lato"/>
                <a:cs typeface="Lato"/>
              </a:defRPr>
            </a:lvl4pPr>
            <a:lvl5pPr algn="ctr">
              <a:defRPr sz="1440" b="1">
                <a:solidFill>
                  <a:srgbClr val="00376F"/>
                </a:solidFill>
                <a:latin typeface="Lato"/>
                <a:ea typeface="Lato"/>
                <a:cs typeface="Lato"/>
              </a:defRPr>
            </a:lvl5pPr>
            <a:lvl6pPr algn="ctr">
              <a:defRPr sz="1440" b="1">
                <a:solidFill>
                  <a:srgbClr val="00376F"/>
                </a:solidFill>
                <a:latin typeface="Lato"/>
                <a:ea typeface="Lato"/>
                <a:cs typeface="Lato"/>
              </a:defRPr>
            </a:lvl6pPr>
            <a:lvl7pPr algn="ctr">
              <a:defRPr sz="1440" b="1">
                <a:solidFill>
                  <a:srgbClr val="00376F"/>
                </a:solidFill>
                <a:latin typeface="Lato"/>
                <a:ea typeface="Lato"/>
                <a:cs typeface="Lato"/>
              </a:defRPr>
            </a:lvl7pPr>
            <a:lvl8pPr algn="ctr">
              <a:defRPr sz="1440" b="1">
                <a:solidFill>
                  <a:srgbClr val="00376F"/>
                </a:solidFill>
                <a:latin typeface="Lato"/>
                <a:ea typeface="Lato"/>
                <a:cs typeface="Lato"/>
              </a:defRPr>
            </a:lvl8pPr>
            <a:lvl9pPr algn="ctr">
              <a:defRPr sz="1440" b="1">
                <a:solidFill>
                  <a:srgbClr val="00376F"/>
                </a:solidFill>
                <a:latin typeface="Lato"/>
                <a:ea typeface="Lato"/>
                <a:cs typeface="Lato"/>
              </a:defRPr>
            </a:lvl9pPr>
          </a:lstStyle>
          <a:p>
            <a:pPr algn="ctr">
              <a:defRPr sz="1440" b="1">
                <a:solidFill>
                  <a:srgbClr val="00376F"/>
                </a:solidFill>
                <a:latin typeface="Lato"/>
                <a:ea typeface="Lato"/>
                <a:cs typeface="Lato"/>
              </a:defRPr>
            </a:pPr>
            <a:r>
              <a:rPr lang="en-US" sz="1440" b="1" dirty="0">
                <a:solidFill>
                  <a:srgbClr val="00376F"/>
                </a:solidFill>
                <a:latin typeface="Lato"/>
                <a:ea typeface="Lato"/>
                <a:cs typeface="Lato"/>
              </a:rPr>
              <a:t>Transformer </a:t>
            </a:r>
            <a:r>
              <a:rPr sz="1440" b="1" dirty="0">
                <a:solidFill>
                  <a:srgbClr val="00376F"/>
                </a:solidFill>
                <a:latin typeface="Lato"/>
                <a:ea typeface="Lato"/>
                <a:cs typeface="Lato"/>
              </a:rPr>
              <a:t>Encoder</a:t>
            </a:r>
          </a:p>
          <a:p>
            <a:pPr algn="ctr">
              <a:defRPr sz="1440" b="1">
                <a:solidFill>
                  <a:srgbClr val="00376F"/>
                </a:solidFill>
                <a:latin typeface="Lato"/>
                <a:ea typeface="Lato"/>
                <a:cs typeface="Lato"/>
              </a:defRPr>
            </a:pPr>
            <a:r>
              <a:rPr lang="en-US" sz="1440" b="1" dirty="0">
                <a:solidFill>
                  <a:srgbClr val="00376F"/>
                </a:solidFill>
                <a:latin typeface="Lato"/>
                <a:ea typeface="Lato"/>
                <a:cs typeface="Lato"/>
              </a:rPr>
              <a:t>(</a:t>
            </a:r>
            <a:r>
              <a:rPr sz="1440" b="1" dirty="0">
                <a:solidFill>
                  <a:srgbClr val="00376F"/>
                </a:solidFill>
                <a:latin typeface="Lato"/>
                <a:ea typeface="Lato"/>
                <a:cs typeface="Lato"/>
              </a:rPr>
              <a:t>FFN → </a:t>
            </a:r>
            <a:r>
              <a:rPr sz="1440" b="1" dirty="0" err="1">
                <a:solidFill>
                  <a:srgbClr val="00376F"/>
                </a:solidFill>
                <a:latin typeface="Lato"/>
                <a:ea typeface="Lato"/>
                <a:cs typeface="Lato"/>
              </a:rPr>
              <a:t>MoE</a:t>
            </a:r>
            <a:r>
              <a:rPr lang="en-US" sz="1440" b="1" dirty="0">
                <a:solidFill>
                  <a:srgbClr val="00376F"/>
                </a:solidFill>
                <a:latin typeface="Lato"/>
                <a:ea typeface="Lato"/>
                <a:cs typeface="Lato"/>
              </a:rPr>
              <a:t>)</a:t>
            </a:r>
            <a:endParaRPr sz="1440" b="1" dirty="0">
              <a:solidFill>
                <a:srgbClr val="00376F"/>
              </a:solidFill>
              <a:latin typeface="Lato"/>
              <a:ea typeface="Lato"/>
              <a:cs typeface="Lato"/>
            </a:endParaRPr>
          </a:p>
        </p:txBody>
      </p:sp>
      <p:sp>
        <p:nvSpPr>
          <p:cNvPr id="31" name="node-26">
            <a:extLst>
              <a:ext uri="{FF2B5EF4-FFF2-40B4-BE49-F238E27FC236}">
                <a16:creationId xmlns:a16="http://schemas.microsoft.com/office/drawing/2014/main" id="{392D8348-E26E-471A-86E3-F72694B213A7}"/>
              </a:ext>
            </a:extLst>
          </p:cNvPr>
          <p:cNvSpPr>
            <a:spLocks noGrp="1"/>
          </p:cNvSpPr>
          <p:nvPr/>
        </p:nvSpPr>
        <p:spPr>
          <a:xfrm>
            <a:off x="9677400" y="3929063"/>
            <a:ext cx="1905000" cy="542925"/>
          </a:xfrm>
          <a:prstGeom prst="rect">
            <a:avLst/>
          </a:prstGeom>
          <a:solidFill>
            <a:srgbClr val="FFFFFF"/>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Văn bản</a:t>
            </a:r>
          </a:p>
        </p:txBody>
      </p:sp>
      <p:sp>
        <p:nvSpPr>
          <p:cNvPr id="36" name="text-27">
            <a:extLst>
              <a:ext uri="{FF2B5EF4-FFF2-40B4-BE49-F238E27FC236}">
                <a16:creationId xmlns:a16="http://schemas.microsoft.com/office/drawing/2014/main" id="{F53DF61F-E9F4-4E06-9671-D90907BE9555}"/>
              </a:ext>
            </a:extLst>
          </p:cNvPr>
          <p:cNvSpPr>
            <a:spLocks noGrp="1"/>
          </p:cNvSpPr>
          <p:nvPr/>
        </p:nvSpPr>
        <p:spPr>
          <a:xfrm>
            <a:off x="609600" y="4836319"/>
            <a:ext cx="10972800" cy="307181"/>
          </a:xfrm>
          <a:prstGeom prst="rect">
            <a:avLst/>
          </a:prstGeom>
          <a:noFill/>
          <a:ln w="0">
            <a:noFill/>
            <a:prstDash val="solid"/>
          </a:ln>
        </p:spPr>
        <p:txBody>
          <a:bodyPr lIns="0" tIns="0" rIns="0" bIns="0" anchor="t"/>
          <a:lstStyle>
            <a:defPPr>
              <a:defRPr sz="1620" b="1">
                <a:solidFill>
                  <a:srgbClr val="00376F"/>
                </a:solidFill>
                <a:latin typeface="Lato"/>
                <a:ea typeface="Lato"/>
                <a:cs typeface="Lato"/>
              </a:defRPr>
            </a:defPPr>
            <a:lvl1pPr>
              <a:defRPr sz="1620" b="1">
                <a:solidFill>
                  <a:srgbClr val="00376F"/>
                </a:solidFill>
                <a:latin typeface="Lato"/>
                <a:ea typeface="Lato"/>
                <a:cs typeface="Lato"/>
              </a:defRPr>
            </a:lvl1pPr>
            <a:lvl2pPr>
              <a:defRPr sz="1620" b="1">
                <a:solidFill>
                  <a:srgbClr val="00376F"/>
                </a:solidFill>
                <a:latin typeface="Lato"/>
                <a:ea typeface="Lato"/>
                <a:cs typeface="Lato"/>
              </a:defRPr>
            </a:lvl2pPr>
            <a:lvl3pPr>
              <a:defRPr sz="1620" b="1">
                <a:solidFill>
                  <a:srgbClr val="00376F"/>
                </a:solidFill>
                <a:latin typeface="Lato"/>
                <a:ea typeface="Lato"/>
                <a:cs typeface="Lato"/>
              </a:defRPr>
            </a:lvl3pPr>
            <a:lvl4pPr>
              <a:defRPr sz="1620" b="1">
                <a:solidFill>
                  <a:srgbClr val="00376F"/>
                </a:solidFill>
                <a:latin typeface="Lato"/>
                <a:ea typeface="Lato"/>
                <a:cs typeface="Lato"/>
              </a:defRPr>
            </a:lvl4pPr>
            <a:lvl5pPr>
              <a:defRPr sz="1620" b="1">
                <a:solidFill>
                  <a:srgbClr val="00376F"/>
                </a:solidFill>
                <a:latin typeface="Lato"/>
                <a:ea typeface="Lato"/>
                <a:cs typeface="Lato"/>
              </a:defRPr>
            </a:lvl5pPr>
            <a:lvl6pPr>
              <a:defRPr sz="1620" b="1">
                <a:solidFill>
                  <a:srgbClr val="00376F"/>
                </a:solidFill>
                <a:latin typeface="Lato"/>
                <a:ea typeface="Lato"/>
                <a:cs typeface="Lato"/>
              </a:defRPr>
            </a:lvl6pPr>
            <a:lvl7pPr>
              <a:defRPr sz="1620" b="1">
                <a:solidFill>
                  <a:srgbClr val="00376F"/>
                </a:solidFill>
                <a:latin typeface="Lato"/>
                <a:ea typeface="Lato"/>
                <a:cs typeface="Lato"/>
              </a:defRPr>
            </a:lvl7pPr>
            <a:lvl8pPr>
              <a:defRPr sz="1620" b="1">
                <a:solidFill>
                  <a:srgbClr val="00376F"/>
                </a:solidFill>
                <a:latin typeface="Lato"/>
                <a:ea typeface="Lato"/>
                <a:cs typeface="Lato"/>
              </a:defRPr>
            </a:lvl8pPr>
            <a:lvl9pPr>
              <a:defRPr sz="1620" b="1">
                <a:solidFill>
                  <a:srgbClr val="00376F"/>
                </a:solidFill>
                <a:latin typeface="Lato"/>
                <a:ea typeface="Lato"/>
                <a:cs typeface="Lato"/>
              </a:defRPr>
            </a:lvl9pPr>
          </a:lstStyle>
          <a:p>
            <a:pPr>
              <a:defRPr sz="1620" b="1">
                <a:solidFill>
                  <a:srgbClr val="00376F"/>
                </a:solidFill>
                <a:latin typeface="Lato"/>
                <a:ea typeface="Lato"/>
                <a:cs typeface="Lato"/>
              </a:defRPr>
            </a:pPr>
            <a:r>
              <a:rPr sz="1620" b="1" dirty="0">
                <a:solidFill>
                  <a:srgbClr val="00376F"/>
                </a:solidFill>
                <a:latin typeface="Lato"/>
                <a:ea typeface="Lato"/>
                <a:cs typeface="Lato"/>
              </a:rPr>
              <a:t>Sparse </a:t>
            </a:r>
            <a:r>
              <a:rPr sz="1620" b="1" dirty="0" err="1">
                <a:solidFill>
                  <a:srgbClr val="00376F"/>
                </a:solidFill>
                <a:latin typeface="Lato"/>
                <a:ea typeface="Lato"/>
                <a:cs typeface="Lato"/>
              </a:rPr>
              <a:t>MoE</a:t>
            </a:r>
            <a:r>
              <a:rPr sz="1620" b="1" dirty="0">
                <a:solidFill>
                  <a:srgbClr val="00376F"/>
                </a:solidFill>
                <a:latin typeface="Lato"/>
                <a:ea typeface="Lato"/>
                <a:cs typeface="Lato"/>
              </a:rPr>
              <a:t>: router </a:t>
            </a:r>
            <a:r>
              <a:rPr sz="1620" b="1" dirty="0" err="1">
                <a:solidFill>
                  <a:srgbClr val="00376F"/>
                </a:solidFill>
                <a:latin typeface="Lato"/>
                <a:ea typeface="Lato"/>
                <a:cs typeface="Lato"/>
              </a:rPr>
              <a:t>chọn</a:t>
            </a:r>
            <a:r>
              <a:rPr sz="1620" b="1" dirty="0">
                <a:solidFill>
                  <a:srgbClr val="00376F"/>
                </a:solidFill>
                <a:latin typeface="Lato"/>
                <a:ea typeface="Lato"/>
                <a:cs typeface="Lato"/>
              </a:rPr>
              <a:t> Top-</a:t>
            </a:r>
            <a:r>
              <a:rPr lang="en-US" sz="1620" b="1" dirty="0">
                <a:solidFill>
                  <a:srgbClr val="00376F"/>
                </a:solidFill>
                <a:latin typeface="Lato"/>
                <a:ea typeface="Lato"/>
                <a:cs typeface="Lato"/>
              </a:rPr>
              <a:t>1</a:t>
            </a:r>
            <a:r>
              <a:rPr sz="1620" b="1" dirty="0">
                <a:solidFill>
                  <a:srgbClr val="00376F"/>
                </a:solidFill>
                <a:latin typeface="Lato"/>
                <a:ea typeface="Lato"/>
                <a:cs typeface="Lato"/>
              </a:rPr>
              <a:t> </a:t>
            </a:r>
            <a:r>
              <a:rPr sz="1620" b="1" dirty="0" err="1">
                <a:solidFill>
                  <a:srgbClr val="00376F"/>
                </a:solidFill>
                <a:latin typeface="Lato"/>
                <a:ea typeface="Lato"/>
                <a:cs typeface="Lato"/>
              </a:rPr>
              <a:t>trong</a:t>
            </a:r>
            <a:r>
              <a:rPr sz="1620" b="1" dirty="0">
                <a:solidFill>
                  <a:srgbClr val="00376F"/>
                </a:solidFill>
                <a:latin typeface="Lato"/>
                <a:ea typeface="Lato"/>
                <a:cs typeface="Lato"/>
              </a:rPr>
              <a:t> </a:t>
            </a:r>
            <a:r>
              <a:rPr lang="en-US" sz="1620" b="1" dirty="0">
                <a:solidFill>
                  <a:srgbClr val="00376F"/>
                </a:solidFill>
                <a:latin typeface="Lato"/>
                <a:ea typeface="Lato"/>
                <a:cs typeface="Lato"/>
              </a:rPr>
              <a:t>3</a:t>
            </a:r>
            <a:r>
              <a:rPr sz="1620" b="1" dirty="0">
                <a:solidFill>
                  <a:srgbClr val="00376F"/>
                </a:solidFill>
                <a:latin typeface="Lato"/>
                <a:ea typeface="Lato"/>
                <a:cs typeface="Lato"/>
              </a:rPr>
              <a:t> expert FFN </a:t>
            </a:r>
            <a:r>
              <a:rPr sz="1620" b="1" dirty="0" err="1">
                <a:solidFill>
                  <a:srgbClr val="00376F"/>
                </a:solidFill>
                <a:latin typeface="Lato"/>
                <a:ea typeface="Lato"/>
                <a:cs typeface="Lato"/>
              </a:rPr>
              <a:t>cho</a:t>
            </a:r>
            <a:r>
              <a:rPr sz="1620" b="1" dirty="0">
                <a:solidFill>
                  <a:srgbClr val="00376F"/>
                </a:solidFill>
                <a:latin typeface="Lato"/>
                <a:ea typeface="Lato"/>
                <a:cs typeface="Lato"/>
              </a:rPr>
              <a:t> </a:t>
            </a:r>
            <a:r>
              <a:rPr sz="1620" b="1" dirty="0" err="1">
                <a:solidFill>
                  <a:srgbClr val="00376F"/>
                </a:solidFill>
                <a:latin typeface="Lato"/>
                <a:ea typeface="Lato"/>
                <a:cs typeface="Lato"/>
              </a:rPr>
              <a:t>mỗi</a:t>
            </a:r>
            <a:r>
              <a:rPr sz="1620" b="1" dirty="0">
                <a:solidFill>
                  <a:srgbClr val="00376F"/>
                </a:solidFill>
                <a:latin typeface="Lato"/>
                <a:ea typeface="Lato"/>
                <a:cs typeface="Lato"/>
              </a:rPr>
              <a:t> toke</a:t>
            </a:r>
            <a:r>
              <a:rPr lang="en-US" sz="1620" b="1" dirty="0">
                <a:solidFill>
                  <a:srgbClr val="00376F"/>
                </a:solidFill>
                <a:latin typeface="Lato"/>
                <a:ea typeface="Lato"/>
                <a:cs typeface="Lato"/>
              </a:rPr>
              <a:t>n</a:t>
            </a:r>
            <a:endParaRPr sz="1620" b="1" dirty="0">
              <a:solidFill>
                <a:srgbClr val="00376F"/>
              </a:solidFill>
              <a:latin typeface="Lato"/>
              <a:ea typeface="Lato"/>
              <a:cs typeface="Lato"/>
            </a:endParaRPr>
          </a:p>
        </p:txBody>
      </p:sp>
      <p:sp>
        <p:nvSpPr>
          <p:cNvPr id="39" name="node-24">
            <a:extLst>
              <a:ext uri="{FF2B5EF4-FFF2-40B4-BE49-F238E27FC236}">
                <a16:creationId xmlns:a16="http://schemas.microsoft.com/office/drawing/2014/main" id="{A2CD2FF3-15DE-0C1E-920A-CEBAAE4F6F66}"/>
              </a:ext>
            </a:extLst>
          </p:cNvPr>
          <p:cNvSpPr>
            <a:spLocks noGrp="1"/>
          </p:cNvSpPr>
          <p:nvPr/>
        </p:nvSpPr>
        <p:spPr>
          <a:xfrm>
            <a:off x="7010400" y="3929063"/>
            <a:ext cx="2362200" cy="542925"/>
          </a:xfrm>
          <a:prstGeom prst="rect">
            <a:avLst/>
          </a:prstGeom>
          <a:solidFill>
            <a:srgbClr val="F8E7EA"/>
          </a:solidFill>
          <a:ln w="12383">
            <a:solidFill>
              <a:srgbClr val="BE1E2D"/>
            </a:solidFill>
            <a:prstDash val="solid"/>
          </a:ln>
        </p:spPr>
        <p:txBody>
          <a:bodyPr lIns="95250" tIns="95250" rIns="95250" bIns="95250" anchor="ctr"/>
          <a:lstStyle>
            <a:defPPr algn="ctr">
              <a:defRPr sz="1440" b="1">
                <a:solidFill>
                  <a:srgbClr val="00376F"/>
                </a:solidFill>
                <a:latin typeface="Lato"/>
                <a:ea typeface="Lato"/>
                <a:cs typeface="Lato"/>
              </a:defRPr>
            </a:defPPr>
            <a:lvl1pPr algn="ctr">
              <a:defRPr sz="1440" b="1">
                <a:solidFill>
                  <a:srgbClr val="00376F"/>
                </a:solidFill>
                <a:latin typeface="Lato"/>
                <a:ea typeface="Lato"/>
                <a:cs typeface="Lato"/>
              </a:defRPr>
            </a:lvl1pPr>
            <a:lvl2pPr algn="ctr">
              <a:defRPr sz="1440" b="1">
                <a:solidFill>
                  <a:srgbClr val="00376F"/>
                </a:solidFill>
                <a:latin typeface="Lato"/>
                <a:ea typeface="Lato"/>
                <a:cs typeface="Lato"/>
              </a:defRPr>
            </a:lvl2pPr>
            <a:lvl3pPr algn="ctr">
              <a:defRPr sz="1440" b="1">
                <a:solidFill>
                  <a:srgbClr val="00376F"/>
                </a:solidFill>
                <a:latin typeface="Lato"/>
                <a:ea typeface="Lato"/>
                <a:cs typeface="Lato"/>
              </a:defRPr>
            </a:lvl3pPr>
            <a:lvl4pPr algn="ctr">
              <a:defRPr sz="1440" b="1">
                <a:solidFill>
                  <a:srgbClr val="00376F"/>
                </a:solidFill>
                <a:latin typeface="Lato"/>
                <a:ea typeface="Lato"/>
                <a:cs typeface="Lato"/>
              </a:defRPr>
            </a:lvl4pPr>
            <a:lvl5pPr algn="ctr">
              <a:defRPr sz="1440" b="1">
                <a:solidFill>
                  <a:srgbClr val="00376F"/>
                </a:solidFill>
                <a:latin typeface="Lato"/>
                <a:ea typeface="Lato"/>
                <a:cs typeface="Lato"/>
              </a:defRPr>
            </a:lvl5pPr>
            <a:lvl6pPr algn="ctr">
              <a:defRPr sz="1440" b="1">
                <a:solidFill>
                  <a:srgbClr val="00376F"/>
                </a:solidFill>
                <a:latin typeface="Lato"/>
                <a:ea typeface="Lato"/>
                <a:cs typeface="Lato"/>
              </a:defRPr>
            </a:lvl6pPr>
            <a:lvl7pPr algn="ctr">
              <a:defRPr sz="1440" b="1">
                <a:solidFill>
                  <a:srgbClr val="00376F"/>
                </a:solidFill>
                <a:latin typeface="Lato"/>
                <a:ea typeface="Lato"/>
                <a:cs typeface="Lato"/>
              </a:defRPr>
            </a:lvl7pPr>
            <a:lvl8pPr algn="ctr">
              <a:defRPr sz="1440" b="1">
                <a:solidFill>
                  <a:srgbClr val="00376F"/>
                </a:solidFill>
                <a:latin typeface="Lato"/>
                <a:ea typeface="Lato"/>
                <a:cs typeface="Lato"/>
              </a:defRPr>
            </a:lvl8pPr>
            <a:lvl9pPr algn="ctr">
              <a:defRPr sz="1440" b="1">
                <a:solidFill>
                  <a:srgbClr val="00376F"/>
                </a:solidFill>
                <a:latin typeface="Lato"/>
                <a:ea typeface="Lato"/>
                <a:cs typeface="Lato"/>
              </a:defRPr>
            </a:lvl9pPr>
          </a:lstStyle>
          <a:p>
            <a:pPr>
              <a:defRPr sz="1380" b="1">
                <a:solidFill>
                  <a:srgbClr val="00376F"/>
                </a:solidFill>
                <a:latin typeface="Lato"/>
                <a:ea typeface="Lato"/>
                <a:cs typeface="Lato"/>
              </a:defRPr>
            </a:pPr>
            <a:r>
              <a:rPr lang="en-US" sz="1600" dirty="0"/>
              <a:t>Autoregressive</a:t>
            </a:r>
          </a:p>
          <a:p>
            <a:pPr>
              <a:defRPr sz="1380" b="1">
                <a:solidFill>
                  <a:srgbClr val="00376F"/>
                </a:solidFill>
                <a:latin typeface="Lato"/>
                <a:ea typeface="Lato"/>
                <a:cs typeface="Lato"/>
              </a:defRPr>
            </a:pPr>
            <a:r>
              <a:rPr lang="en-US" sz="1600" dirty="0"/>
              <a:t>Decoder (</a:t>
            </a:r>
            <a:r>
              <a:rPr lang="en-US" sz="1600" dirty="0" err="1"/>
              <a:t>MoE</a:t>
            </a:r>
            <a:r>
              <a:rPr lang="en-US" sz="1600" dirty="0"/>
              <a:t>) + Linear</a:t>
            </a:r>
          </a:p>
        </p:txBody>
      </p:sp>
    </p:spTree>
    <p:extLst>
      <p:ext uri="{BB962C8B-B14F-4D97-AF65-F5344CB8AC3E}">
        <p14:creationId xmlns:p14="http://schemas.microsoft.com/office/powerpoint/2010/main" val="221433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B3AB5-95DF-4273-871C-843529DB7255}"/>
              </a:ext>
            </a:extLst>
          </p:cNvPr>
          <p:cNvSpPr>
            <a:spLocks noGrp="1"/>
          </p:cNvSpPr>
          <p:nvPr>
            <p:ph type="title"/>
          </p:nvPr>
        </p:nvSpPr>
        <p:spPr>
          <a:xfrm>
            <a:off x="342900" y="95250"/>
            <a:ext cx="11430000" cy="457200"/>
          </a:xfrm>
        </p:spPr>
        <p:txBody>
          <a:bodyPr lIns="0" tIns="0" rIns="0" bIns="0" anchor="ctr"/>
          <a:lstStyle>
            <a:defPPr>
              <a:defRPr sz="2800" b="1">
                <a:solidFill>
                  <a:srgbClr val="FFFFFF"/>
                </a:solidFill>
                <a:latin typeface="Lato"/>
                <a:ea typeface="Lato"/>
                <a:cs typeface="Lato"/>
              </a:defRPr>
            </a:defPPr>
            <a:lvl1pPr>
              <a:defRPr sz="2800" b="1">
                <a:solidFill>
                  <a:srgbClr val="FFFFFF"/>
                </a:solidFill>
                <a:latin typeface="Lato"/>
                <a:ea typeface="Lato"/>
                <a:cs typeface="Lato"/>
              </a:defRPr>
            </a:lvl1pPr>
            <a:lvl2pPr>
              <a:defRPr sz="2800" b="1">
                <a:solidFill>
                  <a:srgbClr val="FFFFFF"/>
                </a:solidFill>
                <a:latin typeface="Lato"/>
                <a:ea typeface="Lato"/>
                <a:cs typeface="Lato"/>
              </a:defRPr>
            </a:lvl2pPr>
            <a:lvl3pPr>
              <a:defRPr sz="2800" b="1">
                <a:solidFill>
                  <a:srgbClr val="FFFFFF"/>
                </a:solidFill>
                <a:latin typeface="Lato"/>
                <a:ea typeface="Lato"/>
                <a:cs typeface="Lato"/>
              </a:defRPr>
            </a:lvl3pPr>
            <a:lvl4pPr>
              <a:defRPr sz="2800" b="1">
                <a:solidFill>
                  <a:srgbClr val="FFFFFF"/>
                </a:solidFill>
                <a:latin typeface="Lato"/>
                <a:ea typeface="Lato"/>
                <a:cs typeface="Lato"/>
              </a:defRPr>
            </a:lvl4pPr>
            <a:lvl5pPr>
              <a:defRPr sz="2800" b="1">
                <a:solidFill>
                  <a:srgbClr val="FFFFFF"/>
                </a:solidFill>
                <a:latin typeface="Lato"/>
                <a:ea typeface="Lato"/>
                <a:cs typeface="Lato"/>
              </a:defRPr>
            </a:lvl5pPr>
            <a:lvl6pPr>
              <a:defRPr sz="2800" b="1">
                <a:solidFill>
                  <a:srgbClr val="FFFFFF"/>
                </a:solidFill>
                <a:latin typeface="Lato"/>
                <a:ea typeface="Lato"/>
                <a:cs typeface="Lato"/>
              </a:defRPr>
            </a:lvl6pPr>
            <a:lvl7pPr>
              <a:defRPr sz="2800" b="1">
                <a:solidFill>
                  <a:srgbClr val="FFFFFF"/>
                </a:solidFill>
                <a:latin typeface="Lato"/>
                <a:ea typeface="Lato"/>
                <a:cs typeface="Lato"/>
              </a:defRPr>
            </a:lvl7pPr>
            <a:lvl8pPr>
              <a:defRPr sz="2800" b="1">
                <a:solidFill>
                  <a:srgbClr val="FFFFFF"/>
                </a:solidFill>
                <a:latin typeface="Lato"/>
                <a:ea typeface="Lato"/>
                <a:cs typeface="Lato"/>
              </a:defRPr>
            </a:lvl8pPr>
            <a:lvl9pPr>
              <a:defRPr sz="2800" b="1">
                <a:solidFill>
                  <a:srgbClr val="FFFFFF"/>
                </a:solidFill>
                <a:latin typeface="Lato"/>
                <a:ea typeface="Lato"/>
                <a:cs typeface="Lato"/>
              </a:defRPr>
            </a:lvl9pPr>
          </a:lstStyle>
          <a:p>
            <a:pPr>
              <a:defRPr sz="2800" b="1">
                <a:solidFill>
                  <a:srgbClr val="FFFFFF"/>
                </a:solidFill>
                <a:latin typeface="Lato"/>
                <a:ea typeface="Lato"/>
                <a:cs typeface="Lato"/>
              </a:defRPr>
            </a:pPr>
            <a:r>
              <a:rPr lang="en-US" dirty="0"/>
              <a:t>Các metrics</a:t>
            </a:r>
            <a:endParaRPr dirty="0"/>
          </a:p>
        </p:txBody>
      </p:sp>
      <p:sp>
        <p:nvSpPr>
          <p:cNvPr id="3" name="Content Placeholder 2">
            <a:extLst>
              <a:ext uri="{FF2B5EF4-FFF2-40B4-BE49-F238E27FC236}">
                <a16:creationId xmlns:a16="http://schemas.microsoft.com/office/drawing/2014/main" id="{3573E091-9DCD-4DE7-96D1-A93E44E0F5B9}"/>
              </a:ext>
            </a:extLst>
          </p:cNvPr>
          <p:cNvSpPr>
            <a:spLocks noGrp="1"/>
          </p:cNvSpPr>
          <p:nvPr>
            <p:ph idx="13"/>
          </p:nvPr>
        </p:nvSpPr>
        <p:spPr/>
        <p:txBody>
          <a:bodyPr/>
          <a:lstStyle/>
          <a:p>
            <a:endParaRPr dirty="0"/>
          </a:p>
        </p:txBody>
      </p:sp>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idx="12"/>
          </p:nvPr>
        </p:nvSpPr>
        <p:spPr/>
        <p:txBody>
          <a:bodyPr/>
          <a:lstStyle/>
          <a:p>
            <a:fld id="{EFD6AB9A-5F9E-5F59-51AB-3C8734130965}" type="slidenum">
              <a:rPr/>
              <a:t>4</a:t>
            </a:fld>
            <a:endParaRPr/>
          </a:p>
        </p:txBody>
      </p:sp>
      <p:sp>
        <p:nvSpPr>
          <p:cNvPr id="5" name="text-29">
            <a:extLst>
              <a:ext uri="{FF2B5EF4-FFF2-40B4-BE49-F238E27FC236}">
                <a16:creationId xmlns:a16="http://schemas.microsoft.com/office/drawing/2014/main" id="{70BC35DA-365D-4EC9-BA48-BBE90AFF9A0B}"/>
              </a:ext>
            </a:extLst>
          </p:cNvPr>
          <p:cNvSpPr>
            <a:spLocks noGrp="1"/>
          </p:cNvSpPr>
          <p:nvPr/>
        </p:nvSpPr>
        <p:spPr>
          <a:xfrm>
            <a:off x="365760" y="985838"/>
            <a:ext cx="11391900" cy="500063"/>
          </a:xfrm>
          <a:prstGeom prst="rect">
            <a:avLst/>
          </a:prstGeom>
          <a:noFill/>
          <a:ln w="0">
            <a:noFill/>
            <a:prstDash val="solid"/>
          </a:ln>
        </p:spPr>
        <p:txBody>
          <a:bodyPr lIns="0" tIns="0" rIns="0" bIns="0" anchor="t"/>
          <a:lstStyle>
            <a:defPPr>
              <a:defRPr sz="1560" b="0">
                <a:solidFill>
                  <a:srgbClr val="526170"/>
                </a:solidFill>
                <a:latin typeface="Lato"/>
                <a:ea typeface="Lato"/>
                <a:cs typeface="Lato"/>
              </a:defRPr>
            </a:defPPr>
            <a:lvl1pPr>
              <a:defRPr sz="1560" b="0">
                <a:solidFill>
                  <a:srgbClr val="526170"/>
                </a:solidFill>
                <a:latin typeface="Lato"/>
                <a:ea typeface="Lato"/>
                <a:cs typeface="Lato"/>
              </a:defRPr>
            </a:lvl1pPr>
            <a:lvl2pPr>
              <a:defRPr sz="1560" b="0">
                <a:solidFill>
                  <a:srgbClr val="526170"/>
                </a:solidFill>
                <a:latin typeface="Lato"/>
                <a:ea typeface="Lato"/>
                <a:cs typeface="Lato"/>
              </a:defRPr>
            </a:lvl2pPr>
            <a:lvl3pPr>
              <a:defRPr sz="1560" b="0">
                <a:solidFill>
                  <a:srgbClr val="526170"/>
                </a:solidFill>
                <a:latin typeface="Lato"/>
                <a:ea typeface="Lato"/>
                <a:cs typeface="Lato"/>
              </a:defRPr>
            </a:lvl3pPr>
            <a:lvl4pPr>
              <a:defRPr sz="1560" b="0">
                <a:solidFill>
                  <a:srgbClr val="526170"/>
                </a:solidFill>
                <a:latin typeface="Lato"/>
                <a:ea typeface="Lato"/>
                <a:cs typeface="Lato"/>
              </a:defRPr>
            </a:lvl4pPr>
            <a:lvl5pPr>
              <a:defRPr sz="1560" b="0">
                <a:solidFill>
                  <a:srgbClr val="526170"/>
                </a:solidFill>
                <a:latin typeface="Lato"/>
                <a:ea typeface="Lato"/>
                <a:cs typeface="Lato"/>
              </a:defRPr>
            </a:lvl5pPr>
            <a:lvl6pPr>
              <a:defRPr sz="1560" b="0">
                <a:solidFill>
                  <a:srgbClr val="526170"/>
                </a:solidFill>
                <a:latin typeface="Lato"/>
                <a:ea typeface="Lato"/>
                <a:cs typeface="Lato"/>
              </a:defRPr>
            </a:lvl6pPr>
            <a:lvl7pPr>
              <a:defRPr sz="1560" b="0">
                <a:solidFill>
                  <a:srgbClr val="526170"/>
                </a:solidFill>
                <a:latin typeface="Lato"/>
                <a:ea typeface="Lato"/>
                <a:cs typeface="Lato"/>
              </a:defRPr>
            </a:lvl7pPr>
            <a:lvl8pPr>
              <a:defRPr sz="1560" b="0">
                <a:solidFill>
                  <a:srgbClr val="526170"/>
                </a:solidFill>
                <a:latin typeface="Lato"/>
                <a:ea typeface="Lato"/>
                <a:cs typeface="Lato"/>
              </a:defRPr>
            </a:lvl8pPr>
            <a:lvl9pPr>
              <a:defRPr sz="1560" b="0">
                <a:solidFill>
                  <a:srgbClr val="526170"/>
                </a:solidFill>
                <a:latin typeface="Lato"/>
                <a:ea typeface="Lato"/>
                <a:cs typeface="Lato"/>
              </a:defRPr>
            </a:lvl9pPr>
          </a:lstStyle>
          <a:p>
            <a:pPr>
              <a:defRPr sz="1560" b="0">
                <a:solidFill>
                  <a:srgbClr val="526170"/>
                </a:solidFill>
                <a:latin typeface="Lato"/>
                <a:ea typeface="Lato"/>
                <a:cs typeface="Lato"/>
              </a:defRPr>
            </a:pPr>
            <a:r>
              <a:rPr sz="1560" b="0" dirty="0" err="1">
                <a:solidFill>
                  <a:srgbClr val="526170"/>
                </a:solidFill>
                <a:latin typeface="Lato"/>
                <a:ea typeface="Lato"/>
                <a:cs typeface="Lato"/>
              </a:rPr>
              <a:t>Lựa</a:t>
            </a:r>
            <a:r>
              <a:rPr sz="1560" b="0" dirty="0">
                <a:solidFill>
                  <a:srgbClr val="526170"/>
                </a:solidFill>
                <a:latin typeface="Lato"/>
                <a:ea typeface="Lato"/>
                <a:cs typeface="Lato"/>
              </a:rPr>
              <a:t> </a:t>
            </a:r>
            <a:r>
              <a:rPr sz="1560" b="0" dirty="0" err="1">
                <a:solidFill>
                  <a:srgbClr val="526170"/>
                </a:solidFill>
                <a:latin typeface="Lato"/>
                <a:ea typeface="Lato"/>
                <a:cs typeface="Lato"/>
              </a:rPr>
              <a:t>chọn</a:t>
            </a:r>
            <a:r>
              <a:rPr sz="1560" b="0" dirty="0">
                <a:solidFill>
                  <a:srgbClr val="526170"/>
                </a:solidFill>
                <a:latin typeface="Lato"/>
                <a:ea typeface="Lato"/>
                <a:cs typeface="Lato"/>
              </a:rPr>
              <a:t> </a:t>
            </a:r>
            <a:r>
              <a:rPr sz="1560" b="0" dirty="0" err="1">
                <a:solidFill>
                  <a:srgbClr val="526170"/>
                </a:solidFill>
                <a:latin typeface="Lato"/>
                <a:ea typeface="Lato"/>
                <a:cs typeface="Lato"/>
              </a:rPr>
              <a:t>mô</a:t>
            </a:r>
            <a:r>
              <a:rPr sz="1560" b="0" dirty="0">
                <a:solidFill>
                  <a:srgbClr val="526170"/>
                </a:solidFill>
                <a:latin typeface="Lato"/>
                <a:ea typeface="Lato"/>
                <a:cs typeface="Lato"/>
              </a:rPr>
              <a:t> </a:t>
            </a:r>
            <a:r>
              <a:rPr sz="1560" b="0" dirty="0" err="1">
                <a:solidFill>
                  <a:srgbClr val="526170"/>
                </a:solidFill>
                <a:latin typeface="Lato"/>
                <a:ea typeface="Lato"/>
                <a:cs typeface="Lato"/>
              </a:rPr>
              <a:t>hình</a:t>
            </a:r>
            <a:r>
              <a:rPr sz="1560" b="0" dirty="0">
                <a:solidFill>
                  <a:srgbClr val="526170"/>
                </a:solidFill>
                <a:latin typeface="Lato"/>
                <a:ea typeface="Lato"/>
                <a:cs typeface="Lato"/>
              </a:rPr>
              <a:t> </a:t>
            </a:r>
            <a:r>
              <a:rPr sz="1560" b="0" dirty="0" err="1">
                <a:solidFill>
                  <a:srgbClr val="526170"/>
                </a:solidFill>
                <a:latin typeface="Lato"/>
                <a:ea typeface="Lato"/>
                <a:cs typeface="Lato"/>
              </a:rPr>
              <a:t>bằng</a:t>
            </a:r>
            <a:r>
              <a:rPr sz="1560" b="0" dirty="0">
                <a:solidFill>
                  <a:srgbClr val="526170"/>
                </a:solidFill>
                <a:latin typeface="Lato"/>
                <a:ea typeface="Lato"/>
                <a:cs typeface="Lato"/>
              </a:rPr>
              <a:t> validation. Test </a:t>
            </a:r>
            <a:r>
              <a:rPr sz="1560" b="0" dirty="0" err="1">
                <a:solidFill>
                  <a:srgbClr val="526170"/>
                </a:solidFill>
                <a:latin typeface="Lato"/>
                <a:ea typeface="Lato"/>
                <a:cs typeface="Lato"/>
              </a:rPr>
              <a:t>chỉ</a:t>
            </a:r>
            <a:r>
              <a:rPr sz="1560" b="0" dirty="0">
                <a:solidFill>
                  <a:srgbClr val="526170"/>
                </a:solidFill>
                <a:latin typeface="Lato"/>
                <a:ea typeface="Lato"/>
                <a:cs typeface="Lato"/>
              </a:rPr>
              <a:t> </a:t>
            </a:r>
            <a:r>
              <a:rPr sz="1560" b="0" dirty="0" err="1">
                <a:solidFill>
                  <a:srgbClr val="526170"/>
                </a:solidFill>
                <a:latin typeface="Lato"/>
                <a:ea typeface="Lato"/>
                <a:cs typeface="Lato"/>
              </a:rPr>
              <a:t>phục</a:t>
            </a:r>
            <a:r>
              <a:rPr sz="1560" b="0" dirty="0">
                <a:solidFill>
                  <a:srgbClr val="526170"/>
                </a:solidFill>
                <a:latin typeface="Lato"/>
                <a:ea typeface="Lato"/>
                <a:cs typeface="Lato"/>
              </a:rPr>
              <a:t> </a:t>
            </a:r>
            <a:r>
              <a:rPr sz="1560" b="0" dirty="0" err="1">
                <a:solidFill>
                  <a:srgbClr val="526170"/>
                </a:solidFill>
                <a:latin typeface="Lato"/>
                <a:ea typeface="Lato"/>
                <a:cs typeface="Lato"/>
              </a:rPr>
              <a:t>vụ</a:t>
            </a:r>
            <a:r>
              <a:rPr sz="1560" b="0" dirty="0">
                <a:solidFill>
                  <a:srgbClr val="526170"/>
                </a:solidFill>
                <a:latin typeface="Lato"/>
                <a:ea typeface="Lato"/>
                <a:cs typeface="Lato"/>
              </a:rPr>
              <a:t> </a:t>
            </a:r>
            <a:r>
              <a:rPr sz="1560" b="0" dirty="0" err="1">
                <a:solidFill>
                  <a:srgbClr val="526170"/>
                </a:solidFill>
                <a:latin typeface="Lato"/>
                <a:ea typeface="Lato"/>
                <a:cs typeface="Lato"/>
              </a:rPr>
              <a:t>báo</a:t>
            </a:r>
            <a:r>
              <a:rPr sz="1560" b="0" dirty="0">
                <a:solidFill>
                  <a:srgbClr val="526170"/>
                </a:solidFill>
                <a:latin typeface="Lato"/>
                <a:ea typeface="Lato"/>
                <a:cs typeface="Lato"/>
              </a:rPr>
              <a:t> </a:t>
            </a:r>
            <a:r>
              <a:rPr sz="1560" b="0" dirty="0" err="1">
                <a:solidFill>
                  <a:srgbClr val="526170"/>
                </a:solidFill>
                <a:latin typeface="Lato"/>
                <a:ea typeface="Lato"/>
                <a:cs typeface="Lato"/>
              </a:rPr>
              <a:t>cáo</a:t>
            </a:r>
            <a:r>
              <a:rPr sz="1560" b="0" dirty="0">
                <a:solidFill>
                  <a:srgbClr val="526170"/>
                </a:solidFill>
                <a:latin typeface="Lato"/>
                <a:ea typeface="Lato"/>
                <a:cs typeface="Lato"/>
              </a:rPr>
              <a:t> </a:t>
            </a:r>
            <a:r>
              <a:rPr sz="1560" b="0" dirty="0" err="1">
                <a:solidFill>
                  <a:srgbClr val="526170"/>
                </a:solidFill>
                <a:latin typeface="Lato"/>
                <a:ea typeface="Lato"/>
                <a:cs typeface="Lato"/>
              </a:rPr>
              <a:t>cuối</a:t>
            </a:r>
            <a:r>
              <a:rPr sz="1560" b="0" dirty="0">
                <a:solidFill>
                  <a:srgbClr val="526170"/>
                </a:solidFill>
                <a:latin typeface="Lato"/>
                <a:ea typeface="Lato"/>
                <a:cs typeface="Lato"/>
              </a:rPr>
              <a:t> </a:t>
            </a:r>
            <a:r>
              <a:rPr sz="1560" b="0" dirty="0" err="1">
                <a:solidFill>
                  <a:srgbClr val="526170"/>
                </a:solidFill>
                <a:latin typeface="Lato"/>
                <a:ea typeface="Lato"/>
                <a:cs typeface="Lato"/>
              </a:rPr>
              <a:t>cùng</a:t>
            </a:r>
            <a:r>
              <a:rPr sz="1560" b="0" dirty="0">
                <a:solidFill>
                  <a:srgbClr val="526170"/>
                </a:solidFill>
                <a:latin typeface="Lato"/>
                <a:ea typeface="Lato"/>
                <a:cs typeface="Lato"/>
              </a:rPr>
              <a:t>.</a:t>
            </a:r>
          </a:p>
        </p:txBody>
      </p:sp>
      <p:sp>
        <p:nvSpPr>
          <p:cNvPr id="6" name="text-30">
            <a:extLst>
              <a:ext uri="{FF2B5EF4-FFF2-40B4-BE49-F238E27FC236}">
                <a16:creationId xmlns:a16="http://schemas.microsoft.com/office/drawing/2014/main" id="{FD377A20-E01A-4DEE-8E95-2BCC4F52150D}"/>
              </a:ext>
            </a:extLst>
          </p:cNvPr>
          <p:cNvSpPr>
            <a:spLocks noGrp="1"/>
          </p:cNvSpPr>
          <p:nvPr/>
        </p:nvSpPr>
        <p:spPr>
          <a:xfrm>
            <a:off x="609600" y="1614488"/>
            <a:ext cx="5029200" cy="285750"/>
          </a:xfrm>
          <a:prstGeom prst="rect">
            <a:avLst/>
          </a:prstGeom>
          <a:noFill/>
          <a:ln w="0">
            <a:noFill/>
            <a:prstDash val="solid"/>
          </a:ln>
        </p:spPr>
        <p:txBody>
          <a:bodyPr lIns="0" tIns="0" rIns="0" bIns="0" anchor="t"/>
          <a:lstStyle>
            <a:defPPr>
              <a:defRPr sz="1620" b="1">
                <a:solidFill>
                  <a:srgbClr val="BE1E2D"/>
                </a:solidFill>
                <a:latin typeface="Lato"/>
                <a:ea typeface="Lato"/>
                <a:cs typeface="Lato"/>
              </a:defRPr>
            </a:defPPr>
            <a:lvl1pPr>
              <a:defRPr sz="1620" b="1">
                <a:solidFill>
                  <a:srgbClr val="BE1E2D"/>
                </a:solidFill>
                <a:latin typeface="Lato"/>
                <a:ea typeface="Lato"/>
                <a:cs typeface="Lato"/>
              </a:defRPr>
            </a:lvl1pPr>
            <a:lvl2pPr>
              <a:defRPr sz="1620" b="1">
                <a:solidFill>
                  <a:srgbClr val="BE1E2D"/>
                </a:solidFill>
                <a:latin typeface="Lato"/>
                <a:ea typeface="Lato"/>
                <a:cs typeface="Lato"/>
              </a:defRPr>
            </a:lvl2pPr>
            <a:lvl3pPr>
              <a:defRPr sz="1620" b="1">
                <a:solidFill>
                  <a:srgbClr val="BE1E2D"/>
                </a:solidFill>
                <a:latin typeface="Lato"/>
                <a:ea typeface="Lato"/>
                <a:cs typeface="Lato"/>
              </a:defRPr>
            </a:lvl3pPr>
            <a:lvl4pPr>
              <a:defRPr sz="1620" b="1">
                <a:solidFill>
                  <a:srgbClr val="BE1E2D"/>
                </a:solidFill>
                <a:latin typeface="Lato"/>
                <a:ea typeface="Lato"/>
                <a:cs typeface="Lato"/>
              </a:defRPr>
            </a:lvl4pPr>
            <a:lvl5pPr>
              <a:defRPr sz="1620" b="1">
                <a:solidFill>
                  <a:srgbClr val="BE1E2D"/>
                </a:solidFill>
                <a:latin typeface="Lato"/>
                <a:ea typeface="Lato"/>
                <a:cs typeface="Lato"/>
              </a:defRPr>
            </a:lvl5pPr>
            <a:lvl6pPr>
              <a:defRPr sz="1620" b="1">
                <a:solidFill>
                  <a:srgbClr val="BE1E2D"/>
                </a:solidFill>
                <a:latin typeface="Lato"/>
                <a:ea typeface="Lato"/>
                <a:cs typeface="Lato"/>
              </a:defRPr>
            </a:lvl6pPr>
            <a:lvl7pPr>
              <a:defRPr sz="1620" b="1">
                <a:solidFill>
                  <a:srgbClr val="BE1E2D"/>
                </a:solidFill>
                <a:latin typeface="Lato"/>
                <a:ea typeface="Lato"/>
                <a:cs typeface="Lato"/>
              </a:defRPr>
            </a:lvl7pPr>
            <a:lvl8pPr>
              <a:defRPr sz="1620" b="1">
                <a:solidFill>
                  <a:srgbClr val="BE1E2D"/>
                </a:solidFill>
                <a:latin typeface="Lato"/>
                <a:ea typeface="Lato"/>
                <a:cs typeface="Lato"/>
              </a:defRPr>
            </a:lvl8pPr>
            <a:lvl9pPr>
              <a:defRPr sz="1620" b="1">
                <a:solidFill>
                  <a:srgbClr val="BE1E2D"/>
                </a:solidFill>
                <a:latin typeface="Lato"/>
                <a:ea typeface="Lato"/>
                <a:cs typeface="Lato"/>
              </a:defRPr>
            </a:lvl9pPr>
          </a:lstStyle>
          <a:p>
            <a:pPr>
              <a:defRPr sz="1620" b="1">
                <a:solidFill>
                  <a:srgbClr val="BE1E2D"/>
                </a:solidFill>
                <a:latin typeface="Lato"/>
                <a:ea typeface="Lato"/>
                <a:cs typeface="Lato"/>
              </a:defRPr>
            </a:pPr>
            <a:r>
              <a:rPr sz="1620" b="1">
                <a:solidFill>
                  <a:srgbClr val="BE1E2D"/>
                </a:solidFill>
                <a:latin typeface="Lato"/>
                <a:ea typeface="Lato"/>
                <a:cs typeface="Lato"/>
              </a:rPr>
              <a:t>QUY TRÌNH HUẤN LUYỆN</a:t>
            </a:r>
          </a:p>
        </p:txBody>
      </p:sp>
      <p:sp>
        <p:nvSpPr>
          <p:cNvPr id="7" name="text-31">
            <a:extLst>
              <a:ext uri="{FF2B5EF4-FFF2-40B4-BE49-F238E27FC236}">
                <a16:creationId xmlns:a16="http://schemas.microsoft.com/office/drawing/2014/main" id="{4347D797-61A4-45F6-A918-B675C006F76F}"/>
              </a:ext>
            </a:extLst>
          </p:cNvPr>
          <p:cNvSpPr>
            <a:spLocks noGrp="1"/>
          </p:cNvSpPr>
          <p:nvPr/>
        </p:nvSpPr>
        <p:spPr>
          <a:xfrm>
            <a:off x="609600" y="2071688"/>
            <a:ext cx="457200" cy="285750"/>
          </a:xfrm>
          <a:prstGeom prst="rect">
            <a:avLst/>
          </a:prstGeom>
          <a:noFill/>
          <a:ln w="0">
            <a:noFill/>
            <a:prstDash val="solid"/>
          </a:ln>
        </p:spPr>
        <p:txBody>
          <a:bodyPr lIns="0" tIns="0" rIns="0" bIns="0" anchor="t"/>
          <a:lstStyle>
            <a:defPPr>
              <a:defRPr sz="1620" b="1">
                <a:solidFill>
                  <a:srgbClr val="BE1E2D"/>
                </a:solidFill>
                <a:latin typeface="Lato"/>
                <a:ea typeface="Lato"/>
                <a:cs typeface="Lato"/>
              </a:defRPr>
            </a:defPPr>
            <a:lvl1pPr>
              <a:defRPr sz="1620" b="1">
                <a:solidFill>
                  <a:srgbClr val="BE1E2D"/>
                </a:solidFill>
                <a:latin typeface="Lato"/>
                <a:ea typeface="Lato"/>
                <a:cs typeface="Lato"/>
              </a:defRPr>
            </a:lvl1pPr>
            <a:lvl2pPr>
              <a:defRPr sz="1620" b="1">
                <a:solidFill>
                  <a:srgbClr val="BE1E2D"/>
                </a:solidFill>
                <a:latin typeface="Lato"/>
                <a:ea typeface="Lato"/>
                <a:cs typeface="Lato"/>
              </a:defRPr>
            </a:lvl2pPr>
            <a:lvl3pPr>
              <a:defRPr sz="1620" b="1">
                <a:solidFill>
                  <a:srgbClr val="BE1E2D"/>
                </a:solidFill>
                <a:latin typeface="Lato"/>
                <a:ea typeface="Lato"/>
                <a:cs typeface="Lato"/>
              </a:defRPr>
            </a:lvl3pPr>
            <a:lvl4pPr>
              <a:defRPr sz="1620" b="1">
                <a:solidFill>
                  <a:srgbClr val="BE1E2D"/>
                </a:solidFill>
                <a:latin typeface="Lato"/>
                <a:ea typeface="Lato"/>
                <a:cs typeface="Lato"/>
              </a:defRPr>
            </a:lvl4pPr>
            <a:lvl5pPr>
              <a:defRPr sz="1620" b="1">
                <a:solidFill>
                  <a:srgbClr val="BE1E2D"/>
                </a:solidFill>
                <a:latin typeface="Lato"/>
                <a:ea typeface="Lato"/>
                <a:cs typeface="Lato"/>
              </a:defRPr>
            </a:lvl5pPr>
            <a:lvl6pPr>
              <a:defRPr sz="1620" b="1">
                <a:solidFill>
                  <a:srgbClr val="BE1E2D"/>
                </a:solidFill>
                <a:latin typeface="Lato"/>
                <a:ea typeface="Lato"/>
                <a:cs typeface="Lato"/>
              </a:defRPr>
            </a:lvl6pPr>
            <a:lvl7pPr>
              <a:defRPr sz="1620" b="1">
                <a:solidFill>
                  <a:srgbClr val="BE1E2D"/>
                </a:solidFill>
                <a:latin typeface="Lato"/>
                <a:ea typeface="Lato"/>
                <a:cs typeface="Lato"/>
              </a:defRPr>
            </a:lvl7pPr>
            <a:lvl8pPr>
              <a:defRPr sz="1620" b="1">
                <a:solidFill>
                  <a:srgbClr val="BE1E2D"/>
                </a:solidFill>
                <a:latin typeface="Lato"/>
                <a:ea typeface="Lato"/>
                <a:cs typeface="Lato"/>
              </a:defRPr>
            </a:lvl8pPr>
            <a:lvl9pPr>
              <a:defRPr sz="1620" b="1">
                <a:solidFill>
                  <a:srgbClr val="BE1E2D"/>
                </a:solidFill>
                <a:latin typeface="Lato"/>
                <a:ea typeface="Lato"/>
                <a:cs typeface="Lato"/>
              </a:defRPr>
            </a:lvl9pPr>
          </a:lstStyle>
          <a:p>
            <a:pPr>
              <a:defRPr sz="1620" b="1">
                <a:solidFill>
                  <a:srgbClr val="BE1E2D"/>
                </a:solidFill>
                <a:latin typeface="Lato"/>
                <a:ea typeface="Lato"/>
                <a:cs typeface="Lato"/>
              </a:defRPr>
            </a:pPr>
            <a:r>
              <a:rPr sz="1620" b="1">
                <a:solidFill>
                  <a:srgbClr val="BE1E2D"/>
                </a:solidFill>
                <a:latin typeface="Lato"/>
                <a:ea typeface="Lato"/>
                <a:cs typeface="Lato"/>
              </a:rPr>
              <a:t>01</a:t>
            </a:r>
          </a:p>
        </p:txBody>
      </p:sp>
      <p:sp>
        <p:nvSpPr>
          <p:cNvPr id="8" name="text-32">
            <a:extLst>
              <a:ext uri="{FF2B5EF4-FFF2-40B4-BE49-F238E27FC236}">
                <a16:creationId xmlns:a16="http://schemas.microsoft.com/office/drawing/2014/main" id="{36073260-5A63-48BC-A6C3-11E2056822C1}"/>
              </a:ext>
            </a:extLst>
          </p:cNvPr>
          <p:cNvSpPr>
            <a:spLocks noGrp="1"/>
          </p:cNvSpPr>
          <p:nvPr/>
        </p:nvSpPr>
        <p:spPr>
          <a:xfrm>
            <a:off x="1165860" y="2071688"/>
            <a:ext cx="4572000" cy="271463"/>
          </a:xfrm>
          <a:prstGeom prst="rect">
            <a:avLst/>
          </a:prstGeom>
          <a:noFill/>
          <a:ln w="0">
            <a:noFill/>
            <a:prstDash val="solid"/>
          </a:ln>
        </p:spPr>
        <p:txBody>
          <a:bodyPr lIns="0" tIns="0" rIns="0" bIns="0" anchor="t"/>
          <a:lstStyle>
            <a:defPPr>
              <a:defRPr sz="1620" b="1">
                <a:solidFill>
                  <a:srgbClr val="00376F"/>
                </a:solidFill>
                <a:latin typeface="Lato"/>
                <a:ea typeface="Lato"/>
                <a:cs typeface="Lato"/>
              </a:defRPr>
            </a:defPPr>
            <a:lvl1pPr>
              <a:defRPr sz="1620" b="1">
                <a:solidFill>
                  <a:srgbClr val="00376F"/>
                </a:solidFill>
                <a:latin typeface="Lato"/>
                <a:ea typeface="Lato"/>
                <a:cs typeface="Lato"/>
              </a:defRPr>
            </a:lvl1pPr>
            <a:lvl2pPr>
              <a:defRPr sz="1620" b="1">
                <a:solidFill>
                  <a:srgbClr val="00376F"/>
                </a:solidFill>
                <a:latin typeface="Lato"/>
                <a:ea typeface="Lato"/>
                <a:cs typeface="Lato"/>
              </a:defRPr>
            </a:lvl2pPr>
            <a:lvl3pPr>
              <a:defRPr sz="1620" b="1">
                <a:solidFill>
                  <a:srgbClr val="00376F"/>
                </a:solidFill>
                <a:latin typeface="Lato"/>
                <a:ea typeface="Lato"/>
                <a:cs typeface="Lato"/>
              </a:defRPr>
            </a:lvl3pPr>
            <a:lvl4pPr>
              <a:defRPr sz="1620" b="1">
                <a:solidFill>
                  <a:srgbClr val="00376F"/>
                </a:solidFill>
                <a:latin typeface="Lato"/>
                <a:ea typeface="Lato"/>
                <a:cs typeface="Lato"/>
              </a:defRPr>
            </a:lvl4pPr>
            <a:lvl5pPr>
              <a:defRPr sz="1620" b="1">
                <a:solidFill>
                  <a:srgbClr val="00376F"/>
                </a:solidFill>
                <a:latin typeface="Lato"/>
                <a:ea typeface="Lato"/>
                <a:cs typeface="Lato"/>
              </a:defRPr>
            </a:lvl5pPr>
            <a:lvl6pPr>
              <a:defRPr sz="1620" b="1">
                <a:solidFill>
                  <a:srgbClr val="00376F"/>
                </a:solidFill>
                <a:latin typeface="Lato"/>
                <a:ea typeface="Lato"/>
                <a:cs typeface="Lato"/>
              </a:defRPr>
            </a:lvl6pPr>
            <a:lvl7pPr>
              <a:defRPr sz="1620" b="1">
                <a:solidFill>
                  <a:srgbClr val="00376F"/>
                </a:solidFill>
                <a:latin typeface="Lato"/>
                <a:ea typeface="Lato"/>
                <a:cs typeface="Lato"/>
              </a:defRPr>
            </a:lvl7pPr>
            <a:lvl8pPr>
              <a:defRPr sz="1620" b="1">
                <a:solidFill>
                  <a:srgbClr val="00376F"/>
                </a:solidFill>
                <a:latin typeface="Lato"/>
                <a:ea typeface="Lato"/>
                <a:cs typeface="Lato"/>
              </a:defRPr>
            </a:lvl8pPr>
            <a:lvl9pPr>
              <a:defRPr sz="1620" b="1">
                <a:solidFill>
                  <a:srgbClr val="00376F"/>
                </a:solidFill>
                <a:latin typeface="Lato"/>
                <a:ea typeface="Lato"/>
                <a:cs typeface="Lato"/>
              </a:defRPr>
            </a:lvl9pPr>
          </a:lstStyle>
          <a:p>
            <a:pPr>
              <a:defRPr sz="1620" b="1">
                <a:solidFill>
                  <a:srgbClr val="00376F"/>
                </a:solidFill>
                <a:latin typeface="Lato"/>
                <a:ea typeface="Lato"/>
                <a:cs typeface="Lato"/>
              </a:defRPr>
            </a:pPr>
            <a:r>
              <a:rPr sz="1620" b="1">
                <a:solidFill>
                  <a:srgbClr val="00376F"/>
                </a:solidFill>
                <a:latin typeface="Lato"/>
                <a:ea typeface="Lato"/>
                <a:cs typeface="Lato"/>
              </a:rPr>
              <a:t>Làm sạch và chống rò rỉ</a:t>
            </a:r>
          </a:p>
        </p:txBody>
      </p:sp>
      <p:sp>
        <p:nvSpPr>
          <p:cNvPr id="9" name="text-33">
            <a:extLst>
              <a:ext uri="{FF2B5EF4-FFF2-40B4-BE49-F238E27FC236}">
                <a16:creationId xmlns:a16="http://schemas.microsoft.com/office/drawing/2014/main" id="{AA9B163B-DDC5-4683-8CD2-3CCC8FADE87C}"/>
              </a:ext>
            </a:extLst>
          </p:cNvPr>
          <p:cNvSpPr>
            <a:spLocks noGrp="1"/>
          </p:cNvSpPr>
          <p:nvPr/>
        </p:nvSpPr>
        <p:spPr>
          <a:xfrm>
            <a:off x="1165860" y="2407444"/>
            <a:ext cx="4648200" cy="407194"/>
          </a:xfrm>
          <a:prstGeom prst="rect">
            <a:avLst/>
          </a:prstGeom>
          <a:noFill/>
          <a:ln w="0">
            <a:noFill/>
            <a:prstDash val="solid"/>
          </a:ln>
        </p:spPr>
        <p:txBody>
          <a:bodyPr lIns="0" tIns="0" rIns="0" bIns="0" anchor="t"/>
          <a:lstStyle>
            <a:defPPr>
              <a:defRPr sz="1380" b="0">
                <a:solidFill>
                  <a:srgbClr val="526170"/>
                </a:solidFill>
                <a:latin typeface="Lato"/>
                <a:ea typeface="Lato"/>
                <a:cs typeface="Lato"/>
              </a:defRPr>
            </a:defPPr>
            <a:lvl1pPr>
              <a:defRPr sz="1380" b="0">
                <a:solidFill>
                  <a:srgbClr val="526170"/>
                </a:solidFill>
                <a:latin typeface="Lato"/>
                <a:ea typeface="Lato"/>
                <a:cs typeface="Lato"/>
              </a:defRPr>
            </a:lvl1pPr>
            <a:lvl2pPr>
              <a:defRPr sz="1380" b="0">
                <a:solidFill>
                  <a:srgbClr val="526170"/>
                </a:solidFill>
                <a:latin typeface="Lato"/>
                <a:ea typeface="Lato"/>
                <a:cs typeface="Lato"/>
              </a:defRPr>
            </a:lvl2pPr>
            <a:lvl3pPr>
              <a:defRPr sz="1380" b="0">
                <a:solidFill>
                  <a:srgbClr val="526170"/>
                </a:solidFill>
                <a:latin typeface="Lato"/>
                <a:ea typeface="Lato"/>
                <a:cs typeface="Lato"/>
              </a:defRPr>
            </a:lvl3pPr>
            <a:lvl4pPr>
              <a:defRPr sz="1380" b="0">
                <a:solidFill>
                  <a:srgbClr val="526170"/>
                </a:solidFill>
                <a:latin typeface="Lato"/>
                <a:ea typeface="Lato"/>
                <a:cs typeface="Lato"/>
              </a:defRPr>
            </a:lvl4pPr>
            <a:lvl5pPr>
              <a:defRPr sz="1380" b="0">
                <a:solidFill>
                  <a:srgbClr val="526170"/>
                </a:solidFill>
                <a:latin typeface="Lato"/>
                <a:ea typeface="Lato"/>
                <a:cs typeface="Lato"/>
              </a:defRPr>
            </a:lvl5pPr>
            <a:lvl6pPr>
              <a:defRPr sz="1380" b="0">
                <a:solidFill>
                  <a:srgbClr val="526170"/>
                </a:solidFill>
                <a:latin typeface="Lato"/>
                <a:ea typeface="Lato"/>
                <a:cs typeface="Lato"/>
              </a:defRPr>
            </a:lvl6pPr>
            <a:lvl7pPr>
              <a:defRPr sz="1380" b="0">
                <a:solidFill>
                  <a:srgbClr val="526170"/>
                </a:solidFill>
                <a:latin typeface="Lato"/>
                <a:ea typeface="Lato"/>
                <a:cs typeface="Lato"/>
              </a:defRPr>
            </a:lvl7pPr>
            <a:lvl8pPr>
              <a:defRPr sz="1380" b="0">
                <a:solidFill>
                  <a:srgbClr val="526170"/>
                </a:solidFill>
                <a:latin typeface="Lato"/>
                <a:ea typeface="Lato"/>
                <a:cs typeface="Lato"/>
              </a:defRPr>
            </a:lvl8pPr>
            <a:lvl9pPr>
              <a:defRPr sz="1380" b="0">
                <a:solidFill>
                  <a:srgbClr val="526170"/>
                </a:solidFill>
                <a:latin typeface="Lato"/>
                <a:ea typeface="Lato"/>
                <a:cs typeface="Lato"/>
              </a:defRPr>
            </a:lvl9pPr>
          </a:lstStyle>
          <a:p>
            <a:pPr>
              <a:defRPr sz="1380" b="0">
                <a:solidFill>
                  <a:srgbClr val="526170"/>
                </a:solidFill>
                <a:latin typeface="Lato"/>
                <a:ea typeface="Lato"/>
                <a:cs typeface="Lato"/>
              </a:defRPr>
            </a:pPr>
            <a:r>
              <a:rPr sz="1380" b="0">
                <a:solidFill>
                  <a:srgbClr val="526170"/>
                </a:solidFill>
                <a:latin typeface="Lato"/>
                <a:ea typeface="Lato"/>
                <a:cs typeface="Lato"/>
              </a:rPr>
              <a:t>Chuẩn hóa NFC, giữ dấu, loại ảnh và nhãn lỗi.</a:t>
            </a:r>
          </a:p>
        </p:txBody>
      </p:sp>
      <p:sp>
        <p:nvSpPr>
          <p:cNvPr id="10" name="text-34">
            <a:extLst>
              <a:ext uri="{FF2B5EF4-FFF2-40B4-BE49-F238E27FC236}">
                <a16:creationId xmlns:a16="http://schemas.microsoft.com/office/drawing/2014/main" id="{656CE31B-805C-46F2-8106-5748828014AE}"/>
              </a:ext>
            </a:extLst>
          </p:cNvPr>
          <p:cNvSpPr>
            <a:spLocks noGrp="1"/>
          </p:cNvSpPr>
          <p:nvPr/>
        </p:nvSpPr>
        <p:spPr>
          <a:xfrm>
            <a:off x="609600" y="2921794"/>
            <a:ext cx="457200" cy="285750"/>
          </a:xfrm>
          <a:prstGeom prst="rect">
            <a:avLst/>
          </a:prstGeom>
          <a:noFill/>
          <a:ln w="0">
            <a:noFill/>
            <a:prstDash val="solid"/>
          </a:ln>
        </p:spPr>
        <p:txBody>
          <a:bodyPr lIns="0" tIns="0" rIns="0" bIns="0" anchor="t"/>
          <a:lstStyle>
            <a:defPPr>
              <a:defRPr sz="1620" b="1">
                <a:solidFill>
                  <a:srgbClr val="BE1E2D"/>
                </a:solidFill>
                <a:latin typeface="Lato"/>
                <a:ea typeface="Lato"/>
                <a:cs typeface="Lato"/>
              </a:defRPr>
            </a:defPPr>
            <a:lvl1pPr>
              <a:defRPr sz="1620" b="1">
                <a:solidFill>
                  <a:srgbClr val="BE1E2D"/>
                </a:solidFill>
                <a:latin typeface="Lato"/>
                <a:ea typeface="Lato"/>
                <a:cs typeface="Lato"/>
              </a:defRPr>
            </a:lvl1pPr>
            <a:lvl2pPr>
              <a:defRPr sz="1620" b="1">
                <a:solidFill>
                  <a:srgbClr val="BE1E2D"/>
                </a:solidFill>
                <a:latin typeface="Lato"/>
                <a:ea typeface="Lato"/>
                <a:cs typeface="Lato"/>
              </a:defRPr>
            </a:lvl2pPr>
            <a:lvl3pPr>
              <a:defRPr sz="1620" b="1">
                <a:solidFill>
                  <a:srgbClr val="BE1E2D"/>
                </a:solidFill>
                <a:latin typeface="Lato"/>
                <a:ea typeface="Lato"/>
                <a:cs typeface="Lato"/>
              </a:defRPr>
            </a:lvl3pPr>
            <a:lvl4pPr>
              <a:defRPr sz="1620" b="1">
                <a:solidFill>
                  <a:srgbClr val="BE1E2D"/>
                </a:solidFill>
                <a:latin typeface="Lato"/>
                <a:ea typeface="Lato"/>
                <a:cs typeface="Lato"/>
              </a:defRPr>
            </a:lvl4pPr>
            <a:lvl5pPr>
              <a:defRPr sz="1620" b="1">
                <a:solidFill>
                  <a:srgbClr val="BE1E2D"/>
                </a:solidFill>
                <a:latin typeface="Lato"/>
                <a:ea typeface="Lato"/>
                <a:cs typeface="Lato"/>
              </a:defRPr>
            </a:lvl5pPr>
            <a:lvl6pPr>
              <a:defRPr sz="1620" b="1">
                <a:solidFill>
                  <a:srgbClr val="BE1E2D"/>
                </a:solidFill>
                <a:latin typeface="Lato"/>
                <a:ea typeface="Lato"/>
                <a:cs typeface="Lato"/>
              </a:defRPr>
            </a:lvl6pPr>
            <a:lvl7pPr>
              <a:defRPr sz="1620" b="1">
                <a:solidFill>
                  <a:srgbClr val="BE1E2D"/>
                </a:solidFill>
                <a:latin typeface="Lato"/>
                <a:ea typeface="Lato"/>
                <a:cs typeface="Lato"/>
              </a:defRPr>
            </a:lvl7pPr>
            <a:lvl8pPr>
              <a:defRPr sz="1620" b="1">
                <a:solidFill>
                  <a:srgbClr val="BE1E2D"/>
                </a:solidFill>
                <a:latin typeface="Lato"/>
                <a:ea typeface="Lato"/>
                <a:cs typeface="Lato"/>
              </a:defRPr>
            </a:lvl8pPr>
            <a:lvl9pPr>
              <a:defRPr sz="1620" b="1">
                <a:solidFill>
                  <a:srgbClr val="BE1E2D"/>
                </a:solidFill>
                <a:latin typeface="Lato"/>
                <a:ea typeface="Lato"/>
                <a:cs typeface="Lato"/>
              </a:defRPr>
            </a:lvl9pPr>
          </a:lstStyle>
          <a:p>
            <a:pPr>
              <a:defRPr sz="1620" b="1">
                <a:solidFill>
                  <a:srgbClr val="BE1E2D"/>
                </a:solidFill>
                <a:latin typeface="Lato"/>
                <a:ea typeface="Lato"/>
                <a:cs typeface="Lato"/>
              </a:defRPr>
            </a:pPr>
            <a:r>
              <a:rPr sz="1620" b="1">
                <a:solidFill>
                  <a:srgbClr val="BE1E2D"/>
                </a:solidFill>
                <a:latin typeface="Lato"/>
                <a:ea typeface="Lato"/>
                <a:cs typeface="Lato"/>
              </a:rPr>
              <a:t>02</a:t>
            </a:r>
          </a:p>
        </p:txBody>
      </p:sp>
      <p:sp>
        <p:nvSpPr>
          <p:cNvPr id="11" name="text-35">
            <a:extLst>
              <a:ext uri="{FF2B5EF4-FFF2-40B4-BE49-F238E27FC236}">
                <a16:creationId xmlns:a16="http://schemas.microsoft.com/office/drawing/2014/main" id="{B6795D05-B08B-43E9-BCE2-96EB4C747048}"/>
              </a:ext>
            </a:extLst>
          </p:cNvPr>
          <p:cNvSpPr>
            <a:spLocks noGrp="1"/>
          </p:cNvSpPr>
          <p:nvPr/>
        </p:nvSpPr>
        <p:spPr>
          <a:xfrm>
            <a:off x="1165860" y="2921794"/>
            <a:ext cx="4572000" cy="271463"/>
          </a:xfrm>
          <a:prstGeom prst="rect">
            <a:avLst/>
          </a:prstGeom>
          <a:noFill/>
          <a:ln w="0">
            <a:noFill/>
            <a:prstDash val="solid"/>
          </a:ln>
        </p:spPr>
        <p:txBody>
          <a:bodyPr lIns="0" tIns="0" rIns="0" bIns="0" anchor="t"/>
          <a:lstStyle>
            <a:defPPr>
              <a:defRPr sz="1620" b="1">
                <a:solidFill>
                  <a:srgbClr val="00376F"/>
                </a:solidFill>
                <a:latin typeface="Lato"/>
                <a:ea typeface="Lato"/>
                <a:cs typeface="Lato"/>
              </a:defRPr>
            </a:defPPr>
            <a:lvl1pPr>
              <a:defRPr sz="1620" b="1">
                <a:solidFill>
                  <a:srgbClr val="00376F"/>
                </a:solidFill>
                <a:latin typeface="Lato"/>
                <a:ea typeface="Lato"/>
                <a:cs typeface="Lato"/>
              </a:defRPr>
            </a:lvl1pPr>
            <a:lvl2pPr>
              <a:defRPr sz="1620" b="1">
                <a:solidFill>
                  <a:srgbClr val="00376F"/>
                </a:solidFill>
                <a:latin typeface="Lato"/>
                <a:ea typeface="Lato"/>
                <a:cs typeface="Lato"/>
              </a:defRPr>
            </a:lvl2pPr>
            <a:lvl3pPr>
              <a:defRPr sz="1620" b="1">
                <a:solidFill>
                  <a:srgbClr val="00376F"/>
                </a:solidFill>
                <a:latin typeface="Lato"/>
                <a:ea typeface="Lato"/>
                <a:cs typeface="Lato"/>
              </a:defRPr>
            </a:lvl3pPr>
            <a:lvl4pPr>
              <a:defRPr sz="1620" b="1">
                <a:solidFill>
                  <a:srgbClr val="00376F"/>
                </a:solidFill>
                <a:latin typeface="Lato"/>
                <a:ea typeface="Lato"/>
                <a:cs typeface="Lato"/>
              </a:defRPr>
            </a:lvl4pPr>
            <a:lvl5pPr>
              <a:defRPr sz="1620" b="1">
                <a:solidFill>
                  <a:srgbClr val="00376F"/>
                </a:solidFill>
                <a:latin typeface="Lato"/>
                <a:ea typeface="Lato"/>
                <a:cs typeface="Lato"/>
              </a:defRPr>
            </a:lvl5pPr>
            <a:lvl6pPr>
              <a:defRPr sz="1620" b="1">
                <a:solidFill>
                  <a:srgbClr val="00376F"/>
                </a:solidFill>
                <a:latin typeface="Lato"/>
                <a:ea typeface="Lato"/>
                <a:cs typeface="Lato"/>
              </a:defRPr>
            </a:lvl6pPr>
            <a:lvl7pPr>
              <a:defRPr sz="1620" b="1">
                <a:solidFill>
                  <a:srgbClr val="00376F"/>
                </a:solidFill>
                <a:latin typeface="Lato"/>
                <a:ea typeface="Lato"/>
                <a:cs typeface="Lato"/>
              </a:defRPr>
            </a:lvl7pPr>
            <a:lvl8pPr>
              <a:defRPr sz="1620" b="1">
                <a:solidFill>
                  <a:srgbClr val="00376F"/>
                </a:solidFill>
                <a:latin typeface="Lato"/>
                <a:ea typeface="Lato"/>
                <a:cs typeface="Lato"/>
              </a:defRPr>
            </a:lvl8pPr>
            <a:lvl9pPr>
              <a:defRPr sz="1620" b="1">
                <a:solidFill>
                  <a:srgbClr val="00376F"/>
                </a:solidFill>
                <a:latin typeface="Lato"/>
                <a:ea typeface="Lato"/>
                <a:cs typeface="Lato"/>
              </a:defRPr>
            </a:lvl9pPr>
          </a:lstStyle>
          <a:p>
            <a:pPr>
              <a:defRPr sz="1620" b="1">
                <a:solidFill>
                  <a:srgbClr val="00376F"/>
                </a:solidFill>
                <a:latin typeface="Lato"/>
                <a:ea typeface="Lato"/>
                <a:cs typeface="Lato"/>
              </a:defRPr>
            </a:pPr>
            <a:r>
              <a:rPr sz="1620" b="1">
                <a:solidFill>
                  <a:srgbClr val="00376F"/>
                </a:solidFill>
                <a:latin typeface="Lato"/>
                <a:ea typeface="Lato"/>
                <a:cs typeface="Lato"/>
              </a:rPr>
              <a:t>Chia nhóm trước augmentation</a:t>
            </a:r>
          </a:p>
        </p:txBody>
      </p:sp>
      <p:sp>
        <p:nvSpPr>
          <p:cNvPr id="12" name="text-36">
            <a:extLst>
              <a:ext uri="{FF2B5EF4-FFF2-40B4-BE49-F238E27FC236}">
                <a16:creationId xmlns:a16="http://schemas.microsoft.com/office/drawing/2014/main" id="{FE6A0FBE-DE72-45BD-BEFE-196070E6A303}"/>
              </a:ext>
            </a:extLst>
          </p:cNvPr>
          <p:cNvSpPr>
            <a:spLocks noGrp="1"/>
          </p:cNvSpPr>
          <p:nvPr/>
        </p:nvSpPr>
        <p:spPr>
          <a:xfrm>
            <a:off x="1165860" y="3257550"/>
            <a:ext cx="4648200" cy="407194"/>
          </a:xfrm>
          <a:prstGeom prst="rect">
            <a:avLst/>
          </a:prstGeom>
          <a:noFill/>
          <a:ln w="0">
            <a:noFill/>
            <a:prstDash val="solid"/>
          </a:ln>
        </p:spPr>
        <p:txBody>
          <a:bodyPr lIns="0" tIns="0" rIns="0" bIns="0" anchor="t"/>
          <a:lstStyle>
            <a:defPPr>
              <a:defRPr sz="1380" b="0">
                <a:solidFill>
                  <a:srgbClr val="526170"/>
                </a:solidFill>
                <a:latin typeface="Lato"/>
                <a:ea typeface="Lato"/>
                <a:cs typeface="Lato"/>
              </a:defRPr>
            </a:defPPr>
            <a:lvl1pPr>
              <a:defRPr sz="1380" b="0">
                <a:solidFill>
                  <a:srgbClr val="526170"/>
                </a:solidFill>
                <a:latin typeface="Lato"/>
                <a:ea typeface="Lato"/>
                <a:cs typeface="Lato"/>
              </a:defRPr>
            </a:lvl1pPr>
            <a:lvl2pPr>
              <a:defRPr sz="1380" b="0">
                <a:solidFill>
                  <a:srgbClr val="526170"/>
                </a:solidFill>
                <a:latin typeface="Lato"/>
                <a:ea typeface="Lato"/>
                <a:cs typeface="Lato"/>
              </a:defRPr>
            </a:lvl2pPr>
            <a:lvl3pPr>
              <a:defRPr sz="1380" b="0">
                <a:solidFill>
                  <a:srgbClr val="526170"/>
                </a:solidFill>
                <a:latin typeface="Lato"/>
                <a:ea typeface="Lato"/>
                <a:cs typeface="Lato"/>
              </a:defRPr>
            </a:lvl3pPr>
            <a:lvl4pPr>
              <a:defRPr sz="1380" b="0">
                <a:solidFill>
                  <a:srgbClr val="526170"/>
                </a:solidFill>
                <a:latin typeface="Lato"/>
                <a:ea typeface="Lato"/>
                <a:cs typeface="Lato"/>
              </a:defRPr>
            </a:lvl4pPr>
            <a:lvl5pPr>
              <a:defRPr sz="1380" b="0">
                <a:solidFill>
                  <a:srgbClr val="526170"/>
                </a:solidFill>
                <a:latin typeface="Lato"/>
                <a:ea typeface="Lato"/>
                <a:cs typeface="Lato"/>
              </a:defRPr>
            </a:lvl5pPr>
            <a:lvl6pPr>
              <a:defRPr sz="1380" b="0">
                <a:solidFill>
                  <a:srgbClr val="526170"/>
                </a:solidFill>
                <a:latin typeface="Lato"/>
                <a:ea typeface="Lato"/>
                <a:cs typeface="Lato"/>
              </a:defRPr>
            </a:lvl6pPr>
            <a:lvl7pPr>
              <a:defRPr sz="1380" b="0">
                <a:solidFill>
                  <a:srgbClr val="526170"/>
                </a:solidFill>
                <a:latin typeface="Lato"/>
                <a:ea typeface="Lato"/>
                <a:cs typeface="Lato"/>
              </a:defRPr>
            </a:lvl7pPr>
            <a:lvl8pPr>
              <a:defRPr sz="1380" b="0">
                <a:solidFill>
                  <a:srgbClr val="526170"/>
                </a:solidFill>
                <a:latin typeface="Lato"/>
                <a:ea typeface="Lato"/>
                <a:cs typeface="Lato"/>
              </a:defRPr>
            </a:lvl8pPr>
            <a:lvl9pPr>
              <a:defRPr sz="1380" b="0">
                <a:solidFill>
                  <a:srgbClr val="526170"/>
                </a:solidFill>
                <a:latin typeface="Lato"/>
                <a:ea typeface="Lato"/>
                <a:cs typeface="Lato"/>
              </a:defRPr>
            </a:lvl9pPr>
          </a:lstStyle>
          <a:p>
            <a:pPr>
              <a:defRPr sz="1380" b="0">
                <a:solidFill>
                  <a:srgbClr val="526170"/>
                </a:solidFill>
                <a:latin typeface="Lato"/>
                <a:ea typeface="Lato"/>
                <a:cs typeface="Lato"/>
              </a:defRPr>
            </a:pPr>
            <a:r>
              <a:rPr sz="1380" b="0">
                <a:solidFill>
                  <a:srgbClr val="526170"/>
                </a:solidFill>
                <a:latin typeface="Lato"/>
                <a:ea typeface="Lato"/>
                <a:cs typeface="Lato"/>
              </a:rPr>
              <a:t>Cùng nguồn / ảnh gốc vào cùng một split.</a:t>
            </a:r>
          </a:p>
        </p:txBody>
      </p:sp>
      <p:sp>
        <p:nvSpPr>
          <p:cNvPr id="13" name="text-37">
            <a:extLst>
              <a:ext uri="{FF2B5EF4-FFF2-40B4-BE49-F238E27FC236}">
                <a16:creationId xmlns:a16="http://schemas.microsoft.com/office/drawing/2014/main" id="{7F9A34C5-C108-4060-A9AC-3459BE190D9A}"/>
              </a:ext>
            </a:extLst>
          </p:cNvPr>
          <p:cNvSpPr>
            <a:spLocks noGrp="1"/>
          </p:cNvSpPr>
          <p:nvPr/>
        </p:nvSpPr>
        <p:spPr>
          <a:xfrm>
            <a:off x="609600" y="3771900"/>
            <a:ext cx="457200" cy="285750"/>
          </a:xfrm>
          <a:prstGeom prst="rect">
            <a:avLst/>
          </a:prstGeom>
          <a:noFill/>
          <a:ln w="0">
            <a:noFill/>
            <a:prstDash val="solid"/>
          </a:ln>
        </p:spPr>
        <p:txBody>
          <a:bodyPr lIns="0" tIns="0" rIns="0" bIns="0" anchor="t"/>
          <a:lstStyle>
            <a:defPPr>
              <a:defRPr sz="1620" b="1">
                <a:solidFill>
                  <a:srgbClr val="BE1E2D"/>
                </a:solidFill>
                <a:latin typeface="Lato"/>
                <a:ea typeface="Lato"/>
                <a:cs typeface="Lato"/>
              </a:defRPr>
            </a:defPPr>
            <a:lvl1pPr>
              <a:defRPr sz="1620" b="1">
                <a:solidFill>
                  <a:srgbClr val="BE1E2D"/>
                </a:solidFill>
                <a:latin typeface="Lato"/>
                <a:ea typeface="Lato"/>
                <a:cs typeface="Lato"/>
              </a:defRPr>
            </a:lvl1pPr>
            <a:lvl2pPr>
              <a:defRPr sz="1620" b="1">
                <a:solidFill>
                  <a:srgbClr val="BE1E2D"/>
                </a:solidFill>
                <a:latin typeface="Lato"/>
                <a:ea typeface="Lato"/>
                <a:cs typeface="Lato"/>
              </a:defRPr>
            </a:lvl2pPr>
            <a:lvl3pPr>
              <a:defRPr sz="1620" b="1">
                <a:solidFill>
                  <a:srgbClr val="BE1E2D"/>
                </a:solidFill>
                <a:latin typeface="Lato"/>
                <a:ea typeface="Lato"/>
                <a:cs typeface="Lato"/>
              </a:defRPr>
            </a:lvl3pPr>
            <a:lvl4pPr>
              <a:defRPr sz="1620" b="1">
                <a:solidFill>
                  <a:srgbClr val="BE1E2D"/>
                </a:solidFill>
                <a:latin typeface="Lato"/>
                <a:ea typeface="Lato"/>
                <a:cs typeface="Lato"/>
              </a:defRPr>
            </a:lvl4pPr>
            <a:lvl5pPr>
              <a:defRPr sz="1620" b="1">
                <a:solidFill>
                  <a:srgbClr val="BE1E2D"/>
                </a:solidFill>
                <a:latin typeface="Lato"/>
                <a:ea typeface="Lato"/>
                <a:cs typeface="Lato"/>
              </a:defRPr>
            </a:lvl5pPr>
            <a:lvl6pPr>
              <a:defRPr sz="1620" b="1">
                <a:solidFill>
                  <a:srgbClr val="BE1E2D"/>
                </a:solidFill>
                <a:latin typeface="Lato"/>
                <a:ea typeface="Lato"/>
                <a:cs typeface="Lato"/>
              </a:defRPr>
            </a:lvl6pPr>
            <a:lvl7pPr>
              <a:defRPr sz="1620" b="1">
                <a:solidFill>
                  <a:srgbClr val="BE1E2D"/>
                </a:solidFill>
                <a:latin typeface="Lato"/>
                <a:ea typeface="Lato"/>
                <a:cs typeface="Lato"/>
              </a:defRPr>
            </a:lvl7pPr>
            <a:lvl8pPr>
              <a:defRPr sz="1620" b="1">
                <a:solidFill>
                  <a:srgbClr val="BE1E2D"/>
                </a:solidFill>
                <a:latin typeface="Lato"/>
                <a:ea typeface="Lato"/>
                <a:cs typeface="Lato"/>
              </a:defRPr>
            </a:lvl8pPr>
            <a:lvl9pPr>
              <a:defRPr sz="1620" b="1">
                <a:solidFill>
                  <a:srgbClr val="BE1E2D"/>
                </a:solidFill>
                <a:latin typeface="Lato"/>
                <a:ea typeface="Lato"/>
                <a:cs typeface="Lato"/>
              </a:defRPr>
            </a:lvl9pPr>
          </a:lstStyle>
          <a:p>
            <a:pPr>
              <a:defRPr sz="1620" b="1">
                <a:solidFill>
                  <a:srgbClr val="BE1E2D"/>
                </a:solidFill>
                <a:latin typeface="Lato"/>
                <a:ea typeface="Lato"/>
                <a:cs typeface="Lato"/>
              </a:defRPr>
            </a:pPr>
            <a:r>
              <a:rPr sz="1620" b="1">
                <a:solidFill>
                  <a:srgbClr val="BE1E2D"/>
                </a:solidFill>
                <a:latin typeface="Lato"/>
                <a:ea typeface="Lato"/>
                <a:cs typeface="Lato"/>
              </a:rPr>
              <a:t>03</a:t>
            </a:r>
          </a:p>
        </p:txBody>
      </p:sp>
      <p:sp>
        <p:nvSpPr>
          <p:cNvPr id="14" name="text-38">
            <a:extLst>
              <a:ext uri="{FF2B5EF4-FFF2-40B4-BE49-F238E27FC236}">
                <a16:creationId xmlns:a16="http://schemas.microsoft.com/office/drawing/2014/main" id="{7FD08DB3-0E48-43E8-B7D9-FBE56C425387}"/>
              </a:ext>
            </a:extLst>
          </p:cNvPr>
          <p:cNvSpPr>
            <a:spLocks noGrp="1"/>
          </p:cNvSpPr>
          <p:nvPr/>
        </p:nvSpPr>
        <p:spPr>
          <a:xfrm>
            <a:off x="1165860" y="3771900"/>
            <a:ext cx="4572000" cy="271463"/>
          </a:xfrm>
          <a:prstGeom prst="rect">
            <a:avLst/>
          </a:prstGeom>
          <a:noFill/>
          <a:ln w="0">
            <a:noFill/>
            <a:prstDash val="solid"/>
          </a:ln>
        </p:spPr>
        <p:txBody>
          <a:bodyPr lIns="0" tIns="0" rIns="0" bIns="0" anchor="t"/>
          <a:lstStyle>
            <a:defPPr>
              <a:defRPr sz="1620" b="1">
                <a:solidFill>
                  <a:srgbClr val="00376F"/>
                </a:solidFill>
                <a:latin typeface="Lato"/>
                <a:ea typeface="Lato"/>
                <a:cs typeface="Lato"/>
              </a:defRPr>
            </a:defPPr>
            <a:lvl1pPr>
              <a:defRPr sz="1620" b="1">
                <a:solidFill>
                  <a:srgbClr val="00376F"/>
                </a:solidFill>
                <a:latin typeface="Lato"/>
                <a:ea typeface="Lato"/>
                <a:cs typeface="Lato"/>
              </a:defRPr>
            </a:lvl1pPr>
            <a:lvl2pPr>
              <a:defRPr sz="1620" b="1">
                <a:solidFill>
                  <a:srgbClr val="00376F"/>
                </a:solidFill>
                <a:latin typeface="Lato"/>
                <a:ea typeface="Lato"/>
                <a:cs typeface="Lato"/>
              </a:defRPr>
            </a:lvl2pPr>
            <a:lvl3pPr>
              <a:defRPr sz="1620" b="1">
                <a:solidFill>
                  <a:srgbClr val="00376F"/>
                </a:solidFill>
                <a:latin typeface="Lato"/>
                <a:ea typeface="Lato"/>
                <a:cs typeface="Lato"/>
              </a:defRPr>
            </a:lvl3pPr>
            <a:lvl4pPr>
              <a:defRPr sz="1620" b="1">
                <a:solidFill>
                  <a:srgbClr val="00376F"/>
                </a:solidFill>
                <a:latin typeface="Lato"/>
                <a:ea typeface="Lato"/>
                <a:cs typeface="Lato"/>
              </a:defRPr>
            </a:lvl4pPr>
            <a:lvl5pPr>
              <a:defRPr sz="1620" b="1">
                <a:solidFill>
                  <a:srgbClr val="00376F"/>
                </a:solidFill>
                <a:latin typeface="Lato"/>
                <a:ea typeface="Lato"/>
                <a:cs typeface="Lato"/>
              </a:defRPr>
            </a:lvl5pPr>
            <a:lvl6pPr>
              <a:defRPr sz="1620" b="1">
                <a:solidFill>
                  <a:srgbClr val="00376F"/>
                </a:solidFill>
                <a:latin typeface="Lato"/>
                <a:ea typeface="Lato"/>
                <a:cs typeface="Lato"/>
              </a:defRPr>
            </a:lvl6pPr>
            <a:lvl7pPr>
              <a:defRPr sz="1620" b="1">
                <a:solidFill>
                  <a:srgbClr val="00376F"/>
                </a:solidFill>
                <a:latin typeface="Lato"/>
                <a:ea typeface="Lato"/>
                <a:cs typeface="Lato"/>
              </a:defRPr>
            </a:lvl7pPr>
            <a:lvl8pPr>
              <a:defRPr sz="1620" b="1">
                <a:solidFill>
                  <a:srgbClr val="00376F"/>
                </a:solidFill>
                <a:latin typeface="Lato"/>
                <a:ea typeface="Lato"/>
                <a:cs typeface="Lato"/>
              </a:defRPr>
            </a:lvl8pPr>
            <a:lvl9pPr>
              <a:defRPr sz="1620" b="1">
                <a:solidFill>
                  <a:srgbClr val="00376F"/>
                </a:solidFill>
                <a:latin typeface="Lato"/>
                <a:ea typeface="Lato"/>
                <a:cs typeface="Lato"/>
              </a:defRPr>
            </a:lvl9pPr>
          </a:lstStyle>
          <a:p>
            <a:pPr>
              <a:defRPr sz="1620" b="1">
                <a:solidFill>
                  <a:srgbClr val="00376F"/>
                </a:solidFill>
                <a:latin typeface="Lato"/>
                <a:ea typeface="Lato"/>
                <a:cs typeface="Lato"/>
              </a:defRPr>
            </a:pPr>
            <a:r>
              <a:rPr sz="1620" b="1">
                <a:solidFill>
                  <a:srgbClr val="00376F"/>
                </a:solidFill>
                <a:latin typeface="Lato"/>
                <a:ea typeface="Lato"/>
                <a:cs typeface="Lato"/>
              </a:rPr>
              <a:t>Cấu hình chung, tuning riêng</a:t>
            </a:r>
          </a:p>
        </p:txBody>
      </p:sp>
      <p:sp>
        <p:nvSpPr>
          <p:cNvPr id="15" name="text-39">
            <a:extLst>
              <a:ext uri="{FF2B5EF4-FFF2-40B4-BE49-F238E27FC236}">
                <a16:creationId xmlns:a16="http://schemas.microsoft.com/office/drawing/2014/main" id="{75FFEFDE-302B-43D1-BB52-5D4709E2DA68}"/>
              </a:ext>
            </a:extLst>
          </p:cNvPr>
          <p:cNvSpPr>
            <a:spLocks noGrp="1"/>
          </p:cNvSpPr>
          <p:nvPr/>
        </p:nvSpPr>
        <p:spPr>
          <a:xfrm>
            <a:off x="1165860" y="4107656"/>
            <a:ext cx="4648200" cy="407194"/>
          </a:xfrm>
          <a:prstGeom prst="rect">
            <a:avLst/>
          </a:prstGeom>
          <a:noFill/>
          <a:ln w="0">
            <a:noFill/>
            <a:prstDash val="solid"/>
          </a:ln>
        </p:spPr>
        <p:txBody>
          <a:bodyPr lIns="0" tIns="0" rIns="0" bIns="0" anchor="t"/>
          <a:lstStyle>
            <a:defPPr>
              <a:defRPr sz="1380" b="0">
                <a:solidFill>
                  <a:srgbClr val="526170"/>
                </a:solidFill>
                <a:latin typeface="Lato"/>
                <a:ea typeface="Lato"/>
                <a:cs typeface="Lato"/>
              </a:defRPr>
            </a:defPPr>
            <a:lvl1pPr>
              <a:defRPr sz="1380" b="0">
                <a:solidFill>
                  <a:srgbClr val="526170"/>
                </a:solidFill>
                <a:latin typeface="Lato"/>
                <a:ea typeface="Lato"/>
                <a:cs typeface="Lato"/>
              </a:defRPr>
            </a:lvl1pPr>
            <a:lvl2pPr>
              <a:defRPr sz="1380" b="0">
                <a:solidFill>
                  <a:srgbClr val="526170"/>
                </a:solidFill>
                <a:latin typeface="Lato"/>
                <a:ea typeface="Lato"/>
                <a:cs typeface="Lato"/>
              </a:defRPr>
            </a:lvl2pPr>
            <a:lvl3pPr>
              <a:defRPr sz="1380" b="0">
                <a:solidFill>
                  <a:srgbClr val="526170"/>
                </a:solidFill>
                <a:latin typeface="Lato"/>
                <a:ea typeface="Lato"/>
                <a:cs typeface="Lato"/>
              </a:defRPr>
            </a:lvl3pPr>
            <a:lvl4pPr>
              <a:defRPr sz="1380" b="0">
                <a:solidFill>
                  <a:srgbClr val="526170"/>
                </a:solidFill>
                <a:latin typeface="Lato"/>
                <a:ea typeface="Lato"/>
                <a:cs typeface="Lato"/>
              </a:defRPr>
            </a:lvl4pPr>
            <a:lvl5pPr>
              <a:defRPr sz="1380" b="0">
                <a:solidFill>
                  <a:srgbClr val="526170"/>
                </a:solidFill>
                <a:latin typeface="Lato"/>
                <a:ea typeface="Lato"/>
                <a:cs typeface="Lato"/>
              </a:defRPr>
            </a:lvl5pPr>
            <a:lvl6pPr>
              <a:defRPr sz="1380" b="0">
                <a:solidFill>
                  <a:srgbClr val="526170"/>
                </a:solidFill>
                <a:latin typeface="Lato"/>
                <a:ea typeface="Lato"/>
                <a:cs typeface="Lato"/>
              </a:defRPr>
            </a:lvl6pPr>
            <a:lvl7pPr>
              <a:defRPr sz="1380" b="0">
                <a:solidFill>
                  <a:srgbClr val="526170"/>
                </a:solidFill>
                <a:latin typeface="Lato"/>
                <a:ea typeface="Lato"/>
                <a:cs typeface="Lato"/>
              </a:defRPr>
            </a:lvl7pPr>
            <a:lvl8pPr>
              <a:defRPr sz="1380" b="0">
                <a:solidFill>
                  <a:srgbClr val="526170"/>
                </a:solidFill>
                <a:latin typeface="Lato"/>
                <a:ea typeface="Lato"/>
                <a:cs typeface="Lato"/>
              </a:defRPr>
            </a:lvl8pPr>
            <a:lvl9pPr>
              <a:defRPr sz="1380" b="0">
                <a:solidFill>
                  <a:srgbClr val="526170"/>
                </a:solidFill>
                <a:latin typeface="Lato"/>
                <a:ea typeface="Lato"/>
                <a:cs typeface="Lato"/>
              </a:defRPr>
            </a:lvl9pPr>
          </a:lstStyle>
          <a:p>
            <a:pPr>
              <a:defRPr sz="1380" b="0">
                <a:solidFill>
                  <a:srgbClr val="526170"/>
                </a:solidFill>
                <a:latin typeface="Lato"/>
                <a:ea typeface="Lato"/>
                <a:cs typeface="Lato"/>
              </a:defRPr>
            </a:pPr>
            <a:r>
              <a:rPr sz="1380" b="0">
                <a:solidFill>
                  <a:srgbClr val="526170"/>
                </a:solidFill>
                <a:latin typeface="Lato"/>
                <a:ea typeface="Lato"/>
                <a:cs typeface="Lato"/>
              </a:rPr>
              <a:t>Cùng split, seed và ngân sách tuning.</a:t>
            </a:r>
          </a:p>
        </p:txBody>
      </p:sp>
      <p:sp>
        <p:nvSpPr>
          <p:cNvPr id="16" name="text-40">
            <a:extLst>
              <a:ext uri="{FF2B5EF4-FFF2-40B4-BE49-F238E27FC236}">
                <a16:creationId xmlns:a16="http://schemas.microsoft.com/office/drawing/2014/main" id="{801BE1E9-9E1C-45FE-B692-0E359A49D38A}"/>
              </a:ext>
            </a:extLst>
          </p:cNvPr>
          <p:cNvSpPr>
            <a:spLocks noGrp="1"/>
          </p:cNvSpPr>
          <p:nvPr/>
        </p:nvSpPr>
        <p:spPr>
          <a:xfrm>
            <a:off x="609600" y="4622006"/>
            <a:ext cx="457200" cy="285750"/>
          </a:xfrm>
          <a:prstGeom prst="rect">
            <a:avLst/>
          </a:prstGeom>
          <a:noFill/>
          <a:ln w="0">
            <a:noFill/>
            <a:prstDash val="solid"/>
          </a:ln>
        </p:spPr>
        <p:txBody>
          <a:bodyPr lIns="0" tIns="0" rIns="0" bIns="0" anchor="t"/>
          <a:lstStyle>
            <a:defPPr>
              <a:defRPr sz="1620" b="1">
                <a:solidFill>
                  <a:srgbClr val="BE1E2D"/>
                </a:solidFill>
                <a:latin typeface="Lato"/>
                <a:ea typeface="Lato"/>
                <a:cs typeface="Lato"/>
              </a:defRPr>
            </a:defPPr>
            <a:lvl1pPr>
              <a:defRPr sz="1620" b="1">
                <a:solidFill>
                  <a:srgbClr val="BE1E2D"/>
                </a:solidFill>
                <a:latin typeface="Lato"/>
                <a:ea typeface="Lato"/>
                <a:cs typeface="Lato"/>
              </a:defRPr>
            </a:lvl1pPr>
            <a:lvl2pPr>
              <a:defRPr sz="1620" b="1">
                <a:solidFill>
                  <a:srgbClr val="BE1E2D"/>
                </a:solidFill>
                <a:latin typeface="Lato"/>
                <a:ea typeface="Lato"/>
                <a:cs typeface="Lato"/>
              </a:defRPr>
            </a:lvl2pPr>
            <a:lvl3pPr>
              <a:defRPr sz="1620" b="1">
                <a:solidFill>
                  <a:srgbClr val="BE1E2D"/>
                </a:solidFill>
                <a:latin typeface="Lato"/>
                <a:ea typeface="Lato"/>
                <a:cs typeface="Lato"/>
              </a:defRPr>
            </a:lvl3pPr>
            <a:lvl4pPr>
              <a:defRPr sz="1620" b="1">
                <a:solidFill>
                  <a:srgbClr val="BE1E2D"/>
                </a:solidFill>
                <a:latin typeface="Lato"/>
                <a:ea typeface="Lato"/>
                <a:cs typeface="Lato"/>
              </a:defRPr>
            </a:lvl4pPr>
            <a:lvl5pPr>
              <a:defRPr sz="1620" b="1">
                <a:solidFill>
                  <a:srgbClr val="BE1E2D"/>
                </a:solidFill>
                <a:latin typeface="Lato"/>
                <a:ea typeface="Lato"/>
                <a:cs typeface="Lato"/>
              </a:defRPr>
            </a:lvl5pPr>
            <a:lvl6pPr>
              <a:defRPr sz="1620" b="1">
                <a:solidFill>
                  <a:srgbClr val="BE1E2D"/>
                </a:solidFill>
                <a:latin typeface="Lato"/>
                <a:ea typeface="Lato"/>
                <a:cs typeface="Lato"/>
              </a:defRPr>
            </a:lvl6pPr>
            <a:lvl7pPr>
              <a:defRPr sz="1620" b="1">
                <a:solidFill>
                  <a:srgbClr val="BE1E2D"/>
                </a:solidFill>
                <a:latin typeface="Lato"/>
                <a:ea typeface="Lato"/>
                <a:cs typeface="Lato"/>
              </a:defRPr>
            </a:lvl7pPr>
            <a:lvl8pPr>
              <a:defRPr sz="1620" b="1">
                <a:solidFill>
                  <a:srgbClr val="BE1E2D"/>
                </a:solidFill>
                <a:latin typeface="Lato"/>
                <a:ea typeface="Lato"/>
                <a:cs typeface="Lato"/>
              </a:defRPr>
            </a:lvl8pPr>
            <a:lvl9pPr>
              <a:defRPr sz="1620" b="1">
                <a:solidFill>
                  <a:srgbClr val="BE1E2D"/>
                </a:solidFill>
                <a:latin typeface="Lato"/>
                <a:ea typeface="Lato"/>
                <a:cs typeface="Lato"/>
              </a:defRPr>
            </a:lvl9pPr>
          </a:lstStyle>
          <a:p>
            <a:pPr>
              <a:defRPr sz="1620" b="1">
                <a:solidFill>
                  <a:srgbClr val="BE1E2D"/>
                </a:solidFill>
                <a:latin typeface="Lato"/>
                <a:ea typeface="Lato"/>
                <a:cs typeface="Lato"/>
              </a:defRPr>
            </a:pPr>
            <a:r>
              <a:rPr sz="1620" b="1">
                <a:solidFill>
                  <a:srgbClr val="BE1E2D"/>
                </a:solidFill>
                <a:latin typeface="Lato"/>
                <a:ea typeface="Lato"/>
                <a:cs typeface="Lato"/>
              </a:rPr>
              <a:t>04</a:t>
            </a:r>
          </a:p>
        </p:txBody>
      </p:sp>
      <p:sp>
        <p:nvSpPr>
          <p:cNvPr id="17" name="text-41">
            <a:extLst>
              <a:ext uri="{FF2B5EF4-FFF2-40B4-BE49-F238E27FC236}">
                <a16:creationId xmlns:a16="http://schemas.microsoft.com/office/drawing/2014/main" id="{4864BCA2-02A2-479C-AF76-CDC902A66EE9}"/>
              </a:ext>
            </a:extLst>
          </p:cNvPr>
          <p:cNvSpPr>
            <a:spLocks noGrp="1"/>
          </p:cNvSpPr>
          <p:nvPr/>
        </p:nvSpPr>
        <p:spPr>
          <a:xfrm>
            <a:off x="1165860" y="4622006"/>
            <a:ext cx="4572000" cy="271463"/>
          </a:xfrm>
          <a:prstGeom prst="rect">
            <a:avLst/>
          </a:prstGeom>
          <a:noFill/>
          <a:ln w="0">
            <a:noFill/>
            <a:prstDash val="solid"/>
          </a:ln>
        </p:spPr>
        <p:txBody>
          <a:bodyPr lIns="0" tIns="0" rIns="0" bIns="0" anchor="t"/>
          <a:lstStyle>
            <a:defPPr>
              <a:defRPr sz="1620" b="1">
                <a:solidFill>
                  <a:srgbClr val="00376F"/>
                </a:solidFill>
                <a:latin typeface="Lato"/>
                <a:ea typeface="Lato"/>
                <a:cs typeface="Lato"/>
              </a:defRPr>
            </a:defPPr>
            <a:lvl1pPr>
              <a:defRPr sz="1620" b="1">
                <a:solidFill>
                  <a:srgbClr val="00376F"/>
                </a:solidFill>
                <a:latin typeface="Lato"/>
                <a:ea typeface="Lato"/>
                <a:cs typeface="Lato"/>
              </a:defRPr>
            </a:lvl1pPr>
            <a:lvl2pPr>
              <a:defRPr sz="1620" b="1">
                <a:solidFill>
                  <a:srgbClr val="00376F"/>
                </a:solidFill>
                <a:latin typeface="Lato"/>
                <a:ea typeface="Lato"/>
                <a:cs typeface="Lato"/>
              </a:defRPr>
            </a:lvl2pPr>
            <a:lvl3pPr>
              <a:defRPr sz="1620" b="1">
                <a:solidFill>
                  <a:srgbClr val="00376F"/>
                </a:solidFill>
                <a:latin typeface="Lato"/>
                <a:ea typeface="Lato"/>
                <a:cs typeface="Lato"/>
              </a:defRPr>
            </a:lvl3pPr>
            <a:lvl4pPr>
              <a:defRPr sz="1620" b="1">
                <a:solidFill>
                  <a:srgbClr val="00376F"/>
                </a:solidFill>
                <a:latin typeface="Lato"/>
                <a:ea typeface="Lato"/>
                <a:cs typeface="Lato"/>
              </a:defRPr>
            </a:lvl4pPr>
            <a:lvl5pPr>
              <a:defRPr sz="1620" b="1">
                <a:solidFill>
                  <a:srgbClr val="00376F"/>
                </a:solidFill>
                <a:latin typeface="Lato"/>
                <a:ea typeface="Lato"/>
                <a:cs typeface="Lato"/>
              </a:defRPr>
            </a:lvl5pPr>
            <a:lvl6pPr>
              <a:defRPr sz="1620" b="1">
                <a:solidFill>
                  <a:srgbClr val="00376F"/>
                </a:solidFill>
                <a:latin typeface="Lato"/>
                <a:ea typeface="Lato"/>
                <a:cs typeface="Lato"/>
              </a:defRPr>
            </a:lvl6pPr>
            <a:lvl7pPr>
              <a:defRPr sz="1620" b="1">
                <a:solidFill>
                  <a:srgbClr val="00376F"/>
                </a:solidFill>
                <a:latin typeface="Lato"/>
                <a:ea typeface="Lato"/>
                <a:cs typeface="Lato"/>
              </a:defRPr>
            </a:lvl7pPr>
            <a:lvl8pPr>
              <a:defRPr sz="1620" b="1">
                <a:solidFill>
                  <a:srgbClr val="00376F"/>
                </a:solidFill>
                <a:latin typeface="Lato"/>
                <a:ea typeface="Lato"/>
                <a:cs typeface="Lato"/>
              </a:defRPr>
            </a:lvl8pPr>
            <a:lvl9pPr>
              <a:defRPr sz="1620" b="1">
                <a:solidFill>
                  <a:srgbClr val="00376F"/>
                </a:solidFill>
                <a:latin typeface="Lato"/>
                <a:ea typeface="Lato"/>
                <a:cs typeface="Lato"/>
              </a:defRPr>
            </a:lvl9pPr>
          </a:lstStyle>
          <a:p>
            <a:pPr>
              <a:defRPr sz="1620" b="1">
                <a:solidFill>
                  <a:srgbClr val="00376F"/>
                </a:solidFill>
                <a:latin typeface="Lato"/>
                <a:ea typeface="Lato"/>
                <a:cs typeface="Lato"/>
              </a:defRPr>
            </a:pPr>
            <a:r>
              <a:rPr sz="1620" b="1">
                <a:solidFill>
                  <a:srgbClr val="00376F"/>
                </a:solidFill>
                <a:latin typeface="Lato"/>
                <a:ea typeface="Lato"/>
                <a:cs typeface="Lato"/>
              </a:rPr>
              <a:t>Theo dõi khả năng hội tụ</a:t>
            </a:r>
          </a:p>
        </p:txBody>
      </p:sp>
      <p:sp>
        <p:nvSpPr>
          <p:cNvPr id="18" name="text-42">
            <a:extLst>
              <a:ext uri="{FF2B5EF4-FFF2-40B4-BE49-F238E27FC236}">
                <a16:creationId xmlns:a16="http://schemas.microsoft.com/office/drawing/2014/main" id="{F39D998C-368F-4864-8B2A-970D7B2EC593}"/>
              </a:ext>
            </a:extLst>
          </p:cNvPr>
          <p:cNvSpPr>
            <a:spLocks noGrp="1"/>
          </p:cNvSpPr>
          <p:nvPr/>
        </p:nvSpPr>
        <p:spPr>
          <a:xfrm>
            <a:off x="1165860" y="4957763"/>
            <a:ext cx="4648200" cy="407194"/>
          </a:xfrm>
          <a:prstGeom prst="rect">
            <a:avLst/>
          </a:prstGeom>
          <a:noFill/>
          <a:ln w="0">
            <a:noFill/>
            <a:prstDash val="solid"/>
          </a:ln>
        </p:spPr>
        <p:txBody>
          <a:bodyPr lIns="0" tIns="0" rIns="0" bIns="0" anchor="t"/>
          <a:lstStyle>
            <a:defPPr>
              <a:defRPr sz="1380" b="0">
                <a:solidFill>
                  <a:srgbClr val="526170"/>
                </a:solidFill>
                <a:latin typeface="Lato"/>
                <a:ea typeface="Lato"/>
                <a:cs typeface="Lato"/>
              </a:defRPr>
            </a:defPPr>
            <a:lvl1pPr>
              <a:defRPr sz="1380" b="0">
                <a:solidFill>
                  <a:srgbClr val="526170"/>
                </a:solidFill>
                <a:latin typeface="Lato"/>
                <a:ea typeface="Lato"/>
                <a:cs typeface="Lato"/>
              </a:defRPr>
            </a:lvl1pPr>
            <a:lvl2pPr>
              <a:defRPr sz="1380" b="0">
                <a:solidFill>
                  <a:srgbClr val="526170"/>
                </a:solidFill>
                <a:latin typeface="Lato"/>
                <a:ea typeface="Lato"/>
                <a:cs typeface="Lato"/>
              </a:defRPr>
            </a:lvl2pPr>
            <a:lvl3pPr>
              <a:defRPr sz="1380" b="0">
                <a:solidFill>
                  <a:srgbClr val="526170"/>
                </a:solidFill>
                <a:latin typeface="Lato"/>
                <a:ea typeface="Lato"/>
                <a:cs typeface="Lato"/>
              </a:defRPr>
            </a:lvl3pPr>
            <a:lvl4pPr>
              <a:defRPr sz="1380" b="0">
                <a:solidFill>
                  <a:srgbClr val="526170"/>
                </a:solidFill>
                <a:latin typeface="Lato"/>
                <a:ea typeface="Lato"/>
                <a:cs typeface="Lato"/>
              </a:defRPr>
            </a:lvl4pPr>
            <a:lvl5pPr>
              <a:defRPr sz="1380" b="0">
                <a:solidFill>
                  <a:srgbClr val="526170"/>
                </a:solidFill>
                <a:latin typeface="Lato"/>
                <a:ea typeface="Lato"/>
                <a:cs typeface="Lato"/>
              </a:defRPr>
            </a:lvl5pPr>
            <a:lvl6pPr>
              <a:defRPr sz="1380" b="0">
                <a:solidFill>
                  <a:srgbClr val="526170"/>
                </a:solidFill>
                <a:latin typeface="Lato"/>
                <a:ea typeface="Lato"/>
                <a:cs typeface="Lato"/>
              </a:defRPr>
            </a:lvl6pPr>
            <a:lvl7pPr>
              <a:defRPr sz="1380" b="0">
                <a:solidFill>
                  <a:srgbClr val="526170"/>
                </a:solidFill>
                <a:latin typeface="Lato"/>
                <a:ea typeface="Lato"/>
                <a:cs typeface="Lato"/>
              </a:defRPr>
            </a:lvl7pPr>
            <a:lvl8pPr>
              <a:defRPr sz="1380" b="0">
                <a:solidFill>
                  <a:srgbClr val="526170"/>
                </a:solidFill>
                <a:latin typeface="Lato"/>
                <a:ea typeface="Lato"/>
                <a:cs typeface="Lato"/>
              </a:defRPr>
            </a:lvl8pPr>
            <a:lvl9pPr>
              <a:defRPr sz="1380" b="0">
                <a:solidFill>
                  <a:srgbClr val="526170"/>
                </a:solidFill>
                <a:latin typeface="Lato"/>
                <a:ea typeface="Lato"/>
                <a:cs typeface="Lato"/>
              </a:defRPr>
            </a:lvl9pPr>
          </a:lstStyle>
          <a:p>
            <a:pPr>
              <a:defRPr sz="1380" b="0">
                <a:solidFill>
                  <a:srgbClr val="526170"/>
                </a:solidFill>
                <a:latin typeface="Lato"/>
                <a:ea typeface="Lato"/>
                <a:cs typeface="Lato"/>
              </a:defRPr>
            </a:pPr>
            <a:r>
              <a:rPr sz="1380" b="0">
                <a:solidFill>
                  <a:srgbClr val="526170"/>
                </a:solidFill>
                <a:latin typeface="Lato"/>
                <a:ea typeface="Lato"/>
                <a:cs typeface="Lato"/>
              </a:rPr>
              <a:t>AdamW, warm-up, gradient clipping, AMP.</a:t>
            </a:r>
          </a:p>
        </p:txBody>
      </p:sp>
      <p:sp>
        <p:nvSpPr>
          <p:cNvPr id="19" name="text-43">
            <a:extLst>
              <a:ext uri="{FF2B5EF4-FFF2-40B4-BE49-F238E27FC236}">
                <a16:creationId xmlns:a16="http://schemas.microsoft.com/office/drawing/2014/main" id="{FD56E894-8339-49EC-8FB6-B99C800F1190}"/>
              </a:ext>
            </a:extLst>
          </p:cNvPr>
          <p:cNvSpPr>
            <a:spLocks noGrp="1"/>
          </p:cNvSpPr>
          <p:nvPr/>
        </p:nvSpPr>
        <p:spPr>
          <a:xfrm>
            <a:off x="6362700" y="1614488"/>
            <a:ext cx="5181600" cy="285750"/>
          </a:xfrm>
          <a:prstGeom prst="rect">
            <a:avLst/>
          </a:prstGeom>
          <a:noFill/>
          <a:ln w="0">
            <a:noFill/>
            <a:prstDash val="solid"/>
          </a:ln>
        </p:spPr>
        <p:txBody>
          <a:bodyPr lIns="0" tIns="0" rIns="0" bIns="0" anchor="t"/>
          <a:lstStyle>
            <a:defPPr>
              <a:defRPr sz="1620" b="1">
                <a:solidFill>
                  <a:srgbClr val="BE1E2D"/>
                </a:solidFill>
                <a:latin typeface="Lato"/>
                <a:ea typeface="Lato"/>
                <a:cs typeface="Lato"/>
              </a:defRPr>
            </a:defPPr>
            <a:lvl1pPr>
              <a:defRPr sz="1620" b="1">
                <a:solidFill>
                  <a:srgbClr val="BE1E2D"/>
                </a:solidFill>
                <a:latin typeface="Lato"/>
                <a:ea typeface="Lato"/>
                <a:cs typeface="Lato"/>
              </a:defRPr>
            </a:lvl1pPr>
            <a:lvl2pPr>
              <a:defRPr sz="1620" b="1">
                <a:solidFill>
                  <a:srgbClr val="BE1E2D"/>
                </a:solidFill>
                <a:latin typeface="Lato"/>
                <a:ea typeface="Lato"/>
                <a:cs typeface="Lato"/>
              </a:defRPr>
            </a:lvl2pPr>
            <a:lvl3pPr>
              <a:defRPr sz="1620" b="1">
                <a:solidFill>
                  <a:srgbClr val="BE1E2D"/>
                </a:solidFill>
                <a:latin typeface="Lato"/>
                <a:ea typeface="Lato"/>
                <a:cs typeface="Lato"/>
              </a:defRPr>
            </a:lvl3pPr>
            <a:lvl4pPr>
              <a:defRPr sz="1620" b="1">
                <a:solidFill>
                  <a:srgbClr val="BE1E2D"/>
                </a:solidFill>
                <a:latin typeface="Lato"/>
                <a:ea typeface="Lato"/>
                <a:cs typeface="Lato"/>
              </a:defRPr>
            </a:lvl4pPr>
            <a:lvl5pPr>
              <a:defRPr sz="1620" b="1">
                <a:solidFill>
                  <a:srgbClr val="BE1E2D"/>
                </a:solidFill>
                <a:latin typeface="Lato"/>
                <a:ea typeface="Lato"/>
                <a:cs typeface="Lato"/>
              </a:defRPr>
            </a:lvl5pPr>
            <a:lvl6pPr>
              <a:defRPr sz="1620" b="1">
                <a:solidFill>
                  <a:srgbClr val="BE1E2D"/>
                </a:solidFill>
                <a:latin typeface="Lato"/>
                <a:ea typeface="Lato"/>
                <a:cs typeface="Lato"/>
              </a:defRPr>
            </a:lvl6pPr>
            <a:lvl7pPr>
              <a:defRPr sz="1620" b="1">
                <a:solidFill>
                  <a:srgbClr val="BE1E2D"/>
                </a:solidFill>
                <a:latin typeface="Lato"/>
                <a:ea typeface="Lato"/>
                <a:cs typeface="Lato"/>
              </a:defRPr>
            </a:lvl7pPr>
            <a:lvl8pPr>
              <a:defRPr sz="1620" b="1">
                <a:solidFill>
                  <a:srgbClr val="BE1E2D"/>
                </a:solidFill>
                <a:latin typeface="Lato"/>
                <a:ea typeface="Lato"/>
                <a:cs typeface="Lato"/>
              </a:defRPr>
            </a:lvl8pPr>
            <a:lvl9pPr>
              <a:defRPr sz="1620" b="1">
                <a:solidFill>
                  <a:srgbClr val="BE1E2D"/>
                </a:solidFill>
                <a:latin typeface="Lato"/>
                <a:ea typeface="Lato"/>
                <a:cs typeface="Lato"/>
              </a:defRPr>
            </a:lvl9pPr>
          </a:lstStyle>
          <a:p>
            <a:pPr>
              <a:defRPr sz="1620" b="1">
                <a:solidFill>
                  <a:srgbClr val="BE1E2D"/>
                </a:solidFill>
                <a:latin typeface="Lato"/>
                <a:ea typeface="Lato"/>
                <a:cs typeface="Lato"/>
              </a:defRPr>
            </a:pPr>
            <a:r>
              <a:rPr lang="en-US" sz="1620" b="1" dirty="0">
                <a:solidFill>
                  <a:srgbClr val="BE1E2D"/>
                </a:solidFill>
                <a:latin typeface="Lato"/>
                <a:ea typeface="Lato"/>
                <a:cs typeface="Lato"/>
              </a:rPr>
              <a:t>CÁC ĐỘ ĐO</a:t>
            </a:r>
            <a:endParaRPr sz="1620" b="1" dirty="0">
              <a:solidFill>
                <a:srgbClr val="BE1E2D"/>
              </a:solidFill>
              <a:latin typeface="Lato"/>
              <a:ea typeface="Lato"/>
              <a:cs typeface="Lato"/>
            </a:endParaRPr>
          </a:p>
        </p:txBody>
      </p:sp>
      <p:graphicFrame>
        <p:nvGraphicFramePr>
          <p:cNvPr id="20" name="Table 19">
            <a:extLst>
              <a:ext uri="{FF2B5EF4-FFF2-40B4-BE49-F238E27FC236}">
                <a16:creationId xmlns:a16="http://schemas.microsoft.com/office/drawing/2014/main" id="{2B24117D-9754-496D-A5AB-E0E403848AF3}"/>
              </a:ext>
            </a:extLst>
          </p:cNvPr>
          <p:cNvGraphicFramePr/>
          <p:nvPr/>
        </p:nvGraphicFramePr>
        <p:xfrm>
          <a:off x="6362700" y="2057400"/>
          <a:ext cx="5219700" cy="2893218"/>
        </p:xfrm>
        <a:graphic>
          <a:graphicData uri="http://schemas.openxmlformats.org/drawingml/2006/table">
            <a:tbl>
              <a:tblPr/>
              <a:tblGrid>
                <a:gridCol w="19812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tblGrid>
              <a:tr h="482203">
                <a:tc>
                  <a:txBody>
                    <a:bodyPr/>
                    <a:lstStyle/>
                    <a:p>
                      <a:r>
                        <a:rPr sz="1380" b="1">
                          <a:solidFill>
                            <a:srgbClr val="FFFFFF"/>
                          </a:solidFill>
                          <a:latin typeface="Lato"/>
                          <a:ea typeface="Lato"/>
                          <a:cs typeface="Lato"/>
                        </a:rPr>
                        <a:t>Chỉ số</a:t>
                      </a:r>
                    </a:p>
                  </a:txBody>
                  <a:tcPr>
                    <a:lnL w="9525">
                      <a:solidFill>
                        <a:srgbClr val="CBD5E0"/>
                      </a:solidFill>
                      <a:prstDash val="solid"/>
                    </a:lnL>
                    <a:lnR w="9525">
                      <a:solidFill>
                        <a:srgbClr val="CBD5E0"/>
                      </a:solidFill>
                      <a:prstDash val="solid"/>
                    </a:lnR>
                    <a:lnT w="9525">
                      <a:solidFill>
                        <a:srgbClr val="CBD5E0"/>
                      </a:solidFill>
                      <a:prstDash val="solid"/>
                    </a:lnT>
                    <a:lnB w="9525">
                      <a:solidFill>
                        <a:srgbClr val="CBD5E0"/>
                      </a:solidFill>
                      <a:prstDash val="solid"/>
                    </a:lnB>
                    <a:solidFill>
                      <a:srgbClr val="003063"/>
                    </a:solidFill>
                  </a:tcPr>
                </a:tc>
                <a:tc>
                  <a:txBody>
                    <a:bodyPr/>
                    <a:lstStyle/>
                    <a:p>
                      <a:r>
                        <a:rPr sz="1380" b="1">
                          <a:solidFill>
                            <a:srgbClr val="FFFFFF"/>
                          </a:solidFill>
                          <a:latin typeface="Lato"/>
                          <a:ea typeface="Lato"/>
                          <a:cs typeface="Lato"/>
                        </a:rPr>
                        <a:t>Ý nghĩa</a:t>
                      </a:r>
                    </a:p>
                  </a:txBody>
                  <a:tcPr>
                    <a:lnL w="9525" cap="flat" cmpd="sng" algn="ctr">
                      <a:solidFill>
                        <a:srgbClr val="CBD5E0"/>
                      </a:solidFill>
                      <a:prstDash val="solid"/>
                      <a:round/>
                      <a:headEnd type="none" w="med" len="med"/>
                      <a:tailEnd type="none" w="med" len="med"/>
                    </a:lnL>
                    <a:lnR w="9525">
                      <a:solidFill>
                        <a:srgbClr val="CBD5E0"/>
                      </a:solidFill>
                      <a:prstDash val="solid"/>
                    </a:lnR>
                    <a:lnT w="9525">
                      <a:solidFill>
                        <a:srgbClr val="CBD5E0"/>
                      </a:solidFill>
                      <a:prstDash val="solid"/>
                    </a:lnT>
                    <a:lnB w="9525">
                      <a:solidFill>
                        <a:srgbClr val="CBD5E0"/>
                      </a:solidFill>
                      <a:prstDash val="solid"/>
                    </a:lnB>
                    <a:solidFill>
                      <a:srgbClr val="003063"/>
                    </a:solidFill>
                  </a:tcPr>
                </a:tc>
                <a:extLst>
                  <a:ext uri="{0D108BD9-81ED-4DB2-BD59-A6C34878D82A}">
                    <a16:rowId xmlns:a16="http://schemas.microsoft.com/office/drawing/2014/main" val="10000"/>
                  </a:ext>
                </a:extLst>
              </a:tr>
              <a:tr h="482203">
                <a:tc>
                  <a:txBody>
                    <a:bodyPr/>
                    <a:lstStyle/>
                    <a:p>
                      <a:r>
                        <a:rPr sz="1380" b="0" dirty="0">
                          <a:solidFill>
                            <a:srgbClr val="00376F"/>
                          </a:solidFill>
                          <a:latin typeface="Lato"/>
                          <a:ea typeface="Lato"/>
                          <a:cs typeface="Lato"/>
                        </a:rPr>
                        <a:t>CER ↓ (</a:t>
                      </a:r>
                      <a:r>
                        <a:rPr sz="1380" b="0" dirty="0" err="1">
                          <a:solidFill>
                            <a:srgbClr val="00376F"/>
                          </a:solidFill>
                          <a:latin typeface="Lato"/>
                          <a:ea typeface="Lato"/>
                          <a:cs typeface="Lato"/>
                        </a:rPr>
                        <a:t>chính</a:t>
                      </a:r>
                      <a:r>
                        <a:rPr sz="1380" b="0" dirty="0">
                          <a:solidFill>
                            <a:srgbClr val="00376F"/>
                          </a:solidFill>
                          <a:latin typeface="Lato"/>
                          <a:ea typeface="Lato"/>
                          <a:cs typeface="Lato"/>
                        </a:rPr>
                        <a:t>)</a:t>
                      </a:r>
                    </a:p>
                  </a:txBody>
                  <a:tcPr>
                    <a:lnL w="9525">
                      <a:solidFill>
                        <a:srgbClr val="CBD5E0"/>
                      </a:solidFill>
                      <a:prstDash val="soli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tc>
                  <a:txBody>
                    <a:bodyPr/>
                    <a:lstStyle/>
                    <a:p>
                      <a:r>
                        <a:rPr sz="1380" b="0">
                          <a:solidFill>
                            <a:srgbClr val="00376F"/>
                          </a:solidFill>
                          <a:latin typeface="Lato"/>
                          <a:ea typeface="Lato"/>
                          <a:cs typeface="Lato"/>
                        </a:rPr>
                        <a:t>Lỗi ký tự / số ký tự nhãn</a:t>
                      </a: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extLst>
                  <a:ext uri="{0D108BD9-81ED-4DB2-BD59-A6C34878D82A}">
                    <a16:rowId xmlns:a16="http://schemas.microsoft.com/office/drawing/2014/main" val="10001"/>
                  </a:ext>
                </a:extLst>
              </a:tr>
              <a:tr h="482203">
                <a:tc>
                  <a:txBody>
                    <a:bodyPr/>
                    <a:lstStyle/>
                    <a:p>
                      <a:r>
                        <a:rPr sz="1380" b="0" dirty="0">
                          <a:solidFill>
                            <a:srgbClr val="00376F"/>
                          </a:solidFill>
                          <a:latin typeface="Lato"/>
                          <a:ea typeface="Lato"/>
                          <a:cs typeface="Lato"/>
                        </a:rPr>
                        <a:t>WER ↓</a:t>
                      </a:r>
                    </a:p>
                  </a:txBody>
                  <a:tcPr>
                    <a:lnL w="9525">
                      <a:solidFill>
                        <a:srgbClr val="CBD5E0"/>
                      </a:solidFill>
                      <a:prstDash val="soli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tc>
                  <a:txBody>
                    <a:bodyPr/>
                    <a:lstStyle/>
                    <a:p>
                      <a:r>
                        <a:rPr sz="1380" b="0" dirty="0" err="1">
                          <a:solidFill>
                            <a:srgbClr val="00376F"/>
                          </a:solidFill>
                          <a:latin typeface="Lato"/>
                          <a:ea typeface="Lato"/>
                          <a:cs typeface="Lato"/>
                        </a:rPr>
                        <a:t>Lỗi</a:t>
                      </a:r>
                      <a:r>
                        <a:rPr sz="1380" b="0" dirty="0">
                          <a:solidFill>
                            <a:srgbClr val="00376F"/>
                          </a:solidFill>
                          <a:latin typeface="Lato"/>
                          <a:ea typeface="Lato"/>
                          <a:cs typeface="Lato"/>
                        </a:rPr>
                        <a:t> token </a:t>
                      </a:r>
                      <a:r>
                        <a:rPr sz="1380" b="0" dirty="0" err="1">
                          <a:solidFill>
                            <a:srgbClr val="00376F"/>
                          </a:solidFill>
                          <a:latin typeface="Lato"/>
                          <a:ea typeface="Lato"/>
                          <a:cs typeface="Lato"/>
                        </a:rPr>
                        <a:t>tách</a:t>
                      </a:r>
                      <a:r>
                        <a:rPr sz="1380" b="0" dirty="0">
                          <a:solidFill>
                            <a:srgbClr val="00376F"/>
                          </a:solidFill>
                          <a:latin typeface="Lato"/>
                          <a:ea typeface="Lato"/>
                          <a:cs typeface="Lato"/>
                        </a:rPr>
                        <a:t> </a:t>
                      </a:r>
                      <a:r>
                        <a:rPr sz="1380" b="0" dirty="0" err="1">
                          <a:solidFill>
                            <a:srgbClr val="00376F"/>
                          </a:solidFill>
                          <a:latin typeface="Lato"/>
                          <a:ea typeface="Lato"/>
                          <a:cs typeface="Lato"/>
                        </a:rPr>
                        <a:t>bằng</a:t>
                      </a:r>
                      <a:r>
                        <a:rPr sz="1380" b="0" dirty="0">
                          <a:solidFill>
                            <a:srgbClr val="00376F"/>
                          </a:solidFill>
                          <a:latin typeface="Lato"/>
                          <a:ea typeface="Lato"/>
                          <a:cs typeface="Lato"/>
                        </a:rPr>
                        <a:t> </a:t>
                      </a:r>
                      <a:r>
                        <a:rPr sz="1380" b="0" dirty="0" err="1">
                          <a:solidFill>
                            <a:srgbClr val="00376F"/>
                          </a:solidFill>
                          <a:latin typeface="Lato"/>
                          <a:ea typeface="Lato"/>
                          <a:cs typeface="Lato"/>
                        </a:rPr>
                        <a:t>khoảng</a:t>
                      </a:r>
                      <a:r>
                        <a:rPr sz="1380" b="0" dirty="0">
                          <a:solidFill>
                            <a:srgbClr val="00376F"/>
                          </a:solidFill>
                          <a:latin typeface="Lato"/>
                          <a:ea typeface="Lato"/>
                          <a:cs typeface="Lato"/>
                        </a:rPr>
                        <a:t> </a:t>
                      </a:r>
                      <a:r>
                        <a:rPr sz="1380" b="0" dirty="0" err="1">
                          <a:solidFill>
                            <a:srgbClr val="00376F"/>
                          </a:solidFill>
                          <a:latin typeface="Lato"/>
                          <a:ea typeface="Lato"/>
                          <a:cs typeface="Lato"/>
                        </a:rPr>
                        <a:t>trắng</a:t>
                      </a:r>
                      <a:endParaRPr sz="138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extLst>
                  <a:ext uri="{0D108BD9-81ED-4DB2-BD59-A6C34878D82A}">
                    <a16:rowId xmlns:a16="http://schemas.microsoft.com/office/drawing/2014/main" val="10002"/>
                  </a:ext>
                </a:extLst>
              </a:tr>
              <a:tr h="482203">
                <a:tc>
                  <a:txBody>
                    <a:bodyPr/>
                    <a:lstStyle/>
                    <a:p>
                      <a:r>
                        <a:rPr sz="1380" b="0">
                          <a:solidFill>
                            <a:srgbClr val="00376F"/>
                          </a:solidFill>
                          <a:latin typeface="Lato"/>
                          <a:ea typeface="Lato"/>
                          <a:cs typeface="Lato"/>
                        </a:rPr>
                        <a:t>Exact match ↑</a:t>
                      </a:r>
                    </a:p>
                  </a:txBody>
                  <a:tcPr>
                    <a:lnL w="9525">
                      <a:solidFill>
                        <a:srgbClr val="CBD5E0"/>
                      </a:solidFill>
                      <a:prstDash val="soli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tc>
                  <a:txBody>
                    <a:bodyPr/>
                    <a:lstStyle/>
                    <a:p>
                      <a:r>
                        <a:rPr sz="1380" b="0">
                          <a:solidFill>
                            <a:srgbClr val="00376F"/>
                          </a:solidFill>
                          <a:latin typeface="Lato"/>
                          <a:ea typeface="Lato"/>
                          <a:cs typeface="Lato"/>
                        </a:rPr>
                        <a:t>Tỷ lệ dòng đúng hoàn toàn</a:t>
                      </a: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extLst>
                  <a:ext uri="{0D108BD9-81ED-4DB2-BD59-A6C34878D82A}">
                    <a16:rowId xmlns:a16="http://schemas.microsoft.com/office/drawing/2014/main" val="10003"/>
                  </a:ext>
                </a:extLst>
              </a:tr>
              <a:tr h="482203">
                <a:tc>
                  <a:txBody>
                    <a:bodyPr/>
                    <a:lstStyle/>
                    <a:p>
                      <a:r>
                        <a:rPr sz="1380" b="0">
                          <a:solidFill>
                            <a:srgbClr val="00376F"/>
                          </a:solidFill>
                          <a:latin typeface="Lato"/>
                          <a:ea typeface="Lato"/>
                          <a:cs typeface="Lato"/>
                        </a:rPr>
                        <a:t>Latency / VRAM</a:t>
                      </a:r>
                    </a:p>
                  </a:txBody>
                  <a:tcPr>
                    <a:lnL w="9525">
                      <a:solidFill>
                        <a:srgbClr val="CBD5E0"/>
                      </a:solidFill>
                      <a:prstDash val="soli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tc>
                  <a:txBody>
                    <a:bodyPr/>
                    <a:lstStyle/>
                    <a:p>
                      <a:r>
                        <a:rPr sz="1380" b="0">
                          <a:solidFill>
                            <a:srgbClr val="00376F"/>
                          </a:solidFill>
                          <a:latin typeface="Lato"/>
                          <a:ea typeface="Lato"/>
                          <a:cs typeface="Lato"/>
                        </a:rPr>
                        <a:t>ms/dòng, batch 1, cùng GPU</a:t>
                      </a: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extLst>
                  <a:ext uri="{0D108BD9-81ED-4DB2-BD59-A6C34878D82A}">
                    <a16:rowId xmlns:a16="http://schemas.microsoft.com/office/drawing/2014/main" val="10004"/>
                  </a:ext>
                </a:extLst>
              </a:tr>
              <a:tr h="482203">
                <a:tc>
                  <a:txBody>
                    <a:bodyPr/>
                    <a:lstStyle/>
                    <a:p>
                      <a:r>
                        <a:rPr sz="1380" b="0">
                          <a:solidFill>
                            <a:srgbClr val="00376F"/>
                          </a:solidFill>
                          <a:latin typeface="Lato"/>
                          <a:ea typeface="Lato"/>
                          <a:cs typeface="Lato"/>
                        </a:rPr>
                        <a:t>Tham số</a:t>
                      </a:r>
                    </a:p>
                  </a:txBody>
                  <a:tcPr>
                    <a:lnL w="9525">
                      <a:solidFill>
                        <a:srgbClr val="CBD5E0"/>
                      </a:solidFill>
                      <a:prstDash val="soli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tc>
                  <a:txBody>
                    <a:bodyPr/>
                    <a:lstStyle/>
                    <a:p>
                      <a:r>
                        <a:rPr sz="1380" b="0" dirty="0" err="1">
                          <a:solidFill>
                            <a:srgbClr val="00376F"/>
                          </a:solidFill>
                          <a:latin typeface="Lato"/>
                          <a:ea typeface="Lato"/>
                          <a:cs typeface="Lato"/>
                        </a:rPr>
                        <a:t>Tổng</a:t>
                      </a:r>
                      <a:r>
                        <a:rPr sz="1380" b="0" dirty="0">
                          <a:solidFill>
                            <a:srgbClr val="00376F"/>
                          </a:solidFill>
                          <a:latin typeface="Lato"/>
                          <a:ea typeface="Lato"/>
                          <a:cs typeface="Lato"/>
                        </a:rPr>
                        <a:t> </a:t>
                      </a:r>
                      <a:r>
                        <a:rPr sz="1380" b="0" dirty="0" err="1">
                          <a:solidFill>
                            <a:srgbClr val="00376F"/>
                          </a:solidFill>
                          <a:latin typeface="Lato"/>
                          <a:ea typeface="Lato"/>
                          <a:cs typeface="Lato"/>
                        </a:rPr>
                        <a:t>và</a:t>
                      </a:r>
                      <a:r>
                        <a:rPr sz="1380" b="0" dirty="0">
                          <a:solidFill>
                            <a:srgbClr val="00376F"/>
                          </a:solidFill>
                          <a:latin typeface="Lato"/>
                          <a:ea typeface="Lato"/>
                          <a:cs typeface="Lato"/>
                        </a:rPr>
                        <a:t> </a:t>
                      </a:r>
                      <a:r>
                        <a:rPr sz="1380" b="0" dirty="0" err="1">
                          <a:solidFill>
                            <a:srgbClr val="00376F"/>
                          </a:solidFill>
                          <a:latin typeface="Lato"/>
                          <a:ea typeface="Lato"/>
                          <a:cs typeface="Lato"/>
                        </a:rPr>
                        <a:t>số</a:t>
                      </a:r>
                      <a:r>
                        <a:rPr sz="1380" b="0" dirty="0">
                          <a:solidFill>
                            <a:srgbClr val="00376F"/>
                          </a:solidFill>
                          <a:latin typeface="Lato"/>
                          <a:ea typeface="Lato"/>
                          <a:cs typeface="Lato"/>
                        </a:rPr>
                        <a:t> </a:t>
                      </a:r>
                      <a:r>
                        <a:rPr sz="1380" b="0" dirty="0" err="1">
                          <a:solidFill>
                            <a:srgbClr val="00376F"/>
                          </a:solidFill>
                          <a:latin typeface="Lato"/>
                          <a:ea typeface="Lato"/>
                          <a:cs typeface="Lato"/>
                        </a:rPr>
                        <a:t>tham</a:t>
                      </a:r>
                      <a:r>
                        <a:rPr sz="1380" b="0" dirty="0">
                          <a:solidFill>
                            <a:srgbClr val="00376F"/>
                          </a:solidFill>
                          <a:latin typeface="Lato"/>
                          <a:ea typeface="Lato"/>
                          <a:cs typeface="Lato"/>
                        </a:rPr>
                        <a:t> </a:t>
                      </a:r>
                      <a:r>
                        <a:rPr sz="1380" b="0" dirty="0" err="1">
                          <a:solidFill>
                            <a:srgbClr val="00376F"/>
                          </a:solidFill>
                          <a:latin typeface="Lato"/>
                          <a:ea typeface="Lato"/>
                          <a:cs typeface="Lato"/>
                        </a:rPr>
                        <a:t>số</a:t>
                      </a:r>
                      <a:r>
                        <a:rPr sz="1380" b="0" dirty="0">
                          <a:solidFill>
                            <a:srgbClr val="00376F"/>
                          </a:solidFill>
                          <a:latin typeface="Lato"/>
                          <a:ea typeface="Lato"/>
                          <a:cs typeface="Lato"/>
                        </a:rPr>
                        <a:t> </a:t>
                      </a:r>
                      <a:r>
                        <a:rPr sz="1380" b="0" dirty="0" err="1">
                          <a:solidFill>
                            <a:srgbClr val="00376F"/>
                          </a:solidFill>
                          <a:latin typeface="Lato"/>
                          <a:ea typeface="Lato"/>
                          <a:cs typeface="Lato"/>
                        </a:rPr>
                        <a:t>kích</a:t>
                      </a:r>
                      <a:r>
                        <a:rPr sz="1380" b="0" dirty="0">
                          <a:solidFill>
                            <a:srgbClr val="00376F"/>
                          </a:solidFill>
                          <a:latin typeface="Lato"/>
                          <a:ea typeface="Lato"/>
                          <a:cs typeface="Lato"/>
                        </a:rPr>
                        <a:t> </a:t>
                      </a:r>
                      <a:r>
                        <a:rPr sz="1380" b="0" dirty="0" err="1">
                          <a:solidFill>
                            <a:srgbClr val="00376F"/>
                          </a:solidFill>
                          <a:latin typeface="Lato"/>
                          <a:ea typeface="Lato"/>
                          <a:cs typeface="Lato"/>
                        </a:rPr>
                        <a:t>hoạt</a:t>
                      </a:r>
                      <a:endParaRPr sz="138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21" name="text-44">
            <a:extLst>
              <a:ext uri="{FF2B5EF4-FFF2-40B4-BE49-F238E27FC236}">
                <a16:creationId xmlns:a16="http://schemas.microsoft.com/office/drawing/2014/main" id="{9AEFC829-D8F8-4A5D-A2AE-14106934C2F6}"/>
              </a:ext>
            </a:extLst>
          </p:cNvPr>
          <p:cNvSpPr>
            <a:spLocks noGrp="1"/>
          </p:cNvSpPr>
          <p:nvPr/>
        </p:nvSpPr>
        <p:spPr>
          <a:xfrm>
            <a:off x="6362700" y="5236369"/>
            <a:ext cx="5181600" cy="557213"/>
          </a:xfrm>
          <a:prstGeom prst="rect">
            <a:avLst/>
          </a:prstGeom>
          <a:noFill/>
          <a:ln w="0">
            <a:noFill/>
            <a:prstDash val="solid"/>
          </a:ln>
        </p:spPr>
        <p:txBody>
          <a:bodyPr lIns="0" tIns="0" rIns="0" bIns="0" anchor="t"/>
          <a:lstStyle>
            <a:defPPr>
              <a:defRPr sz="1620" b="1">
                <a:solidFill>
                  <a:srgbClr val="BE1E2D"/>
                </a:solidFill>
                <a:latin typeface="Lato"/>
                <a:ea typeface="Lato"/>
                <a:cs typeface="Lato"/>
              </a:defRPr>
            </a:defPPr>
            <a:lvl1pPr>
              <a:defRPr sz="1620" b="1">
                <a:solidFill>
                  <a:srgbClr val="BE1E2D"/>
                </a:solidFill>
                <a:latin typeface="Lato"/>
                <a:ea typeface="Lato"/>
                <a:cs typeface="Lato"/>
              </a:defRPr>
            </a:lvl1pPr>
            <a:lvl2pPr>
              <a:defRPr sz="1620" b="1">
                <a:solidFill>
                  <a:srgbClr val="BE1E2D"/>
                </a:solidFill>
                <a:latin typeface="Lato"/>
                <a:ea typeface="Lato"/>
                <a:cs typeface="Lato"/>
              </a:defRPr>
            </a:lvl2pPr>
            <a:lvl3pPr>
              <a:defRPr sz="1620" b="1">
                <a:solidFill>
                  <a:srgbClr val="BE1E2D"/>
                </a:solidFill>
                <a:latin typeface="Lato"/>
                <a:ea typeface="Lato"/>
                <a:cs typeface="Lato"/>
              </a:defRPr>
            </a:lvl3pPr>
            <a:lvl4pPr>
              <a:defRPr sz="1620" b="1">
                <a:solidFill>
                  <a:srgbClr val="BE1E2D"/>
                </a:solidFill>
                <a:latin typeface="Lato"/>
                <a:ea typeface="Lato"/>
                <a:cs typeface="Lato"/>
              </a:defRPr>
            </a:lvl4pPr>
            <a:lvl5pPr>
              <a:defRPr sz="1620" b="1">
                <a:solidFill>
                  <a:srgbClr val="BE1E2D"/>
                </a:solidFill>
                <a:latin typeface="Lato"/>
                <a:ea typeface="Lato"/>
                <a:cs typeface="Lato"/>
              </a:defRPr>
            </a:lvl5pPr>
            <a:lvl6pPr>
              <a:defRPr sz="1620" b="1">
                <a:solidFill>
                  <a:srgbClr val="BE1E2D"/>
                </a:solidFill>
                <a:latin typeface="Lato"/>
                <a:ea typeface="Lato"/>
                <a:cs typeface="Lato"/>
              </a:defRPr>
            </a:lvl6pPr>
            <a:lvl7pPr>
              <a:defRPr sz="1620" b="1">
                <a:solidFill>
                  <a:srgbClr val="BE1E2D"/>
                </a:solidFill>
                <a:latin typeface="Lato"/>
                <a:ea typeface="Lato"/>
                <a:cs typeface="Lato"/>
              </a:defRPr>
            </a:lvl7pPr>
            <a:lvl8pPr>
              <a:defRPr sz="1620" b="1">
                <a:solidFill>
                  <a:srgbClr val="BE1E2D"/>
                </a:solidFill>
                <a:latin typeface="Lato"/>
                <a:ea typeface="Lato"/>
                <a:cs typeface="Lato"/>
              </a:defRPr>
            </a:lvl8pPr>
            <a:lvl9pPr>
              <a:defRPr sz="1620" b="1">
                <a:solidFill>
                  <a:srgbClr val="BE1E2D"/>
                </a:solidFill>
                <a:latin typeface="Lato"/>
                <a:ea typeface="Lato"/>
                <a:cs typeface="Lato"/>
              </a:defRPr>
            </a:lvl9pPr>
          </a:lstStyle>
          <a:p>
            <a:pPr>
              <a:defRPr sz="1620" b="1">
                <a:solidFill>
                  <a:srgbClr val="BE1E2D"/>
                </a:solidFill>
                <a:latin typeface="Lato"/>
                <a:ea typeface="Lato"/>
                <a:cs typeface="Lato"/>
              </a:defRPr>
            </a:pPr>
            <a:r>
              <a:rPr sz="1620" b="1" dirty="0" err="1">
                <a:solidFill>
                  <a:srgbClr val="BE1E2D"/>
                </a:solidFill>
                <a:latin typeface="Lato"/>
                <a:ea typeface="Lato"/>
                <a:cs typeface="Lato"/>
              </a:rPr>
              <a:t>Chọn</a:t>
            </a:r>
            <a:r>
              <a:rPr sz="1620" b="1" dirty="0">
                <a:solidFill>
                  <a:srgbClr val="BE1E2D"/>
                </a:solidFill>
                <a:latin typeface="Lato"/>
                <a:ea typeface="Lato"/>
                <a:cs typeface="Lato"/>
              </a:rPr>
              <a:t> CER validation </a:t>
            </a:r>
            <a:r>
              <a:rPr sz="1620" b="1" dirty="0" err="1">
                <a:solidFill>
                  <a:srgbClr val="BE1E2D"/>
                </a:solidFill>
                <a:latin typeface="Lato"/>
                <a:ea typeface="Lato"/>
                <a:cs typeface="Lato"/>
              </a:rPr>
              <a:t>thấp</a:t>
            </a:r>
            <a:r>
              <a:rPr sz="1620" b="1" dirty="0">
                <a:solidFill>
                  <a:srgbClr val="BE1E2D"/>
                </a:solidFill>
                <a:latin typeface="Lato"/>
                <a:ea typeface="Lato"/>
                <a:cs typeface="Lato"/>
              </a:rPr>
              <a:t> </a:t>
            </a:r>
            <a:r>
              <a:rPr sz="1620" b="1" dirty="0" err="1">
                <a:solidFill>
                  <a:srgbClr val="BE1E2D"/>
                </a:solidFill>
                <a:latin typeface="Lato"/>
                <a:ea typeface="Lato"/>
                <a:cs typeface="Lato"/>
              </a:rPr>
              <a:t>nhất</a:t>
            </a:r>
            <a:r>
              <a:rPr sz="1620" b="1" dirty="0">
                <a:solidFill>
                  <a:srgbClr val="BE1E2D"/>
                </a:solidFill>
                <a:latin typeface="Lato"/>
                <a:ea typeface="Lato"/>
                <a:cs typeface="Lato"/>
              </a:rPr>
              <a:t>.</a:t>
            </a:r>
          </a:p>
          <a:p>
            <a:pPr>
              <a:defRPr sz="1620" b="1">
                <a:solidFill>
                  <a:srgbClr val="BE1E2D"/>
                </a:solidFill>
                <a:latin typeface="Lato"/>
                <a:ea typeface="Lato"/>
                <a:cs typeface="Lato"/>
              </a:defRPr>
            </a:pPr>
            <a:r>
              <a:rPr sz="1620" b="1" dirty="0" err="1">
                <a:solidFill>
                  <a:srgbClr val="BE1E2D"/>
                </a:solidFill>
                <a:latin typeface="Lato"/>
                <a:ea typeface="Lato"/>
                <a:cs typeface="Lato"/>
              </a:rPr>
              <a:t>Nếu</a:t>
            </a:r>
            <a:r>
              <a:rPr sz="1620" b="1" dirty="0">
                <a:solidFill>
                  <a:srgbClr val="BE1E2D"/>
                </a:solidFill>
                <a:latin typeface="Lato"/>
                <a:ea typeface="Lato"/>
                <a:cs typeface="Lato"/>
              </a:rPr>
              <a:t> </a:t>
            </a:r>
            <a:r>
              <a:rPr sz="1620" b="1" dirty="0" err="1">
                <a:solidFill>
                  <a:srgbClr val="BE1E2D"/>
                </a:solidFill>
                <a:latin typeface="Lato"/>
                <a:ea typeface="Lato"/>
                <a:cs typeface="Lato"/>
              </a:rPr>
              <a:t>tương</a:t>
            </a:r>
            <a:r>
              <a:rPr sz="1620" b="1" dirty="0">
                <a:solidFill>
                  <a:srgbClr val="BE1E2D"/>
                </a:solidFill>
                <a:latin typeface="Lato"/>
                <a:ea typeface="Lato"/>
                <a:cs typeface="Lato"/>
              </a:rPr>
              <a:t> </a:t>
            </a:r>
            <a:r>
              <a:rPr sz="1620" b="1" dirty="0" err="1">
                <a:solidFill>
                  <a:srgbClr val="BE1E2D"/>
                </a:solidFill>
                <a:latin typeface="Lato"/>
                <a:ea typeface="Lato"/>
                <a:cs typeface="Lato"/>
              </a:rPr>
              <a:t>đương</a:t>
            </a:r>
            <a:r>
              <a:rPr sz="1620" b="1" dirty="0">
                <a:solidFill>
                  <a:srgbClr val="BE1E2D"/>
                </a:solidFill>
                <a:latin typeface="Lato"/>
                <a:ea typeface="Lato"/>
                <a:cs typeface="Lato"/>
              </a:rPr>
              <a:t>, </a:t>
            </a:r>
            <a:r>
              <a:rPr sz="1620" b="1" dirty="0" err="1">
                <a:solidFill>
                  <a:srgbClr val="BE1E2D"/>
                </a:solidFill>
                <a:latin typeface="Lato"/>
                <a:ea typeface="Lato"/>
                <a:cs typeface="Lato"/>
              </a:rPr>
              <a:t>ưu</a:t>
            </a:r>
            <a:r>
              <a:rPr sz="1620" b="1" dirty="0">
                <a:solidFill>
                  <a:srgbClr val="BE1E2D"/>
                </a:solidFill>
                <a:latin typeface="Lato"/>
                <a:ea typeface="Lato"/>
                <a:cs typeface="Lato"/>
              </a:rPr>
              <a:t> </a:t>
            </a:r>
            <a:r>
              <a:rPr sz="1620" b="1" dirty="0" err="1">
                <a:solidFill>
                  <a:srgbClr val="BE1E2D"/>
                </a:solidFill>
                <a:latin typeface="Lato"/>
                <a:ea typeface="Lato"/>
                <a:cs typeface="Lato"/>
              </a:rPr>
              <a:t>tiên</a:t>
            </a:r>
            <a:r>
              <a:rPr sz="1620" b="1" dirty="0">
                <a:solidFill>
                  <a:srgbClr val="BE1E2D"/>
                </a:solidFill>
                <a:latin typeface="Lato"/>
                <a:ea typeface="Lato"/>
                <a:cs typeface="Lato"/>
              </a:rPr>
              <a:t> latency </a:t>
            </a:r>
            <a:r>
              <a:rPr sz="1620" b="1" dirty="0" err="1">
                <a:solidFill>
                  <a:srgbClr val="BE1E2D"/>
                </a:solidFill>
                <a:latin typeface="Lato"/>
                <a:ea typeface="Lato"/>
                <a:cs typeface="Lato"/>
              </a:rPr>
              <a:t>thấp</a:t>
            </a:r>
            <a:r>
              <a:rPr sz="1620" b="1" dirty="0">
                <a:solidFill>
                  <a:srgbClr val="BE1E2D"/>
                </a:solidFill>
                <a:latin typeface="Lato"/>
                <a:ea typeface="Lato"/>
                <a:cs typeface="Lato"/>
              </a:rPr>
              <a:t> </a:t>
            </a:r>
            <a:r>
              <a:rPr sz="1620" b="1" dirty="0" err="1">
                <a:solidFill>
                  <a:srgbClr val="BE1E2D"/>
                </a:solidFill>
                <a:latin typeface="Lato"/>
                <a:ea typeface="Lato"/>
                <a:cs typeface="Lato"/>
              </a:rPr>
              <a:t>hơn</a:t>
            </a:r>
            <a:r>
              <a:rPr sz="1620" b="1" dirty="0">
                <a:solidFill>
                  <a:srgbClr val="BE1E2D"/>
                </a:solidFill>
                <a:latin typeface="Lato"/>
                <a:ea typeface="Lato"/>
                <a:cs typeface="Lato"/>
              </a:rPr>
              <a:t>.</a:t>
            </a:r>
          </a:p>
        </p:txBody>
      </p:sp>
    </p:spTree>
    <p:extLst>
      <p:ext uri="{BB962C8B-B14F-4D97-AF65-F5344CB8AC3E}">
        <p14:creationId xmlns:p14="http://schemas.microsoft.com/office/powerpoint/2010/main" val="221433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Arrow Connector 9">
            <a:extLst>
              <a:ext uri="{FF2B5EF4-FFF2-40B4-BE49-F238E27FC236}">
                <a16:creationId xmlns:a16="http://schemas.microsoft.com/office/drawing/2014/main" id="{817E0175-1044-45C4-8718-55BDD2CEBF46}"/>
              </a:ext>
            </a:extLst>
          </p:cNvPr>
          <p:cNvCxnSpPr>
            <a:stCxn id="7" idx="3"/>
            <a:endCxn id="8" idx="1"/>
          </p:cNvCxnSpPr>
          <p:nvPr/>
        </p:nvCxnSpPr>
        <p:spPr>
          <a:xfrm>
            <a:off x="7658100" y="2193132"/>
            <a:ext cx="1295400" cy="0"/>
          </a:xfrm>
          <a:prstGeom prst="straightConnector1">
            <a:avLst/>
          </a:prstGeom>
          <a:ln w="19050">
            <a:solidFill>
              <a:srgbClr val="BE1E2D"/>
            </a:solidFill>
            <a:prstDash val="solid"/>
            <a:tailEnd type="triangle" w="sm" len="sm"/>
          </a:ln>
        </p:spPr>
      </p:cxnSp>
      <p:cxnSp>
        <p:nvCxnSpPr>
          <p:cNvPr id="9" name="Straight Arrow Connector 8">
            <a:extLst>
              <a:ext uri="{FF2B5EF4-FFF2-40B4-BE49-F238E27FC236}">
                <a16:creationId xmlns:a16="http://schemas.microsoft.com/office/drawing/2014/main" id="{32CAF70A-83D9-44A8-B53B-FCF602F8E761}"/>
              </a:ext>
            </a:extLst>
          </p:cNvPr>
          <p:cNvCxnSpPr>
            <a:stCxn id="6" idx="3"/>
            <a:endCxn id="7" idx="1"/>
          </p:cNvCxnSpPr>
          <p:nvPr/>
        </p:nvCxnSpPr>
        <p:spPr>
          <a:xfrm>
            <a:off x="3276600" y="2193132"/>
            <a:ext cx="1295400" cy="0"/>
          </a:xfrm>
          <a:prstGeom prst="straightConnector1">
            <a:avLst/>
          </a:prstGeom>
          <a:ln w="19050">
            <a:solidFill>
              <a:srgbClr val="BE1E2D"/>
            </a:solidFill>
            <a:prstDash val="solid"/>
            <a:tailEnd type="triangle" w="sm" len="sm"/>
          </a:ln>
        </p:spPr>
      </p:cxnSp>
      <p:sp>
        <p:nvSpPr>
          <p:cNvPr id="2" name="Title 1">
            <a:extLst>
              <a:ext uri="{FF2B5EF4-FFF2-40B4-BE49-F238E27FC236}">
                <a16:creationId xmlns:a16="http://schemas.microsoft.com/office/drawing/2014/main" id="{EF9B3AB5-95DF-4273-871C-843529DB7255}"/>
              </a:ext>
            </a:extLst>
          </p:cNvPr>
          <p:cNvSpPr>
            <a:spLocks noGrp="1"/>
          </p:cNvSpPr>
          <p:nvPr>
            <p:ph type="title"/>
          </p:nvPr>
        </p:nvSpPr>
        <p:spPr>
          <a:xfrm>
            <a:off x="342900" y="95250"/>
            <a:ext cx="11430000" cy="457200"/>
          </a:xfrm>
        </p:spPr>
        <p:txBody>
          <a:bodyPr lIns="0" tIns="0" rIns="0" bIns="0" anchor="ctr"/>
          <a:lstStyle>
            <a:defPPr>
              <a:defRPr sz="2800" b="1">
                <a:solidFill>
                  <a:srgbClr val="FFFFFF"/>
                </a:solidFill>
                <a:latin typeface="Lato"/>
                <a:ea typeface="Lato"/>
                <a:cs typeface="Lato"/>
              </a:defRPr>
            </a:defPPr>
            <a:lvl1pPr>
              <a:defRPr sz="2800" b="1">
                <a:solidFill>
                  <a:srgbClr val="FFFFFF"/>
                </a:solidFill>
                <a:latin typeface="Lato"/>
                <a:ea typeface="Lato"/>
                <a:cs typeface="Lato"/>
              </a:defRPr>
            </a:lvl1pPr>
            <a:lvl2pPr>
              <a:defRPr sz="2800" b="1">
                <a:solidFill>
                  <a:srgbClr val="FFFFFF"/>
                </a:solidFill>
                <a:latin typeface="Lato"/>
                <a:ea typeface="Lato"/>
                <a:cs typeface="Lato"/>
              </a:defRPr>
            </a:lvl2pPr>
            <a:lvl3pPr>
              <a:defRPr sz="2800" b="1">
                <a:solidFill>
                  <a:srgbClr val="FFFFFF"/>
                </a:solidFill>
                <a:latin typeface="Lato"/>
                <a:ea typeface="Lato"/>
                <a:cs typeface="Lato"/>
              </a:defRPr>
            </a:lvl3pPr>
            <a:lvl4pPr>
              <a:defRPr sz="2800" b="1">
                <a:solidFill>
                  <a:srgbClr val="FFFFFF"/>
                </a:solidFill>
                <a:latin typeface="Lato"/>
                <a:ea typeface="Lato"/>
                <a:cs typeface="Lato"/>
              </a:defRPr>
            </a:lvl4pPr>
            <a:lvl5pPr>
              <a:defRPr sz="2800" b="1">
                <a:solidFill>
                  <a:srgbClr val="FFFFFF"/>
                </a:solidFill>
                <a:latin typeface="Lato"/>
                <a:ea typeface="Lato"/>
                <a:cs typeface="Lato"/>
              </a:defRPr>
            </a:lvl5pPr>
            <a:lvl6pPr>
              <a:defRPr sz="2800" b="1">
                <a:solidFill>
                  <a:srgbClr val="FFFFFF"/>
                </a:solidFill>
                <a:latin typeface="Lato"/>
                <a:ea typeface="Lato"/>
                <a:cs typeface="Lato"/>
              </a:defRPr>
            </a:lvl6pPr>
            <a:lvl7pPr>
              <a:defRPr sz="2800" b="1">
                <a:solidFill>
                  <a:srgbClr val="FFFFFF"/>
                </a:solidFill>
                <a:latin typeface="Lato"/>
                <a:ea typeface="Lato"/>
                <a:cs typeface="Lato"/>
              </a:defRPr>
            </a:lvl7pPr>
            <a:lvl8pPr>
              <a:defRPr sz="2800" b="1">
                <a:solidFill>
                  <a:srgbClr val="FFFFFF"/>
                </a:solidFill>
                <a:latin typeface="Lato"/>
                <a:ea typeface="Lato"/>
                <a:cs typeface="Lato"/>
              </a:defRPr>
            </a:lvl8pPr>
            <a:lvl9pPr>
              <a:defRPr sz="2800" b="1">
                <a:solidFill>
                  <a:srgbClr val="FFFFFF"/>
                </a:solidFill>
                <a:latin typeface="Lato"/>
                <a:ea typeface="Lato"/>
                <a:cs typeface="Lato"/>
              </a:defRPr>
            </a:lvl9pPr>
          </a:lstStyle>
          <a:p>
            <a:pPr>
              <a:defRPr sz="2800" b="1">
                <a:solidFill>
                  <a:srgbClr val="FFFFFF"/>
                </a:solidFill>
                <a:latin typeface="Lato"/>
                <a:ea typeface="Lato"/>
                <a:cs typeface="Lato"/>
              </a:defRPr>
            </a:pPr>
            <a:r>
              <a:rPr sz="2800" b="1" dirty="0">
                <a:solidFill>
                  <a:srgbClr val="FFFFFF"/>
                </a:solidFill>
                <a:latin typeface="Lato"/>
                <a:ea typeface="Lato"/>
                <a:cs typeface="Lato"/>
              </a:rPr>
              <a:t>Giai </a:t>
            </a:r>
            <a:r>
              <a:rPr sz="2800" b="1" dirty="0" err="1">
                <a:solidFill>
                  <a:srgbClr val="FFFFFF"/>
                </a:solidFill>
                <a:latin typeface="Lato"/>
                <a:ea typeface="Lato"/>
                <a:cs typeface="Lato"/>
              </a:rPr>
              <a:t>đoạn</a:t>
            </a:r>
            <a:r>
              <a:rPr sz="2800" b="1" dirty="0">
                <a:solidFill>
                  <a:srgbClr val="FFFFFF"/>
                </a:solidFill>
                <a:latin typeface="Lato"/>
                <a:ea typeface="Lato"/>
                <a:cs typeface="Lato"/>
              </a:rPr>
              <a:t> 2: </a:t>
            </a:r>
            <a:r>
              <a:rPr lang="en-US" sz="2800" b="1" dirty="0">
                <a:solidFill>
                  <a:srgbClr val="FFFFFF"/>
                </a:solidFill>
                <a:latin typeface="Lato"/>
                <a:ea typeface="Lato"/>
                <a:cs typeface="Lato"/>
              </a:rPr>
              <a:t>Fine-tune </a:t>
            </a:r>
            <a:r>
              <a:rPr lang="en-US" sz="2800" b="1" dirty="0" err="1">
                <a:solidFill>
                  <a:srgbClr val="FFFFFF"/>
                </a:solidFill>
                <a:latin typeface="Lato"/>
                <a:ea typeface="Lato"/>
                <a:cs typeface="Lato"/>
              </a:rPr>
              <a:t>với</a:t>
            </a:r>
            <a:r>
              <a:rPr lang="en-US" sz="2800" b="1" dirty="0">
                <a:solidFill>
                  <a:srgbClr val="FFFFFF"/>
                </a:solidFill>
                <a:latin typeface="Lato"/>
                <a:ea typeface="Lato"/>
                <a:cs typeface="Lato"/>
              </a:rPr>
              <a:t> </a:t>
            </a:r>
            <a:r>
              <a:rPr lang="en-US" sz="2800" b="1" dirty="0" err="1">
                <a:solidFill>
                  <a:srgbClr val="FFFFFF"/>
                </a:solidFill>
                <a:latin typeface="Lato"/>
                <a:ea typeface="Lato"/>
                <a:cs typeface="Lato"/>
              </a:rPr>
              <a:t>chữ</a:t>
            </a:r>
            <a:r>
              <a:rPr lang="en-US" sz="2800" b="1" dirty="0">
                <a:solidFill>
                  <a:srgbClr val="FFFFFF"/>
                </a:solidFill>
                <a:latin typeface="Lato"/>
                <a:ea typeface="Lato"/>
                <a:cs typeface="Lato"/>
              </a:rPr>
              <a:t> </a:t>
            </a:r>
            <a:r>
              <a:rPr lang="en-US" sz="2800" b="1" dirty="0" err="1">
                <a:solidFill>
                  <a:srgbClr val="FFFFFF"/>
                </a:solidFill>
                <a:latin typeface="Lato"/>
                <a:ea typeface="Lato"/>
                <a:cs typeface="Lato"/>
              </a:rPr>
              <a:t>viết</a:t>
            </a:r>
            <a:r>
              <a:rPr lang="en-US" sz="2800" b="1" dirty="0">
                <a:solidFill>
                  <a:srgbClr val="FFFFFF"/>
                </a:solidFill>
                <a:latin typeface="Lato"/>
                <a:ea typeface="Lato"/>
                <a:cs typeface="Lato"/>
              </a:rPr>
              <a:t> </a:t>
            </a:r>
            <a:r>
              <a:rPr lang="en-US" sz="2800" b="1" dirty="0" err="1">
                <a:solidFill>
                  <a:srgbClr val="FFFFFF"/>
                </a:solidFill>
                <a:latin typeface="Lato"/>
                <a:ea typeface="Lato"/>
                <a:cs typeface="Lato"/>
              </a:rPr>
              <a:t>tay</a:t>
            </a:r>
            <a:endParaRPr dirty="0"/>
          </a:p>
        </p:txBody>
      </p:sp>
      <p:sp>
        <p:nvSpPr>
          <p:cNvPr id="3" name="Content Placeholder 2">
            <a:extLst>
              <a:ext uri="{FF2B5EF4-FFF2-40B4-BE49-F238E27FC236}">
                <a16:creationId xmlns:a16="http://schemas.microsoft.com/office/drawing/2014/main" id="{3573E091-9DCD-4DE7-96D1-A93E44E0F5B9}"/>
              </a:ext>
            </a:extLst>
          </p:cNvPr>
          <p:cNvSpPr>
            <a:spLocks noGrp="1"/>
          </p:cNvSpPr>
          <p:nvPr>
            <p:ph idx="13"/>
          </p:nvPr>
        </p:nvSpPr>
        <p:spPr/>
        <p:txBody>
          <a:bodyPr/>
          <a:lstStyle/>
          <a:p>
            <a:endParaRPr dirty="0"/>
          </a:p>
        </p:txBody>
      </p:sp>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idx="12"/>
          </p:nvPr>
        </p:nvSpPr>
        <p:spPr/>
        <p:txBody>
          <a:bodyPr/>
          <a:lstStyle/>
          <a:p>
            <a:fld id="{EE5B3003-2C54-13C6-9832-7637201064DE}" type="slidenum">
              <a:rPr/>
              <a:t>5</a:t>
            </a:fld>
            <a:endParaRPr/>
          </a:p>
        </p:txBody>
      </p:sp>
      <p:sp>
        <p:nvSpPr>
          <p:cNvPr id="5" name="text-45">
            <a:extLst>
              <a:ext uri="{FF2B5EF4-FFF2-40B4-BE49-F238E27FC236}">
                <a16:creationId xmlns:a16="http://schemas.microsoft.com/office/drawing/2014/main" id="{8A86E255-C373-4C74-8D65-E25C3859AA69}"/>
              </a:ext>
            </a:extLst>
          </p:cNvPr>
          <p:cNvSpPr>
            <a:spLocks noGrp="1"/>
          </p:cNvSpPr>
          <p:nvPr/>
        </p:nvSpPr>
        <p:spPr>
          <a:xfrm>
            <a:off x="365760" y="985838"/>
            <a:ext cx="11391900" cy="500063"/>
          </a:xfrm>
          <a:prstGeom prst="rect">
            <a:avLst/>
          </a:prstGeom>
          <a:noFill/>
          <a:ln w="0">
            <a:noFill/>
            <a:prstDash val="solid"/>
          </a:ln>
        </p:spPr>
        <p:txBody>
          <a:bodyPr lIns="0" tIns="0" rIns="0" bIns="0" anchor="t"/>
          <a:lstStyle>
            <a:defPPr>
              <a:defRPr sz="1560" b="0">
                <a:solidFill>
                  <a:srgbClr val="526170"/>
                </a:solidFill>
                <a:latin typeface="Lato"/>
                <a:ea typeface="Lato"/>
                <a:cs typeface="Lato"/>
              </a:defRPr>
            </a:defPPr>
            <a:lvl1pPr>
              <a:defRPr sz="1560" b="0">
                <a:solidFill>
                  <a:srgbClr val="526170"/>
                </a:solidFill>
                <a:latin typeface="Lato"/>
                <a:ea typeface="Lato"/>
                <a:cs typeface="Lato"/>
              </a:defRPr>
            </a:lvl1pPr>
            <a:lvl2pPr>
              <a:defRPr sz="1560" b="0">
                <a:solidFill>
                  <a:srgbClr val="526170"/>
                </a:solidFill>
                <a:latin typeface="Lato"/>
                <a:ea typeface="Lato"/>
                <a:cs typeface="Lato"/>
              </a:defRPr>
            </a:lvl2pPr>
            <a:lvl3pPr>
              <a:defRPr sz="1560" b="0">
                <a:solidFill>
                  <a:srgbClr val="526170"/>
                </a:solidFill>
                <a:latin typeface="Lato"/>
                <a:ea typeface="Lato"/>
                <a:cs typeface="Lato"/>
              </a:defRPr>
            </a:lvl3pPr>
            <a:lvl4pPr>
              <a:defRPr sz="1560" b="0">
                <a:solidFill>
                  <a:srgbClr val="526170"/>
                </a:solidFill>
                <a:latin typeface="Lato"/>
                <a:ea typeface="Lato"/>
                <a:cs typeface="Lato"/>
              </a:defRPr>
            </a:lvl4pPr>
            <a:lvl5pPr>
              <a:defRPr sz="1560" b="0">
                <a:solidFill>
                  <a:srgbClr val="526170"/>
                </a:solidFill>
                <a:latin typeface="Lato"/>
                <a:ea typeface="Lato"/>
                <a:cs typeface="Lato"/>
              </a:defRPr>
            </a:lvl5pPr>
            <a:lvl6pPr>
              <a:defRPr sz="1560" b="0">
                <a:solidFill>
                  <a:srgbClr val="526170"/>
                </a:solidFill>
                <a:latin typeface="Lato"/>
                <a:ea typeface="Lato"/>
                <a:cs typeface="Lato"/>
              </a:defRPr>
            </a:lvl6pPr>
            <a:lvl7pPr>
              <a:defRPr sz="1560" b="0">
                <a:solidFill>
                  <a:srgbClr val="526170"/>
                </a:solidFill>
                <a:latin typeface="Lato"/>
                <a:ea typeface="Lato"/>
                <a:cs typeface="Lato"/>
              </a:defRPr>
            </a:lvl7pPr>
            <a:lvl8pPr>
              <a:defRPr sz="1560" b="0">
                <a:solidFill>
                  <a:srgbClr val="526170"/>
                </a:solidFill>
                <a:latin typeface="Lato"/>
                <a:ea typeface="Lato"/>
                <a:cs typeface="Lato"/>
              </a:defRPr>
            </a:lvl8pPr>
            <a:lvl9pPr>
              <a:defRPr sz="1560" b="0">
                <a:solidFill>
                  <a:srgbClr val="526170"/>
                </a:solidFill>
                <a:latin typeface="Lato"/>
                <a:ea typeface="Lato"/>
                <a:cs typeface="Lato"/>
              </a:defRPr>
            </a:lvl9pPr>
          </a:lstStyle>
          <a:p>
            <a:pPr>
              <a:defRPr sz="1560" b="0">
                <a:solidFill>
                  <a:srgbClr val="526170"/>
                </a:solidFill>
                <a:latin typeface="Lato"/>
                <a:ea typeface="Lato"/>
                <a:cs typeface="Lato"/>
              </a:defRPr>
            </a:pPr>
            <a:r>
              <a:rPr sz="1560" b="0" dirty="0">
                <a:solidFill>
                  <a:srgbClr val="526170"/>
                </a:solidFill>
                <a:latin typeface="Lato"/>
                <a:ea typeface="Lato"/>
                <a:cs typeface="Lato"/>
              </a:rPr>
              <a:t>Fine-tune </a:t>
            </a:r>
            <a:r>
              <a:rPr sz="1560" b="0" dirty="0" err="1">
                <a:solidFill>
                  <a:srgbClr val="526170"/>
                </a:solidFill>
                <a:latin typeface="Lato"/>
                <a:ea typeface="Lato"/>
                <a:cs typeface="Lato"/>
              </a:rPr>
              <a:t>một</a:t>
            </a:r>
            <a:r>
              <a:rPr sz="1560" b="0" dirty="0">
                <a:solidFill>
                  <a:srgbClr val="526170"/>
                </a:solidFill>
                <a:latin typeface="Lato"/>
                <a:ea typeface="Lato"/>
                <a:cs typeface="Lato"/>
              </a:rPr>
              <a:t> </a:t>
            </a:r>
            <a:r>
              <a:rPr sz="1560" b="0" dirty="0" err="1">
                <a:solidFill>
                  <a:srgbClr val="526170"/>
                </a:solidFill>
                <a:latin typeface="Lato"/>
                <a:ea typeface="Lato"/>
                <a:cs typeface="Lato"/>
              </a:rPr>
              <a:t>mô</a:t>
            </a:r>
            <a:r>
              <a:rPr sz="1560" b="0" dirty="0">
                <a:solidFill>
                  <a:srgbClr val="526170"/>
                </a:solidFill>
                <a:latin typeface="Lato"/>
                <a:ea typeface="Lato"/>
                <a:cs typeface="Lato"/>
              </a:rPr>
              <a:t> </a:t>
            </a:r>
            <a:r>
              <a:rPr sz="1560" b="0" dirty="0" err="1">
                <a:solidFill>
                  <a:srgbClr val="526170"/>
                </a:solidFill>
                <a:latin typeface="Lato"/>
                <a:ea typeface="Lato"/>
                <a:cs typeface="Lato"/>
              </a:rPr>
              <a:t>hình</a:t>
            </a:r>
            <a:r>
              <a:rPr sz="1560" b="0" dirty="0">
                <a:solidFill>
                  <a:srgbClr val="526170"/>
                </a:solidFill>
                <a:latin typeface="Lato"/>
                <a:ea typeface="Lato"/>
                <a:cs typeface="Lato"/>
              </a:rPr>
              <a:t> </a:t>
            </a:r>
            <a:r>
              <a:rPr sz="1560" b="0" dirty="0" err="1">
                <a:solidFill>
                  <a:srgbClr val="526170"/>
                </a:solidFill>
                <a:latin typeface="Lato"/>
                <a:ea typeface="Lato"/>
                <a:cs typeface="Lato"/>
              </a:rPr>
              <a:t>được</a:t>
            </a:r>
            <a:r>
              <a:rPr sz="1560" b="0" dirty="0">
                <a:solidFill>
                  <a:srgbClr val="526170"/>
                </a:solidFill>
                <a:latin typeface="Lato"/>
                <a:ea typeface="Lato"/>
                <a:cs typeface="Lato"/>
              </a:rPr>
              <a:t> </a:t>
            </a:r>
            <a:r>
              <a:rPr sz="1560" b="0" dirty="0" err="1">
                <a:solidFill>
                  <a:srgbClr val="526170"/>
                </a:solidFill>
                <a:latin typeface="Lato"/>
                <a:ea typeface="Lato"/>
                <a:cs typeface="Lato"/>
              </a:rPr>
              <a:t>chọn</a:t>
            </a:r>
            <a:r>
              <a:rPr sz="1560" b="0" dirty="0">
                <a:solidFill>
                  <a:srgbClr val="526170"/>
                </a:solidFill>
                <a:latin typeface="Lato"/>
                <a:ea typeface="Lato"/>
                <a:cs typeface="Lato"/>
              </a:rPr>
              <a:t> </a:t>
            </a:r>
            <a:r>
              <a:rPr sz="1560" b="0" dirty="0" err="1">
                <a:solidFill>
                  <a:srgbClr val="526170"/>
                </a:solidFill>
                <a:latin typeface="Lato"/>
                <a:ea typeface="Lato"/>
                <a:cs typeface="Lato"/>
              </a:rPr>
              <a:t>từ</a:t>
            </a:r>
            <a:r>
              <a:rPr sz="1560" b="0" dirty="0">
                <a:solidFill>
                  <a:srgbClr val="526170"/>
                </a:solidFill>
                <a:latin typeface="Lato"/>
                <a:ea typeface="Lato"/>
                <a:cs typeface="Lato"/>
              </a:rPr>
              <a:t> </a:t>
            </a:r>
            <a:r>
              <a:rPr sz="1560" b="0" dirty="0" err="1">
                <a:solidFill>
                  <a:srgbClr val="526170"/>
                </a:solidFill>
                <a:latin typeface="Lato"/>
                <a:ea typeface="Lato"/>
                <a:cs typeface="Lato"/>
              </a:rPr>
              <a:t>giai</a:t>
            </a:r>
            <a:r>
              <a:rPr sz="1560" b="0" dirty="0">
                <a:solidFill>
                  <a:srgbClr val="526170"/>
                </a:solidFill>
                <a:latin typeface="Lato"/>
                <a:ea typeface="Lato"/>
                <a:cs typeface="Lato"/>
              </a:rPr>
              <a:t> </a:t>
            </a:r>
            <a:r>
              <a:rPr sz="1560" b="0" dirty="0" err="1">
                <a:solidFill>
                  <a:srgbClr val="526170"/>
                </a:solidFill>
                <a:latin typeface="Lato"/>
                <a:ea typeface="Lato"/>
                <a:cs typeface="Lato"/>
              </a:rPr>
              <a:t>đoạn</a:t>
            </a:r>
            <a:r>
              <a:rPr sz="1560" b="0" dirty="0">
                <a:solidFill>
                  <a:srgbClr val="526170"/>
                </a:solidFill>
                <a:latin typeface="Lato"/>
                <a:ea typeface="Lato"/>
                <a:cs typeface="Lato"/>
              </a:rPr>
              <a:t> 1 </a:t>
            </a:r>
            <a:r>
              <a:rPr sz="1560" b="0" dirty="0" err="1">
                <a:solidFill>
                  <a:srgbClr val="526170"/>
                </a:solidFill>
                <a:latin typeface="Lato"/>
                <a:ea typeface="Lato"/>
                <a:cs typeface="Lato"/>
              </a:rPr>
              <a:t>trên</a:t>
            </a:r>
            <a:r>
              <a:rPr sz="1560" b="0" dirty="0">
                <a:solidFill>
                  <a:srgbClr val="526170"/>
                </a:solidFill>
                <a:latin typeface="Lato"/>
                <a:ea typeface="Lato"/>
                <a:cs typeface="Lato"/>
              </a:rPr>
              <a:t> </a:t>
            </a:r>
            <a:r>
              <a:rPr sz="1560" b="0" dirty="0" err="1">
                <a:solidFill>
                  <a:srgbClr val="526170"/>
                </a:solidFill>
                <a:latin typeface="Lato"/>
                <a:ea typeface="Lato"/>
                <a:cs typeface="Lato"/>
              </a:rPr>
              <a:t>ba</a:t>
            </a:r>
            <a:r>
              <a:rPr sz="1560" b="0" dirty="0">
                <a:solidFill>
                  <a:srgbClr val="526170"/>
                </a:solidFill>
                <a:latin typeface="Lato"/>
                <a:ea typeface="Lato"/>
                <a:cs typeface="Lato"/>
              </a:rPr>
              <a:t> </a:t>
            </a:r>
            <a:r>
              <a:rPr sz="1560" b="0" dirty="0" err="1">
                <a:solidFill>
                  <a:srgbClr val="526170"/>
                </a:solidFill>
                <a:latin typeface="Lato"/>
                <a:ea typeface="Lato"/>
                <a:cs typeface="Lato"/>
              </a:rPr>
              <a:t>nguồn</a:t>
            </a:r>
            <a:r>
              <a:rPr sz="1560" b="0" dirty="0">
                <a:solidFill>
                  <a:srgbClr val="526170"/>
                </a:solidFill>
                <a:latin typeface="Lato"/>
                <a:ea typeface="Lato"/>
                <a:cs typeface="Lato"/>
              </a:rPr>
              <a:t> </a:t>
            </a:r>
            <a:r>
              <a:rPr sz="1560" b="0" dirty="0" err="1">
                <a:solidFill>
                  <a:srgbClr val="526170"/>
                </a:solidFill>
                <a:latin typeface="Lato"/>
                <a:ea typeface="Lato"/>
                <a:cs typeface="Lato"/>
              </a:rPr>
              <a:t>dữ</a:t>
            </a:r>
            <a:r>
              <a:rPr sz="1560" b="0" dirty="0">
                <a:solidFill>
                  <a:srgbClr val="526170"/>
                </a:solidFill>
                <a:latin typeface="Lato"/>
                <a:ea typeface="Lato"/>
                <a:cs typeface="Lato"/>
              </a:rPr>
              <a:t> </a:t>
            </a:r>
            <a:r>
              <a:rPr sz="1560" b="0" dirty="0" err="1">
                <a:solidFill>
                  <a:srgbClr val="526170"/>
                </a:solidFill>
                <a:latin typeface="Lato"/>
                <a:ea typeface="Lato"/>
                <a:cs typeface="Lato"/>
              </a:rPr>
              <a:t>liệu</a:t>
            </a:r>
            <a:r>
              <a:rPr sz="1560" b="0" dirty="0">
                <a:solidFill>
                  <a:srgbClr val="526170"/>
                </a:solidFill>
                <a:latin typeface="Lato"/>
                <a:ea typeface="Lato"/>
                <a:cs typeface="Lato"/>
              </a:rPr>
              <a:t> </a:t>
            </a:r>
            <a:r>
              <a:rPr sz="1560" b="0" dirty="0" err="1">
                <a:solidFill>
                  <a:srgbClr val="526170"/>
                </a:solidFill>
                <a:latin typeface="Lato"/>
                <a:ea typeface="Lato"/>
                <a:cs typeface="Lato"/>
              </a:rPr>
              <a:t>viết</a:t>
            </a:r>
            <a:r>
              <a:rPr sz="1560" b="0" dirty="0">
                <a:solidFill>
                  <a:srgbClr val="526170"/>
                </a:solidFill>
                <a:latin typeface="Lato"/>
                <a:ea typeface="Lato"/>
                <a:cs typeface="Lato"/>
              </a:rPr>
              <a:t> </a:t>
            </a:r>
            <a:r>
              <a:rPr sz="1560" b="0" dirty="0" err="1">
                <a:solidFill>
                  <a:srgbClr val="526170"/>
                </a:solidFill>
                <a:latin typeface="Lato"/>
                <a:ea typeface="Lato"/>
                <a:cs typeface="Lato"/>
              </a:rPr>
              <a:t>tay</a:t>
            </a:r>
            <a:r>
              <a:rPr sz="1560" b="0" dirty="0">
                <a:solidFill>
                  <a:srgbClr val="526170"/>
                </a:solidFill>
                <a:latin typeface="Lato"/>
                <a:ea typeface="Lato"/>
                <a:cs typeface="Lato"/>
              </a:rPr>
              <a:t>.</a:t>
            </a:r>
          </a:p>
        </p:txBody>
      </p:sp>
      <p:sp>
        <p:nvSpPr>
          <p:cNvPr id="6" name="node-46">
            <a:extLst>
              <a:ext uri="{FF2B5EF4-FFF2-40B4-BE49-F238E27FC236}">
                <a16:creationId xmlns:a16="http://schemas.microsoft.com/office/drawing/2014/main" id="{E36AE92C-E0EC-4E82-9334-4B33D87F618B}"/>
              </a:ext>
            </a:extLst>
          </p:cNvPr>
          <p:cNvSpPr>
            <a:spLocks noGrp="1"/>
          </p:cNvSpPr>
          <p:nvPr/>
        </p:nvSpPr>
        <p:spPr>
          <a:xfrm>
            <a:off x="609600" y="1800225"/>
            <a:ext cx="2667000" cy="785813"/>
          </a:xfrm>
          <a:prstGeom prst="rect">
            <a:avLst/>
          </a:prstGeom>
          <a:solidFill>
            <a:srgbClr val="E9F0F8"/>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Checkpoint tốt nhất</a:t>
            </a:r>
          </a:p>
          <a:p>
            <a:pPr algn="ctr">
              <a:defRPr sz="1500" b="1">
                <a:solidFill>
                  <a:srgbClr val="00376F"/>
                </a:solidFill>
                <a:latin typeface="Lato"/>
                <a:ea typeface="Lato"/>
                <a:cs typeface="Lato"/>
              </a:defRPr>
            </a:pPr>
            <a:r>
              <a:rPr sz="1500" b="1">
                <a:solidFill>
                  <a:srgbClr val="00376F"/>
                </a:solidFill>
                <a:latin typeface="Lato"/>
                <a:ea typeface="Lato"/>
                <a:cs typeface="Lato"/>
              </a:rPr>
              <a:t>trên chữ in</a:t>
            </a:r>
          </a:p>
        </p:txBody>
      </p:sp>
      <p:sp>
        <p:nvSpPr>
          <p:cNvPr id="7" name="node-47">
            <a:extLst>
              <a:ext uri="{FF2B5EF4-FFF2-40B4-BE49-F238E27FC236}">
                <a16:creationId xmlns:a16="http://schemas.microsoft.com/office/drawing/2014/main" id="{4CA829B9-C37E-478D-AA00-C51F81317C03}"/>
              </a:ext>
            </a:extLst>
          </p:cNvPr>
          <p:cNvSpPr>
            <a:spLocks noGrp="1"/>
          </p:cNvSpPr>
          <p:nvPr/>
        </p:nvSpPr>
        <p:spPr>
          <a:xfrm>
            <a:off x="4572000" y="1800225"/>
            <a:ext cx="3086100" cy="785813"/>
          </a:xfrm>
          <a:prstGeom prst="rect">
            <a:avLst/>
          </a:prstGeom>
          <a:solidFill>
            <a:srgbClr val="E9F0F8"/>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Fine-tune hợp nhất</a:t>
            </a:r>
          </a:p>
          <a:p>
            <a:pPr algn="ctr">
              <a:defRPr sz="1500" b="1">
                <a:solidFill>
                  <a:srgbClr val="00376F"/>
                </a:solidFill>
                <a:latin typeface="Lato"/>
                <a:ea typeface="Lato"/>
                <a:cs typeface="Lato"/>
              </a:defRPr>
            </a:pPr>
            <a:r>
              <a:rPr sz="1500" b="1">
                <a:solidFill>
                  <a:srgbClr val="00376F"/>
                </a:solidFill>
                <a:latin typeface="Lato"/>
                <a:ea typeface="Lato"/>
                <a:cs typeface="Lato"/>
              </a:rPr>
              <a:t>3 nguồn train viết tay</a:t>
            </a:r>
          </a:p>
        </p:txBody>
      </p:sp>
      <p:sp>
        <p:nvSpPr>
          <p:cNvPr id="8" name="node-48">
            <a:extLst>
              <a:ext uri="{FF2B5EF4-FFF2-40B4-BE49-F238E27FC236}">
                <a16:creationId xmlns:a16="http://schemas.microsoft.com/office/drawing/2014/main" id="{BAADDC5E-EB10-45F1-BF07-AFE4010B44B4}"/>
              </a:ext>
            </a:extLst>
          </p:cNvPr>
          <p:cNvSpPr>
            <a:spLocks noGrp="1"/>
          </p:cNvSpPr>
          <p:nvPr/>
        </p:nvSpPr>
        <p:spPr>
          <a:xfrm>
            <a:off x="8953500" y="1800225"/>
            <a:ext cx="2628900" cy="785813"/>
          </a:xfrm>
          <a:prstGeom prst="rect">
            <a:avLst/>
          </a:prstGeom>
          <a:solidFill>
            <a:srgbClr val="E9F0F8"/>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Checkpoint</a:t>
            </a:r>
          </a:p>
          <a:p>
            <a:pPr algn="ctr">
              <a:defRPr sz="1500" b="1">
                <a:solidFill>
                  <a:srgbClr val="00376F"/>
                </a:solidFill>
                <a:latin typeface="Lato"/>
                <a:ea typeface="Lato"/>
                <a:cs typeface="Lato"/>
              </a:defRPr>
            </a:pPr>
            <a:r>
              <a:rPr sz="1500" b="1">
                <a:solidFill>
                  <a:srgbClr val="00376F"/>
                </a:solidFill>
                <a:latin typeface="Lato"/>
                <a:ea typeface="Lato"/>
                <a:cs typeface="Lato"/>
              </a:rPr>
              <a:t>chữ viết tay</a:t>
            </a:r>
          </a:p>
        </p:txBody>
      </p:sp>
      <p:sp>
        <p:nvSpPr>
          <p:cNvPr id="11" name="text-49">
            <a:extLst>
              <a:ext uri="{FF2B5EF4-FFF2-40B4-BE49-F238E27FC236}">
                <a16:creationId xmlns:a16="http://schemas.microsoft.com/office/drawing/2014/main" id="{A2E66239-7AF9-47EA-94E5-B86F306DD3E0}"/>
              </a:ext>
            </a:extLst>
          </p:cNvPr>
          <p:cNvSpPr>
            <a:spLocks noGrp="1"/>
          </p:cNvSpPr>
          <p:nvPr/>
        </p:nvSpPr>
        <p:spPr>
          <a:xfrm>
            <a:off x="609600" y="2978944"/>
            <a:ext cx="5029200" cy="300038"/>
          </a:xfrm>
          <a:prstGeom prst="rect">
            <a:avLst/>
          </a:prstGeom>
          <a:noFill/>
          <a:ln w="0">
            <a:noFill/>
            <a:prstDash val="solid"/>
          </a:ln>
        </p:spPr>
        <p:txBody>
          <a:bodyPr lIns="0" tIns="0" rIns="0" bIns="0" anchor="t"/>
          <a:lstStyle>
            <a:defPPr>
              <a:defRPr sz="1680" b="1">
                <a:solidFill>
                  <a:srgbClr val="BE1E2D"/>
                </a:solidFill>
                <a:latin typeface="Lato"/>
                <a:ea typeface="Lato"/>
                <a:cs typeface="Lato"/>
              </a:defRPr>
            </a:defPPr>
            <a:lvl1pPr>
              <a:defRPr sz="1680" b="1">
                <a:solidFill>
                  <a:srgbClr val="BE1E2D"/>
                </a:solidFill>
                <a:latin typeface="Lato"/>
                <a:ea typeface="Lato"/>
                <a:cs typeface="Lato"/>
              </a:defRPr>
            </a:lvl1pPr>
            <a:lvl2pPr>
              <a:defRPr sz="1680" b="1">
                <a:solidFill>
                  <a:srgbClr val="BE1E2D"/>
                </a:solidFill>
                <a:latin typeface="Lato"/>
                <a:ea typeface="Lato"/>
                <a:cs typeface="Lato"/>
              </a:defRPr>
            </a:lvl2pPr>
            <a:lvl3pPr>
              <a:defRPr sz="1680" b="1">
                <a:solidFill>
                  <a:srgbClr val="BE1E2D"/>
                </a:solidFill>
                <a:latin typeface="Lato"/>
                <a:ea typeface="Lato"/>
                <a:cs typeface="Lato"/>
              </a:defRPr>
            </a:lvl3pPr>
            <a:lvl4pPr>
              <a:defRPr sz="1680" b="1">
                <a:solidFill>
                  <a:srgbClr val="BE1E2D"/>
                </a:solidFill>
                <a:latin typeface="Lato"/>
                <a:ea typeface="Lato"/>
                <a:cs typeface="Lato"/>
              </a:defRPr>
            </a:lvl4pPr>
            <a:lvl5pPr>
              <a:defRPr sz="1680" b="1">
                <a:solidFill>
                  <a:srgbClr val="BE1E2D"/>
                </a:solidFill>
                <a:latin typeface="Lato"/>
                <a:ea typeface="Lato"/>
                <a:cs typeface="Lato"/>
              </a:defRPr>
            </a:lvl5pPr>
            <a:lvl6pPr>
              <a:defRPr sz="1680" b="1">
                <a:solidFill>
                  <a:srgbClr val="BE1E2D"/>
                </a:solidFill>
                <a:latin typeface="Lato"/>
                <a:ea typeface="Lato"/>
                <a:cs typeface="Lato"/>
              </a:defRPr>
            </a:lvl6pPr>
            <a:lvl7pPr>
              <a:defRPr sz="1680" b="1">
                <a:solidFill>
                  <a:srgbClr val="BE1E2D"/>
                </a:solidFill>
                <a:latin typeface="Lato"/>
                <a:ea typeface="Lato"/>
                <a:cs typeface="Lato"/>
              </a:defRPr>
            </a:lvl7pPr>
            <a:lvl8pPr>
              <a:defRPr sz="1680" b="1">
                <a:solidFill>
                  <a:srgbClr val="BE1E2D"/>
                </a:solidFill>
                <a:latin typeface="Lato"/>
                <a:ea typeface="Lato"/>
                <a:cs typeface="Lato"/>
              </a:defRPr>
            </a:lvl8pPr>
            <a:lvl9pPr>
              <a:defRPr sz="1680" b="1">
                <a:solidFill>
                  <a:srgbClr val="BE1E2D"/>
                </a:solidFill>
                <a:latin typeface="Lato"/>
                <a:ea typeface="Lato"/>
                <a:cs typeface="Lato"/>
              </a:defRPr>
            </a:lvl9pPr>
          </a:lstStyle>
          <a:p>
            <a:pPr>
              <a:defRPr sz="1680" b="1">
                <a:solidFill>
                  <a:srgbClr val="BE1E2D"/>
                </a:solidFill>
                <a:latin typeface="Lato"/>
                <a:ea typeface="Lato"/>
                <a:cs typeface="Lato"/>
              </a:defRPr>
            </a:pPr>
            <a:r>
              <a:rPr sz="1680" b="1" dirty="0">
                <a:solidFill>
                  <a:srgbClr val="BE1E2D"/>
                </a:solidFill>
                <a:latin typeface="Lato"/>
                <a:ea typeface="Lato"/>
                <a:cs typeface="Lato"/>
              </a:rPr>
              <a:t>TÁCH DỮ LIỆU</a:t>
            </a:r>
          </a:p>
        </p:txBody>
      </p:sp>
      <p:sp>
        <p:nvSpPr>
          <p:cNvPr id="12" name="text-50">
            <a:extLst>
              <a:ext uri="{FF2B5EF4-FFF2-40B4-BE49-F238E27FC236}">
                <a16:creationId xmlns:a16="http://schemas.microsoft.com/office/drawing/2014/main" id="{2B09068E-2B7F-4E93-B94A-D5D9C5119550}"/>
              </a:ext>
            </a:extLst>
          </p:cNvPr>
          <p:cNvSpPr>
            <a:spLocks noGrp="1"/>
          </p:cNvSpPr>
          <p:nvPr/>
        </p:nvSpPr>
        <p:spPr>
          <a:xfrm>
            <a:off x="609600" y="3421856"/>
            <a:ext cx="5257800" cy="950119"/>
          </a:xfrm>
          <a:prstGeom prst="rect">
            <a:avLst/>
          </a:prstGeom>
          <a:noFill/>
          <a:ln w="0">
            <a:noFill/>
            <a:prstDash val="solid"/>
          </a:ln>
        </p:spPr>
        <p:txBody>
          <a:bodyPr lIns="0" tIns="0" rIns="0" bIns="0" anchor="t"/>
          <a:lstStyle>
            <a:defPPr>
              <a:defRPr sz="1560" b="0">
                <a:solidFill>
                  <a:srgbClr val="00376F"/>
                </a:solidFill>
                <a:latin typeface="Lato"/>
                <a:ea typeface="Lato"/>
                <a:cs typeface="Lato"/>
              </a:defRPr>
            </a:defPPr>
            <a:lvl1pPr>
              <a:defRPr sz="1560" b="0">
                <a:solidFill>
                  <a:srgbClr val="00376F"/>
                </a:solidFill>
                <a:latin typeface="Lato"/>
                <a:ea typeface="Lato"/>
                <a:cs typeface="Lato"/>
              </a:defRPr>
            </a:lvl1pPr>
            <a:lvl2pPr>
              <a:defRPr sz="1560" b="0">
                <a:solidFill>
                  <a:srgbClr val="00376F"/>
                </a:solidFill>
                <a:latin typeface="Lato"/>
                <a:ea typeface="Lato"/>
                <a:cs typeface="Lato"/>
              </a:defRPr>
            </a:lvl2pPr>
            <a:lvl3pPr>
              <a:defRPr sz="1560" b="0">
                <a:solidFill>
                  <a:srgbClr val="00376F"/>
                </a:solidFill>
                <a:latin typeface="Lato"/>
                <a:ea typeface="Lato"/>
                <a:cs typeface="Lato"/>
              </a:defRPr>
            </a:lvl3pPr>
            <a:lvl4pPr>
              <a:defRPr sz="1560" b="0">
                <a:solidFill>
                  <a:srgbClr val="00376F"/>
                </a:solidFill>
                <a:latin typeface="Lato"/>
                <a:ea typeface="Lato"/>
                <a:cs typeface="Lato"/>
              </a:defRPr>
            </a:lvl4pPr>
            <a:lvl5pPr>
              <a:defRPr sz="1560" b="0">
                <a:solidFill>
                  <a:srgbClr val="00376F"/>
                </a:solidFill>
                <a:latin typeface="Lato"/>
                <a:ea typeface="Lato"/>
                <a:cs typeface="Lato"/>
              </a:defRPr>
            </a:lvl5pPr>
            <a:lvl6pPr>
              <a:defRPr sz="1560" b="0">
                <a:solidFill>
                  <a:srgbClr val="00376F"/>
                </a:solidFill>
                <a:latin typeface="Lato"/>
                <a:ea typeface="Lato"/>
                <a:cs typeface="Lato"/>
              </a:defRPr>
            </a:lvl6pPr>
            <a:lvl7pPr>
              <a:defRPr sz="1560" b="0">
                <a:solidFill>
                  <a:srgbClr val="00376F"/>
                </a:solidFill>
                <a:latin typeface="Lato"/>
                <a:ea typeface="Lato"/>
                <a:cs typeface="Lato"/>
              </a:defRPr>
            </a:lvl7pPr>
            <a:lvl8pPr>
              <a:defRPr sz="1560" b="0">
                <a:solidFill>
                  <a:srgbClr val="00376F"/>
                </a:solidFill>
                <a:latin typeface="Lato"/>
                <a:ea typeface="Lato"/>
                <a:cs typeface="Lato"/>
              </a:defRPr>
            </a:lvl8pPr>
            <a:lvl9pPr>
              <a:defRPr sz="1560" b="0">
                <a:solidFill>
                  <a:srgbClr val="00376F"/>
                </a:solidFill>
                <a:latin typeface="Lato"/>
                <a:ea typeface="Lato"/>
                <a:cs typeface="Lato"/>
              </a:defRPr>
            </a:lvl9pPr>
          </a:lstStyle>
          <a:p>
            <a:pPr>
              <a:defRPr sz="1560" b="0">
                <a:solidFill>
                  <a:srgbClr val="00376F"/>
                </a:solidFill>
                <a:latin typeface="Lato"/>
                <a:ea typeface="Lato"/>
                <a:cs typeface="Lato"/>
              </a:defRPr>
            </a:pPr>
            <a:r>
              <a:rPr sz="1560" b="0" dirty="0" err="1">
                <a:solidFill>
                  <a:srgbClr val="00376F"/>
                </a:solidFill>
                <a:latin typeface="Lato"/>
                <a:ea typeface="Lato"/>
                <a:cs typeface="Lato"/>
              </a:rPr>
              <a:t>Giữ</a:t>
            </a:r>
            <a:r>
              <a:rPr sz="1560" b="0" dirty="0">
                <a:solidFill>
                  <a:srgbClr val="00376F"/>
                </a:solidFill>
                <a:latin typeface="Lato"/>
                <a:ea typeface="Lato"/>
                <a:cs typeface="Lato"/>
              </a:rPr>
              <a:t> test </a:t>
            </a:r>
            <a:r>
              <a:rPr sz="1560" b="0" dirty="0" err="1">
                <a:solidFill>
                  <a:srgbClr val="00376F"/>
                </a:solidFill>
                <a:latin typeface="Lato"/>
                <a:ea typeface="Lato"/>
                <a:cs typeface="Lato"/>
              </a:rPr>
              <a:t>chính</a:t>
            </a:r>
            <a:r>
              <a:rPr sz="1560" b="0" dirty="0">
                <a:solidFill>
                  <a:srgbClr val="00376F"/>
                </a:solidFill>
                <a:latin typeface="Lato"/>
                <a:ea typeface="Lato"/>
                <a:cs typeface="Lato"/>
              </a:rPr>
              <a:t> </a:t>
            </a:r>
            <a:r>
              <a:rPr sz="1560" b="0" dirty="0" err="1">
                <a:solidFill>
                  <a:srgbClr val="00376F"/>
                </a:solidFill>
                <a:latin typeface="Lato"/>
                <a:ea typeface="Lato"/>
                <a:cs typeface="Lato"/>
              </a:rPr>
              <a:t>thức</a:t>
            </a:r>
            <a:r>
              <a:rPr sz="1560" b="0" dirty="0">
                <a:solidFill>
                  <a:srgbClr val="00376F"/>
                </a:solidFill>
                <a:latin typeface="Lato"/>
                <a:ea typeface="Lato"/>
                <a:cs typeface="Lato"/>
              </a:rPr>
              <a:t> </a:t>
            </a:r>
            <a:r>
              <a:rPr sz="1560" b="0" dirty="0" err="1">
                <a:solidFill>
                  <a:srgbClr val="00376F"/>
                </a:solidFill>
                <a:latin typeface="Lato"/>
                <a:ea typeface="Lato"/>
                <a:cs typeface="Lato"/>
              </a:rPr>
              <a:t>của</a:t>
            </a:r>
            <a:r>
              <a:rPr sz="1560" b="0" dirty="0">
                <a:solidFill>
                  <a:srgbClr val="00376F"/>
                </a:solidFill>
                <a:latin typeface="Lato"/>
                <a:ea typeface="Lato"/>
                <a:cs typeface="Lato"/>
              </a:rPr>
              <a:t> </a:t>
            </a:r>
            <a:r>
              <a:rPr sz="1560" b="0" dirty="0" err="1">
                <a:solidFill>
                  <a:srgbClr val="00376F"/>
                </a:solidFill>
                <a:latin typeface="Lato"/>
                <a:ea typeface="Lato"/>
                <a:cs typeface="Lato"/>
              </a:rPr>
              <a:t>từng</a:t>
            </a:r>
            <a:r>
              <a:rPr sz="1560" b="0" dirty="0">
                <a:solidFill>
                  <a:srgbClr val="00376F"/>
                </a:solidFill>
                <a:latin typeface="Lato"/>
                <a:ea typeface="Lato"/>
                <a:cs typeface="Lato"/>
              </a:rPr>
              <a:t> </a:t>
            </a:r>
            <a:r>
              <a:rPr sz="1560" b="0" dirty="0" err="1">
                <a:solidFill>
                  <a:srgbClr val="00376F"/>
                </a:solidFill>
                <a:latin typeface="Lato"/>
                <a:ea typeface="Lato"/>
                <a:cs typeface="Lato"/>
              </a:rPr>
              <a:t>bộ</a:t>
            </a:r>
            <a:r>
              <a:rPr sz="1560" b="0" dirty="0">
                <a:solidFill>
                  <a:srgbClr val="00376F"/>
                </a:solidFill>
                <a:latin typeface="Lato"/>
                <a:ea typeface="Lato"/>
                <a:cs typeface="Lato"/>
              </a:rPr>
              <a:t>.</a:t>
            </a:r>
          </a:p>
          <a:p>
            <a:pPr>
              <a:defRPr sz="1560" b="0">
                <a:solidFill>
                  <a:srgbClr val="00376F"/>
                </a:solidFill>
                <a:latin typeface="Lato"/>
                <a:ea typeface="Lato"/>
                <a:cs typeface="Lato"/>
              </a:defRPr>
            </a:pPr>
            <a:r>
              <a:rPr sz="1560" b="0" dirty="0" err="1">
                <a:solidFill>
                  <a:srgbClr val="00376F"/>
                </a:solidFill>
                <a:latin typeface="Lato"/>
                <a:ea typeface="Lato"/>
                <a:cs typeface="Lato"/>
              </a:rPr>
              <a:t>Tách</a:t>
            </a:r>
            <a:r>
              <a:rPr sz="1560" b="0" dirty="0">
                <a:solidFill>
                  <a:srgbClr val="00376F"/>
                </a:solidFill>
                <a:latin typeface="Lato"/>
                <a:ea typeface="Lato"/>
                <a:cs typeface="Lato"/>
              </a:rPr>
              <a:t> validation </a:t>
            </a:r>
            <a:r>
              <a:rPr sz="1560" b="0" dirty="0" err="1">
                <a:solidFill>
                  <a:srgbClr val="00376F"/>
                </a:solidFill>
                <a:latin typeface="Lato"/>
                <a:ea typeface="Lato"/>
                <a:cs typeface="Lato"/>
              </a:rPr>
              <a:t>theo</a:t>
            </a:r>
            <a:r>
              <a:rPr sz="1560" b="0" dirty="0">
                <a:solidFill>
                  <a:srgbClr val="00376F"/>
                </a:solidFill>
                <a:latin typeface="Lato"/>
                <a:ea typeface="Lato"/>
                <a:cs typeface="Lato"/>
              </a:rPr>
              <a:t> </a:t>
            </a:r>
            <a:r>
              <a:rPr sz="1560" b="0" dirty="0" err="1">
                <a:solidFill>
                  <a:srgbClr val="00376F"/>
                </a:solidFill>
                <a:latin typeface="Lato"/>
                <a:ea typeface="Lato"/>
                <a:cs typeface="Lato"/>
              </a:rPr>
              <a:t>người</a:t>
            </a:r>
            <a:r>
              <a:rPr sz="1560" b="0" dirty="0">
                <a:solidFill>
                  <a:srgbClr val="00376F"/>
                </a:solidFill>
                <a:latin typeface="Lato"/>
                <a:ea typeface="Lato"/>
                <a:cs typeface="Lato"/>
              </a:rPr>
              <a:t> </a:t>
            </a:r>
            <a:r>
              <a:rPr sz="1560" b="0" dirty="0" err="1">
                <a:solidFill>
                  <a:srgbClr val="00376F"/>
                </a:solidFill>
                <a:latin typeface="Lato"/>
                <a:ea typeface="Lato"/>
                <a:cs typeface="Lato"/>
              </a:rPr>
              <a:t>viết</a:t>
            </a:r>
            <a:r>
              <a:rPr sz="1560" b="0" dirty="0">
                <a:solidFill>
                  <a:srgbClr val="00376F"/>
                </a:solidFill>
                <a:latin typeface="Lato"/>
                <a:ea typeface="Lato"/>
                <a:cs typeface="Lato"/>
              </a:rPr>
              <a:t> / </a:t>
            </a:r>
            <a:r>
              <a:rPr sz="1560" b="0" dirty="0" err="1">
                <a:solidFill>
                  <a:srgbClr val="00376F"/>
                </a:solidFill>
                <a:latin typeface="Lato"/>
                <a:ea typeface="Lato"/>
                <a:cs typeface="Lato"/>
              </a:rPr>
              <a:t>nguồn</a:t>
            </a:r>
            <a:r>
              <a:rPr sz="1560" b="0" dirty="0">
                <a:solidFill>
                  <a:srgbClr val="00376F"/>
                </a:solidFill>
                <a:latin typeface="Lato"/>
                <a:ea typeface="Lato"/>
                <a:cs typeface="Lato"/>
              </a:rPr>
              <a:t>.</a:t>
            </a:r>
          </a:p>
          <a:p>
            <a:pPr>
              <a:defRPr sz="1560" b="0">
                <a:solidFill>
                  <a:srgbClr val="00376F"/>
                </a:solidFill>
                <a:latin typeface="Lato"/>
                <a:ea typeface="Lato"/>
                <a:cs typeface="Lato"/>
              </a:defRPr>
            </a:pPr>
            <a:r>
              <a:rPr lang="en-US" dirty="0" err="1"/>
              <a:t>Đề</a:t>
            </a:r>
            <a:r>
              <a:rPr lang="en-US" dirty="0"/>
              <a:t> </a:t>
            </a:r>
            <a:r>
              <a:rPr sz="1560" b="0" dirty="0" err="1">
                <a:solidFill>
                  <a:srgbClr val="00376F"/>
                </a:solidFill>
                <a:latin typeface="Lato"/>
                <a:ea typeface="Lato"/>
                <a:cs typeface="Lato"/>
              </a:rPr>
              <a:t>xuất</a:t>
            </a:r>
            <a:r>
              <a:rPr sz="1560" b="0" dirty="0">
                <a:solidFill>
                  <a:srgbClr val="00376F"/>
                </a:solidFill>
                <a:latin typeface="Lato"/>
                <a:ea typeface="Lato"/>
                <a:cs typeface="Lato"/>
              </a:rPr>
              <a:t> 80% / 10% / 10%.</a:t>
            </a:r>
          </a:p>
        </p:txBody>
      </p:sp>
      <p:sp>
        <p:nvSpPr>
          <p:cNvPr id="13" name="text-51">
            <a:extLst>
              <a:ext uri="{FF2B5EF4-FFF2-40B4-BE49-F238E27FC236}">
                <a16:creationId xmlns:a16="http://schemas.microsoft.com/office/drawing/2014/main" id="{A8110555-AC9A-4716-9B46-A15DF8198AB4}"/>
              </a:ext>
            </a:extLst>
          </p:cNvPr>
          <p:cNvSpPr>
            <a:spLocks noGrp="1"/>
          </p:cNvSpPr>
          <p:nvPr/>
        </p:nvSpPr>
        <p:spPr>
          <a:xfrm>
            <a:off x="6362700" y="2978944"/>
            <a:ext cx="5181600" cy="300038"/>
          </a:xfrm>
          <a:prstGeom prst="rect">
            <a:avLst/>
          </a:prstGeom>
          <a:noFill/>
          <a:ln w="0">
            <a:noFill/>
            <a:prstDash val="solid"/>
          </a:ln>
        </p:spPr>
        <p:txBody>
          <a:bodyPr lIns="0" tIns="0" rIns="0" bIns="0" anchor="t"/>
          <a:lstStyle>
            <a:defPPr>
              <a:defRPr sz="1680" b="1">
                <a:solidFill>
                  <a:srgbClr val="BE1E2D"/>
                </a:solidFill>
                <a:latin typeface="Lato"/>
                <a:ea typeface="Lato"/>
                <a:cs typeface="Lato"/>
              </a:defRPr>
            </a:defPPr>
            <a:lvl1pPr>
              <a:defRPr sz="1680" b="1">
                <a:solidFill>
                  <a:srgbClr val="BE1E2D"/>
                </a:solidFill>
                <a:latin typeface="Lato"/>
                <a:ea typeface="Lato"/>
                <a:cs typeface="Lato"/>
              </a:defRPr>
            </a:lvl1pPr>
            <a:lvl2pPr>
              <a:defRPr sz="1680" b="1">
                <a:solidFill>
                  <a:srgbClr val="BE1E2D"/>
                </a:solidFill>
                <a:latin typeface="Lato"/>
                <a:ea typeface="Lato"/>
                <a:cs typeface="Lato"/>
              </a:defRPr>
            </a:lvl2pPr>
            <a:lvl3pPr>
              <a:defRPr sz="1680" b="1">
                <a:solidFill>
                  <a:srgbClr val="BE1E2D"/>
                </a:solidFill>
                <a:latin typeface="Lato"/>
                <a:ea typeface="Lato"/>
                <a:cs typeface="Lato"/>
              </a:defRPr>
            </a:lvl3pPr>
            <a:lvl4pPr>
              <a:defRPr sz="1680" b="1">
                <a:solidFill>
                  <a:srgbClr val="BE1E2D"/>
                </a:solidFill>
                <a:latin typeface="Lato"/>
                <a:ea typeface="Lato"/>
                <a:cs typeface="Lato"/>
              </a:defRPr>
            </a:lvl4pPr>
            <a:lvl5pPr>
              <a:defRPr sz="1680" b="1">
                <a:solidFill>
                  <a:srgbClr val="BE1E2D"/>
                </a:solidFill>
                <a:latin typeface="Lato"/>
                <a:ea typeface="Lato"/>
                <a:cs typeface="Lato"/>
              </a:defRPr>
            </a:lvl5pPr>
            <a:lvl6pPr>
              <a:defRPr sz="1680" b="1">
                <a:solidFill>
                  <a:srgbClr val="BE1E2D"/>
                </a:solidFill>
                <a:latin typeface="Lato"/>
                <a:ea typeface="Lato"/>
                <a:cs typeface="Lato"/>
              </a:defRPr>
            </a:lvl6pPr>
            <a:lvl7pPr>
              <a:defRPr sz="1680" b="1">
                <a:solidFill>
                  <a:srgbClr val="BE1E2D"/>
                </a:solidFill>
                <a:latin typeface="Lato"/>
                <a:ea typeface="Lato"/>
                <a:cs typeface="Lato"/>
              </a:defRPr>
            </a:lvl7pPr>
            <a:lvl8pPr>
              <a:defRPr sz="1680" b="1">
                <a:solidFill>
                  <a:srgbClr val="BE1E2D"/>
                </a:solidFill>
                <a:latin typeface="Lato"/>
                <a:ea typeface="Lato"/>
                <a:cs typeface="Lato"/>
              </a:defRPr>
            </a:lvl8pPr>
            <a:lvl9pPr>
              <a:defRPr sz="1680" b="1">
                <a:solidFill>
                  <a:srgbClr val="BE1E2D"/>
                </a:solidFill>
                <a:latin typeface="Lato"/>
                <a:ea typeface="Lato"/>
                <a:cs typeface="Lato"/>
              </a:defRPr>
            </a:lvl9pPr>
          </a:lstStyle>
          <a:p>
            <a:pPr>
              <a:defRPr sz="1680" b="1">
                <a:solidFill>
                  <a:srgbClr val="BE1E2D"/>
                </a:solidFill>
                <a:latin typeface="Lato"/>
                <a:ea typeface="Lato"/>
                <a:cs typeface="Lato"/>
              </a:defRPr>
            </a:pPr>
            <a:r>
              <a:rPr lang="en-US" sz="1680" b="1" dirty="0">
                <a:solidFill>
                  <a:srgbClr val="BE1E2D"/>
                </a:solidFill>
                <a:latin typeface="Lato"/>
                <a:ea typeface="Lato"/>
                <a:cs typeface="Lato"/>
              </a:rPr>
              <a:t>Kiếm </a:t>
            </a:r>
            <a:r>
              <a:rPr lang="en-US" sz="1680" b="1" dirty="0" err="1">
                <a:solidFill>
                  <a:srgbClr val="BE1E2D"/>
                </a:solidFill>
                <a:latin typeface="Lato"/>
                <a:ea typeface="Lato"/>
                <a:cs typeface="Lato"/>
              </a:rPr>
              <a:t>soát</a:t>
            </a:r>
            <a:r>
              <a:rPr lang="en-US" sz="1680" b="1" dirty="0">
                <a:solidFill>
                  <a:srgbClr val="BE1E2D"/>
                </a:solidFill>
                <a:latin typeface="Lato"/>
                <a:ea typeface="Lato"/>
                <a:cs typeface="Lato"/>
              </a:rPr>
              <a:t> </a:t>
            </a:r>
            <a:r>
              <a:rPr lang="en-US" sz="1680" b="1" dirty="0" err="1">
                <a:solidFill>
                  <a:srgbClr val="BE1E2D"/>
                </a:solidFill>
                <a:latin typeface="Lato"/>
                <a:ea typeface="Lato"/>
                <a:cs typeface="Lato"/>
              </a:rPr>
              <a:t>quá</a:t>
            </a:r>
            <a:r>
              <a:rPr lang="en-US" sz="1680" b="1" dirty="0">
                <a:solidFill>
                  <a:srgbClr val="BE1E2D"/>
                </a:solidFill>
                <a:latin typeface="Lato"/>
                <a:ea typeface="Lato"/>
                <a:cs typeface="Lato"/>
              </a:rPr>
              <a:t> </a:t>
            </a:r>
            <a:r>
              <a:rPr lang="en-US" sz="1680" b="1" dirty="0" err="1">
                <a:solidFill>
                  <a:srgbClr val="BE1E2D"/>
                </a:solidFill>
                <a:latin typeface="Lato"/>
                <a:ea typeface="Lato"/>
                <a:cs typeface="Lato"/>
              </a:rPr>
              <a:t>trình</a:t>
            </a:r>
            <a:r>
              <a:rPr lang="en-US" sz="1680" b="1" dirty="0">
                <a:solidFill>
                  <a:srgbClr val="BE1E2D"/>
                </a:solidFill>
                <a:latin typeface="Lato"/>
                <a:ea typeface="Lato"/>
                <a:cs typeface="Lato"/>
              </a:rPr>
              <a:t> Fine-tune</a:t>
            </a:r>
            <a:endParaRPr sz="1680" b="1" dirty="0">
              <a:solidFill>
                <a:srgbClr val="BE1E2D"/>
              </a:solidFill>
              <a:latin typeface="Lato"/>
              <a:ea typeface="Lato"/>
              <a:cs typeface="Lato"/>
            </a:endParaRPr>
          </a:p>
        </p:txBody>
      </p:sp>
      <p:sp>
        <p:nvSpPr>
          <p:cNvPr id="14" name="text-52">
            <a:extLst>
              <a:ext uri="{FF2B5EF4-FFF2-40B4-BE49-F238E27FC236}">
                <a16:creationId xmlns:a16="http://schemas.microsoft.com/office/drawing/2014/main" id="{1CBDA054-63FB-4FE5-B41B-1DD7600F6B12}"/>
              </a:ext>
            </a:extLst>
          </p:cNvPr>
          <p:cNvSpPr>
            <a:spLocks noGrp="1"/>
          </p:cNvSpPr>
          <p:nvPr/>
        </p:nvSpPr>
        <p:spPr>
          <a:xfrm>
            <a:off x="6362700" y="3421856"/>
            <a:ext cx="5219700" cy="950119"/>
          </a:xfrm>
          <a:prstGeom prst="rect">
            <a:avLst/>
          </a:prstGeom>
          <a:noFill/>
          <a:ln w="0">
            <a:noFill/>
            <a:prstDash val="solid"/>
          </a:ln>
        </p:spPr>
        <p:txBody>
          <a:bodyPr lIns="0" tIns="0" rIns="0" bIns="0" anchor="t"/>
          <a:lstStyle>
            <a:defPPr>
              <a:defRPr sz="1560" b="0">
                <a:solidFill>
                  <a:srgbClr val="00376F"/>
                </a:solidFill>
                <a:latin typeface="Lato"/>
                <a:ea typeface="Lato"/>
                <a:cs typeface="Lato"/>
              </a:defRPr>
            </a:defPPr>
            <a:lvl1pPr>
              <a:defRPr sz="1560" b="0">
                <a:solidFill>
                  <a:srgbClr val="00376F"/>
                </a:solidFill>
                <a:latin typeface="Lato"/>
                <a:ea typeface="Lato"/>
                <a:cs typeface="Lato"/>
              </a:defRPr>
            </a:lvl1pPr>
            <a:lvl2pPr>
              <a:defRPr sz="1560" b="0">
                <a:solidFill>
                  <a:srgbClr val="00376F"/>
                </a:solidFill>
                <a:latin typeface="Lato"/>
                <a:ea typeface="Lato"/>
                <a:cs typeface="Lato"/>
              </a:defRPr>
            </a:lvl2pPr>
            <a:lvl3pPr>
              <a:defRPr sz="1560" b="0">
                <a:solidFill>
                  <a:srgbClr val="00376F"/>
                </a:solidFill>
                <a:latin typeface="Lato"/>
                <a:ea typeface="Lato"/>
                <a:cs typeface="Lato"/>
              </a:defRPr>
            </a:lvl3pPr>
            <a:lvl4pPr>
              <a:defRPr sz="1560" b="0">
                <a:solidFill>
                  <a:srgbClr val="00376F"/>
                </a:solidFill>
                <a:latin typeface="Lato"/>
                <a:ea typeface="Lato"/>
                <a:cs typeface="Lato"/>
              </a:defRPr>
            </a:lvl4pPr>
            <a:lvl5pPr>
              <a:defRPr sz="1560" b="0">
                <a:solidFill>
                  <a:srgbClr val="00376F"/>
                </a:solidFill>
                <a:latin typeface="Lato"/>
                <a:ea typeface="Lato"/>
                <a:cs typeface="Lato"/>
              </a:defRPr>
            </a:lvl5pPr>
            <a:lvl6pPr>
              <a:defRPr sz="1560" b="0">
                <a:solidFill>
                  <a:srgbClr val="00376F"/>
                </a:solidFill>
                <a:latin typeface="Lato"/>
                <a:ea typeface="Lato"/>
                <a:cs typeface="Lato"/>
              </a:defRPr>
            </a:lvl6pPr>
            <a:lvl7pPr>
              <a:defRPr sz="1560" b="0">
                <a:solidFill>
                  <a:srgbClr val="00376F"/>
                </a:solidFill>
                <a:latin typeface="Lato"/>
                <a:ea typeface="Lato"/>
                <a:cs typeface="Lato"/>
              </a:defRPr>
            </a:lvl7pPr>
            <a:lvl8pPr>
              <a:defRPr sz="1560" b="0">
                <a:solidFill>
                  <a:srgbClr val="00376F"/>
                </a:solidFill>
                <a:latin typeface="Lato"/>
                <a:ea typeface="Lato"/>
                <a:cs typeface="Lato"/>
              </a:defRPr>
            </a:lvl8pPr>
            <a:lvl9pPr>
              <a:defRPr sz="1560" b="0">
                <a:solidFill>
                  <a:srgbClr val="00376F"/>
                </a:solidFill>
                <a:latin typeface="Lato"/>
                <a:ea typeface="Lato"/>
                <a:cs typeface="Lato"/>
              </a:defRPr>
            </a:lvl9pPr>
          </a:lstStyle>
          <a:p>
            <a:pPr>
              <a:defRPr sz="1560" b="0">
                <a:solidFill>
                  <a:srgbClr val="00376F"/>
                </a:solidFill>
                <a:latin typeface="Lato"/>
                <a:ea typeface="Lato"/>
                <a:cs typeface="Lato"/>
              </a:defRPr>
            </a:pPr>
            <a:r>
              <a:rPr sz="1560" b="0" dirty="0" err="1">
                <a:solidFill>
                  <a:srgbClr val="00376F"/>
                </a:solidFill>
                <a:latin typeface="Lato"/>
                <a:ea typeface="Lato"/>
                <a:cs typeface="Lato"/>
              </a:rPr>
              <a:t>Loại</a:t>
            </a:r>
            <a:r>
              <a:rPr sz="1560" b="0" dirty="0">
                <a:solidFill>
                  <a:srgbClr val="00376F"/>
                </a:solidFill>
                <a:latin typeface="Lato"/>
                <a:ea typeface="Lato"/>
                <a:cs typeface="Lato"/>
              </a:rPr>
              <a:t> </a:t>
            </a:r>
            <a:r>
              <a:rPr sz="1560" b="0" dirty="0" err="1">
                <a:solidFill>
                  <a:srgbClr val="00376F"/>
                </a:solidFill>
                <a:latin typeface="Lato"/>
                <a:ea typeface="Lato"/>
                <a:cs typeface="Lato"/>
              </a:rPr>
              <a:t>trùng</a:t>
            </a:r>
            <a:r>
              <a:rPr sz="1560" b="0" dirty="0">
                <a:solidFill>
                  <a:srgbClr val="00376F"/>
                </a:solidFill>
                <a:latin typeface="Lato"/>
                <a:ea typeface="Lato"/>
                <a:cs typeface="Lato"/>
              </a:rPr>
              <a:t> </a:t>
            </a:r>
            <a:r>
              <a:rPr sz="1560" b="0" dirty="0" err="1">
                <a:solidFill>
                  <a:srgbClr val="00376F"/>
                </a:solidFill>
                <a:latin typeface="Lato"/>
                <a:ea typeface="Lato"/>
                <a:cs typeface="Lato"/>
              </a:rPr>
              <a:t>giữa</a:t>
            </a:r>
            <a:r>
              <a:rPr sz="1560" b="0" dirty="0">
                <a:solidFill>
                  <a:srgbClr val="00376F"/>
                </a:solidFill>
                <a:latin typeface="Lato"/>
                <a:ea typeface="Lato"/>
                <a:cs typeface="Lato"/>
              </a:rPr>
              <a:t> </a:t>
            </a:r>
            <a:r>
              <a:rPr sz="1560" b="0" dirty="0" err="1">
                <a:solidFill>
                  <a:srgbClr val="00376F"/>
                </a:solidFill>
                <a:latin typeface="Lato"/>
                <a:ea typeface="Lato"/>
                <a:cs typeface="Lato"/>
              </a:rPr>
              <a:t>cả</a:t>
            </a:r>
            <a:r>
              <a:rPr sz="1560" b="0" dirty="0">
                <a:solidFill>
                  <a:srgbClr val="00376F"/>
                </a:solidFill>
                <a:latin typeface="Lato"/>
                <a:ea typeface="Lato"/>
                <a:cs typeface="Lato"/>
              </a:rPr>
              <a:t> </a:t>
            </a:r>
            <a:r>
              <a:rPr sz="1560" b="0" dirty="0" err="1">
                <a:solidFill>
                  <a:srgbClr val="00376F"/>
                </a:solidFill>
                <a:latin typeface="Lato"/>
                <a:ea typeface="Lato"/>
                <a:cs typeface="Lato"/>
              </a:rPr>
              <a:t>ba</a:t>
            </a:r>
            <a:r>
              <a:rPr sz="1560" b="0" dirty="0">
                <a:solidFill>
                  <a:srgbClr val="00376F"/>
                </a:solidFill>
                <a:latin typeface="Lato"/>
                <a:ea typeface="Lato"/>
                <a:cs typeface="Lato"/>
              </a:rPr>
              <a:t> </a:t>
            </a:r>
            <a:r>
              <a:rPr sz="1560" b="0" dirty="0" err="1">
                <a:solidFill>
                  <a:srgbClr val="00376F"/>
                </a:solidFill>
                <a:latin typeface="Lato"/>
                <a:ea typeface="Lato"/>
                <a:cs typeface="Lato"/>
              </a:rPr>
              <a:t>nguồn</a:t>
            </a:r>
            <a:r>
              <a:rPr sz="1560" b="0" dirty="0">
                <a:solidFill>
                  <a:srgbClr val="00376F"/>
                </a:solidFill>
                <a:latin typeface="Lato"/>
                <a:ea typeface="Lato"/>
                <a:cs typeface="Lato"/>
              </a:rPr>
              <a:t> </a:t>
            </a:r>
            <a:r>
              <a:rPr sz="1560" b="0" dirty="0" err="1">
                <a:solidFill>
                  <a:srgbClr val="00376F"/>
                </a:solidFill>
                <a:latin typeface="Lato"/>
                <a:ea typeface="Lato"/>
                <a:cs typeface="Lato"/>
              </a:rPr>
              <a:t>trước</a:t>
            </a:r>
            <a:r>
              <a:rPr sz="1560" b="0" dirty="0">
                <a:solidFill>
                  <a:srgbClr val="00376F"/>
                </a:solidFill>
                <a:latin typeface="Lato"/>
                <a:ea typeface="Lato"/>
                <a:cs typeface="Lato"/>
              </a:rPr>
              <a:t> </a:t>
            </a:r>
            <a:r>
              <a:rPr sz="1560" b="0" dirty="0" err="1">
                <a:solidFill>
                  <a:srgbClr val="00376F"/>
                </a:solidFill>
                <a:latin typeface="Lato"/>
                <a:ea typeface="Lato"/>
                <a:cs typeface="Lato"/>
              </a:rPr>
              <a:t>khi</a:t>
            </a:r>
            <a:r>
              <a:rPr sz="1560" b="0" dirty="0">
                <a:solidFill>
                  <a:srgbClr val="00376F"/>
                </a:solidFill>
                <a:latin typeface="Lato"/>
                <a:ea typeface="Lato"/>
                <a:cs typeface="Lato"/>
              </a:rPr>
              <a:t> </a:t>
            </a:r>
            <a:r>
              <a:rPr sz="1560" b="0" dirty="0" err="1">
                <a:solidFill>
                  <a:srgbClr val="00376F"/>
                </a:solidFill>
                <a:latin typeface="Lato"/>
                <a:ea typeface="Lato"/>
                <a:cs typeface="Lato"/>
              </a:rPr>
              <a:t>gộp</a:t>
            </a:r>
            <a:r>
              <a:rPr sz="1560" b="0" dirty="0">
                <a:solidFill>
                  <a:srgbClr val="00376F"/>
                </a:solidFill>
                <a:latin typeface="Lato"/>
                <a:ea typeface="Lato"/>
                <a:cs typeface="Lato"/>
              </a:rPr>
              <a:t> train.</a:t>
            </a:r>
          </a:p>
          <a:p>
            <a:pPr>
              <a:defRPr sz="1560" b="0">
                <a:solidFill>
                  <a:srgbClr val="00376F"/>
                </a:solidFill>
                <a:latin typeface="Lato"/>
                <a:ea typeface="Lato"/>
                <a:cs typeface="Lato"/>
              </a:defRPr>
            </a:pPr>
            <a:r>
              <a:rPr sz="1560" b="0" dirty="0" err="1">
                <a:solidFill>
                  <a:srgbClr val="00376F"/>
                </a:solidFill>
                <a:latin typeface="Lato"/>
                <a:ea typeface="Lato"/>
                <a:cs typeface="Lato"/>
              </a:rPr>
              <a:t>Giảm</a:t>
            </a:r>
            <a:r>
              <a:rPr sz="1560" b="0" dirty="0">
                <a:solidFill>
                  <a:srgbClr val="00376F"/>
                </a:solidFill>
                <a:latin typeface="Lato"/>
                <a:ea typeface="Lato"/>
                <a:cs typeface="Lato"/>
              </a:rPr>
              <a:t> learning rate, </a:t>
            </a:r>
            <a:r>
              <a:rPr sz="1560" b="0" dirty="0" err="1">
                <a:solidFill>
                  <a:srgbClr val="00376F"/>
                </a:solidFill>
                <a:latin typeface="Lato"/>
                <a:ea typeface="Lato"/>
                <a:cs typeface="Lato"/>
              </a:rPr>
              <a:t>cân</a:t>
            </a:r>
            <a:r>
              <a:rPr sz="1560" b="0" dirty="0">
                <a:solidFill>
                  <a:srgbClr val="00376F"/>
                </a:solidFill>
                <a:latin typeface="Lato"/>
                <a:ea typeface="Lato"/>
                <a:cs typeface="Lato"/>
              </a:rPr>
              <a:t> </a:t>
            </a:r>
            <a:r>
              <a:rPr sz="1560" b="0" dirty="0" err="1">
                <a:solidFill>
                  <a:srgbClr val="00376F"/>
                </a:solidFill>
                <a:latin typeface="Lato"/>
                <a:ea typeface="Lato"/>
                <a:cs typeface="Lato"/>
              </a:rPr>
              <a:t>bằng</a:t>
            </a:r>
            <a:r>
              <a:rPr sz="1560" b="0" dirty="0">
                <a:solidFill>
                  <a:srgbClr val="00376F"/>
                </a:solidFill>
                <a:latin typeface="Lato"/>
                <a:ea typeface="Lato"/>
                <a:cs typeface="Lato"/>
              </a:rPr>
              <a:t> </a:t>
            </a:r>
            <a:r>
              <a:rPr sz="1560" b="0" dirty="0" err="1">
                <a:solidFill>
                  <a:srgbClr val="00376F"/>
                </a:solidFill>
                <a:latin typeface="Lato"/>
                <a:ea typeface="Lato"/>
                <a:cs typeface="Lato"/>
              </a:rPr>
              <a:t>lấy</a:t>
            </a:r>
            <a:r>
              <a:rPr sz="1560" b="0" dirty="0">
                <a:solidFill>
                  <a:srgbClr val="00376F"/>
                </a:solidFill>
                <a:latin typeface="Lato"/>
                <a:ea typeface="Lato"/>
                <a:cs typeface="Lato"/>
              </a:rPr>
              <a:t> </a:t>
            </a:r>
            <a:r>
              <a:rPr sz="1560" b="0" dirty="0" err="1">
                <a:solidFill>
                  <a:srgbClr val="00376F"/>
                </a:solidFill>
                <a:latin typeface="Lato"/>
                <a:ea typeface="Lato"/>
                <a:cs typeface="Lato"/>
              </a:rPr>
              <a:t>mẫu</a:t>
            </a:r>
            <a:r>
              <a:rPr sz="1560" b="0" dirty="0">
                <a:solidFill>
                  <a:srgbClr val="00376F"/>
                </a:solidFill>
                <a:latin typeface="Lato"/>
                <a:ea typeface="Lato"/>
                <a:cs typeface="Lato"/>
              </a:rPr>
              <a:t> </a:t>
            </a:r>
            <a:r>
              <a:rPr sz="1560" b="0" dirty="0" err="1">
                <a:solidFill>
                  <a:srgbClr val="00376F"/>
                </a:solidFill>
                <a:latin typeface="Lato"/>
                <a:ea typeface="Lato"/>
                <a:cs typeface="Lato"/>
              </a:rPr>
              <a:t>theo</a:t>
            </a:r>
            <a:r>
              <a:rPr sz="1560" b="0" dirty="0">
                <a:solidFill>
                  <a:srgbClr val="00376F"/>
                </a:solidFill>
                <a:latin typeface="Lato"/>
                <a:ea typeface="Lato"/>
                <a:cs typeface="Lato"/>
              </a:rPr>
              <a:t> </a:t>
            </a:r>
            <a:r>
              <a:rPr sz="1560" b="0" dirty="0" err="1">
                <a:solidFill>
                  <a:srgbClr val="00376F"/>
                </a:solidFill>
                <a:latin typeface="Lato"/>
                <a:ea typeface="Lato"/>
                <a:cs typeface="Lato"/>
              </a:rPr>
              <a:t>nguồn</a:t>
            </a:r>
            <a:r>
              <a:rPr sz="1560" b="0" dirty="0">
                <a:solidFill>
                  <a:srgbClr val="00376F"/>
                </a:solidFill>
                <a:latin typeface="Lato"/>
                <a:ea typeface="Lato"/>
                <a:cs typeface="Lato"/>
              </a:rPr>
              <a:t>.</a:t>
            </a:r>
          </a:p>
          <a:p>
            <a:pPr>
              <a:defRPr sz="1560" b="0">
                <a:solidFill>
                  <a:srgbClr val="00376F"/>
                </a:solidFill>
                <a:latin typeface="Lato"/>
                <a:ea typeface="Lato"/>
                <a:cs typeface="Lato"/>
              </a:defRPr>
            </a:pPr>
            <a:r>
              <a:rPr sz="1560" b="0" dirty="0" err="1">
                <a:solidFill>
                  <a:srgbClr val="00376F"/>
                </a:solidFill>
                <a:latin typeface="Lato"/>
                <a:ea typeface="Lato"/>
                <a:cs typeface="Lato"/>
              </a:rPr>
              <a:t>Giữ</a:t>
            </a:r>
            <a:r>
              <a:rPr sz="1560" b="0" dirty="0">
                <a:solidFill>
                  <a:srgbClr val="00376F"/>
                </a:solidFill>
                <a:latin typeface="Lato"/>
                <a:ea typeface="Lato"/>
                <a:cs typeface="Lato"/>
              </a:rPr>
              <a:t> </a:t>
            </a:r>
            <a:r>
              <a:rPr sz="1560" b="0" dirty="0" err="1">
                <a:solidFill>
                  <a:srgbClr val="00376F"/>
                </a:solidFill>
                <a:latin typeface="Lato"/>
                <a:ea typeface="Lato"/>
                <a:cs typeface="Lato"/>
              </a:rPr>
              <a:t>riêng</a:t>
            </a:r>
            <a:r>
              <a:rPr sz="1560" b="0" dirty="0">
                <a:solidFill>
                  <a:srgbClr val="00376F"/>
                </a:solidFill>
                <a:latin typeface="Lato"/>
                <a:ea typeface="Lato"/>
                <a:cs typeface="Lato"/>
              </a:rPr>
              <a:t> checkpoint </a:t>
            </a:r>
            <a:r>
              <a:rPr sz="1560" b="0" dirty="0" err="1">
                <a:solidFill>
                  <a:srgbClr val="00376F"/>
                </a:solidFill>
                <a:latin typeface="Lato"/>
                <a:ea typeface="Lato"/>
                <a:cs typeface="Lato"/>
              </a:rPr>
              <a:t>chữ</a:t>
            </a:r>
            <a:r>
              <a:rPr sz="1560" b="0" dirty="0">
                <a:solidFill>
                  <a:srgbClr val="00376F"/>
                </a:solidFill>
                <a:latin typeface="Lato"/>
                <a:ea typeface="Lato"/>
                <a:cs typeface="Lato"/>
              </a:rPr>
              <a:t> in </a:t>
            </a:r>
            <a:r>
              <a:rPr sz="1560" b="0" dirty="0" err="1">
                <a:solidFill>
                  <a:srgbClr val="00376F"/>
                </a:solidFill>
                <a:latin typeface="Lato"/>
                <a:ea typeface="Lato"/>
                <a:cs typeface="Lato"/>
              </a:rPr>
              <a:t>để</a:t>
            </a:r>
            <a:r>
              <a:rPr sz="1560" b="0" dirty="0">
                <a:solidFill>
                  <a:srgbClr val="00376F"/>
                </a:solidFill>
                <a:latin typeface="Lato"/>
                <a:ea typeface="Lato"/>
                <a:cs typeface="Lato"/>
              </a:rPr>
              <a:t> </a:t>
            </a:r>
            <a:r>
              <a:rPr sz="1560" b="0" dirty="0" err="1">
                <a:solidFill>
                  <a:srgbClr val="00376F"/>
                </a:solidFill>
                <a:latin typeface="Lato"/>
                <a:ea typeface="Lato"/>
                <a:cs typeface="Lato"/>
              </a:rPr>
              <a:t>dùng</a:t>
            </a:r>
            <a:r>
              <a:rPr sz="1560" b="0" dirty="0">
                <a:solidFill>
                  <a:srgbClr val="00376F"/>
                </a:solidFill>
                <a:latin typeface="Lato"/>
                <a:ea typeface="Lato"/>
                <a:cs typeface="Lato"/>
              </a:rPr>
              <a:t> </a:t>
            </a:r>
            <a:r>
              <a:rPr sz="1560" b="0" dirty="0" err="1">
                <a:solidFill>
                  <a:srgbClr val="00376F"/>
                </a:solidFill>
                <a:latin typeface="Lato"/>
                <a:ea typeface="Lato"/>
                <a:cs typeface="Lato"/>
              </a:rPr>
              <a:t>trong</a:t>
            </a:r>
            <a:r>
              <a:rPr sz="1560" b="0" dirty="0">
                <a:solidFill>
                  <a:srgbClr val="00376F"/>
                </a:solidFill>
                <a:latin typeface="Lato"/>
                <a:ea typeface="Lato"/>
                <a:cs typeface="Lato"/>
              </a:rPr>
              <a:t> demo.</a:t>
            </a:r>
          </a:p>
        </p:txBody>
      </p:sp>
      <p:sp>
        <p:nvSpPr>
          <p:cNvPr id="15" name="text-53">
            <a:extLst>
              <a:ext uri="{FF2B5EF4-FFF2-40B4-BE49-F238E27FC236}">
                <a16:creationId xmlns:a16="http://schemas.microsoft.com/office/drawing/2014/main" id="{20261633-3414-4822-9DF9-D4425F0A7E2D}"/>
              </a:ext>
            </a:extLst>
          </p:cNvPr>
          <p:cNvSpPr>
            <a:spLocks noGrp="1"/>
          </p:cNvSpPr>
          <p:nvPr/>
        </p:nvSpPr>
        <p:spPr>
          <a:xfrm>
            <a:off x="609600" y="4814888"/>
            <a:ext cx="10820400" cy="342900"/>
          </a:xfrm>
          <a:prstGeom prst="rect">
            <a:avLst/>
          </a:prstGeom>
          <a:noFill/>
          <a:ln w="0">
            <a:noFill/>
            <a:prstDash val="solid"/>
          </a:ln>
        </p:spPr>
        <p:txBody>
          <a:bodyPr lIns="0" tIns="0" rIns="0" bIns="0" anchor="t"/>
          <a:lstStyle>
            <a:defPPr>
              <a:defRPr sz="2100" b="1">
                <a:solidFill>
                  <a:srgbClr val="00376F"/>
                </a:solidFill>
                <a:latin typeface="Lato"/>
                <a:ea typeface="Lato"/>
                <a:cs typeface="Lato"/>
              </a:defRPr>
            </a:defPPr>
            <a:lvl1pPr>
              <a:defRPr sz="2100" b="1">
                <a:solidFill>
                  <a:srgbClr val="00376F"/>
                </a:solidFill>
                <a:latin typeface="Lato"/>
                <a:ea typeface="Lato"/>
                <a:cs typeface="Lato"/>
              </a:defRPr>
            </a:lvl1pPr>
            <a:lvl2pPr>
              <a:defRPr sz="2100" b="1">
                <a:solidFill>
                  <a:srgbClr val="00376F"/>
                </a:solidFill>
                <a:latin typeface="Lato"/>
                <a:ea typeface="Lato"/>
                <a:cs typeface="Lato"/>
              </a:defRPr>
            </a:lvl2pPr>
            <a:lvl3pPr>
              <a:defRPr sz="2100" b="1">
                <a:solidFill>
                  <a:srgbClr val="00376F"/>
                </a:solidFill>
                <a:latin typeface="Lato"/>
                <a:ea typeface="Lato"/>
                <a:cs typeface="Lato"/>
              </a:defRPr>
            </a:lvl3pPr>
            <a:lvl4pPr>
              <a:defRPr sz="2100" b="1">
                <a:solidFill>
                  <a:srgbClr val="00376F"/>
                </a:solidFill>
                <a:latin typeface="Lato"/>
                <a:ea typeface="Lato"/>
                <a:cs typeface="Lato"/>
              </a:defRPr>
            </a:lvl4pPr>
            <a:lvl5pPr>
              <a:defRPr sz="2100" b="1">
                <a:solidFill>
                  <a:srgbClr val="00376F"/>
                </a:solidFill>
                <a:latin typeface="Lato"/>
                <a:ea typeface="Lato"/>
                <a:cs typeface="Lato"/>
              </a:defRPr>
            </a:lvl5pPr>
            <a:lvl6pPr>
              <a:defRPr sz="2100" b="1">
                <a:solidFill>
                  <a:srgbClr val="00376F"/>
                </a:solidFill>
                <a:latin typeface="Lato"/>
                <a:ea typeface="Lato"/>
                <a:cs typeface="Lato"/>
              </a:defRPr>
            </a:lvl6pPr>
            <a:lvl7pPr>
              <a:defRPr sz="2100" b="1">
                <a:solidFill>
                  <a:srgbClr val="00376F"/>
                </a:solidFill>
                <a:latin typeface="Lato"/>
                <a:ea typeface="Lato"/>
                <a:cs typeface="Lato"/>
              </a:defRPr>
            </a:lvl7pPr>
            <a:lvl8pPr>
              <a:defRPr sz="2100" b="1">
                <a:solidFill>
                  <a:srgbClr val="00376F"/>
                </a:solidFill>
                <a:latin typeface="Lato"/>
                <a:ea typeface="Lato"/>
                <a:cs typeface="Lato"/>
              </a:defRPr>
            </a:lvl8pPr>
            <a:lvl9pPr>
              <a:defRPr sz="2100" b="1">
                <a:solidFill>
                  <a:srgbClr val="00376F"/>
                </a:solidFill>
                <a:latin typeface="Lato"/>
                <a:ea typeface="Lato"/>
                <a:cs typeface="Lato"/>
              </a:defRPr>
            </a:lvl9pPr>
          </a:lstStyle>
          <a:p>
            <a:pPr>
              <a:defRPr sz="2100" b="1">
                <a:solidFill>
                  <a:srgbClr val="00376F"/>
                </a:solidFill>
                <a:latin typeface="Lato"/>
                <a:ea typeface="Lato"/>
                <a:cs typeface="Lato"/>
              </a:defRPr>
            </a:pPr>
            <a:r>
              <a:rPr sz="2100" b="1" dirty="0" err="1">
                <a:solidFill>
                  <a:srgbClr val="00376F"/>
                </a:solidFill>
                <a:latin typeface="Lato"/>
                <a:ea typeface="Lato"/>
                <a:cs typeface="Lato"/>
              </a:rPr>
              <a:t>Đánh</a:t>
            </a:r>
            <a:r>
              <a:rPr sz="2100" b="1" dirty="0">
                <a:solidFill>
                  <a:srgbClr val="00376F"/>
                </a:solidFill>
                <a:latin typeface="Lato"/>
                <a:ea typeface="Lato"/>
                <a:cs typeface="Lato"/>
              </a:rPr>
              <a:t> </a:t>
            </a:r>
            <a:r>
              <a:rPr sz="2100" b="1" dirty="0" err="1">
                <a:solidFill>
                  <a:srgbClr val="00376F"/>
                </a:solidFill>
                <a:latin typeface="Lato"/>
                <a:ea typeface="Lato"/>
                <a:cs typeface="Lato"/>
              </a:rPr>
              <a:t>giá</a:t>
            </a:r>
            <a:r>
              <a:rPr sz="2100" b="1" dirty="0">
                <a:solidFill>
                  <a:srgbClr val="00376F"/>
                </a:solidFill>
                <a:latin typeface="Lato"/>
                <a:ea typeface="Lato"/>
                <a:cs typeface="Lato"/>
              </a:rPr>
              <a:t> </a:t>
            </a:r>
            <a:r>
              <a:rPr sz="2100" b="1" dirty="0" err="1">
                <a:solidFill>
                  <a:srgbClr val="00376F"/>
                </a:solidFill>
                <a:latin typeface="Lato"/>
                <a:ea typeface="Lato"/>
                <a:cs typeface="Lato"/>
              </a:rPr>
              <a:t>trước</a:t>
            </a:r>
            <a:r>
              <a:rPr sz="2100" b="1" dirty="0">
                <a:solidFill>
                  <a:srgbClr val="00376F"/>
                </a:solidFill>
                <a:latin typeface="Lato"/>
                <a:ea typeface="Lato"/>
                <a:cs typeface="Lato"/>
              </a:rPr>
              <a:t> </a:t>
            </a:r>
            <a:r>
              <a:rPr sz="2100" b="1" dirty="0" err="1">
                <a:solidFill>
                  <a:srgbClr val="00376F"/>
                </a:solidFill>
                <a:latin typeface="Lato"/>
                <a:ea typeface="Lato"/>
                <a:cs typeface="Lato"/>
              </a:rPr>
              <a:t>và</a:t>
            </a:r>
            <a:r>
              <a:rPr sz="2100" b="1" dirty="0">
                <a:solidFill>
                  <a:srgbClr val="00376F"/>
                </a:solidFill>
                <a:latin typeface="Lato"/>
                <a:ea typeface="Lato"/>
                <a:cs typeface="Lato"/>
              </a:rPr>
              <a:t> </a:t>
            </a:r>
            <a:r>
              <a:rPr sz="2100" b="1" dirty="0" err="1">
                <a:solidFill>
                  <a:srgbClr val="00376F"/>
                </a:solidFill>
                <a:latin typeface="Lato"/>
                <a:ea typeface="Lato"/>
                <a:cs typeface="Lato"/>
              </a:rPr>
              <a:t>sau</a:t>
            </a:r>
            <a:r>
              <a:rPr sz="2100" b="1" dirty="0">
                <a:solidFill>
                  <a:srgbClr val="00376F"/>
                </a:solidFill>
                <a:latin typeface="Lato"/>
                <a:ea typeface="Lato"/>
                <a:cs typeface="Lato"/>
              </a:rPr>
              <a:t> fine-tune</a:t>
            </a:r>
          </a:p>
        </p:txBody>
      </p:sp>
      <p:sp>
        <p:nvSpPr>
          <p:cNvPr id="16" name="text-54">
            <a:extLst>
              <a:ext uri="{FF2B5EF4-FFF2-40B4-BE49-F238E27FC236}">
                <a16:creationId xmlns:a16="http://schemas.microsoft.com/office/drawing/2014/main" id="{7AB8F8D6-76D5-49E0-B5DC-9FA8B4D9CC1D}"/>
              </a:ext>
            </a:extLst>
          </p:cNvPr>
          <p:cNvSpPr>
            <a:spLocks noGrp="1"/>
          </p:cNvSpPr>
          <p:nvPr/>
        </p:nvSpPr>
        <p:spPr>
          <a:xfrm>
            <a:off x="609600" y="5300663"/>
            <a:ext cx="10896600" cy="535781"/>
          </a:xfrm>
          <a:prstGeom prst="rect">
            <a:avLst/>
          </a:prstGeom>
          <a:noFill/>
          <a:ln w="0">
            <a:noFill/>
            <a:prstDash val="solid"/>
          </a:ln>
        </p:spPr>
        <p:txBody>
          <a:bodyPr lIns="0" tIns="0" rIns="0" bIns="0" anchor="t"/>
          <a:lstStyle>
            <a:defPPr>
              <a:defRPr sz="1620" b="0">
                <a:solidFill>
                  <a:srgbClr val="526170"/>
                </a:solidFill>
                <a:latin typeface="Lato"/>
                <a:ea typeface="Lato"/>
                <a:cs typeface="Lato"/>
              </a:defRPr>
            </a:defPPr>
            <a:lvl1pPr>
              <a:defRPr sz="1620" b="0">
                <a:solidFill>
                  <a:srgbClr val="526170"/>
                </a:solidFill>
                <a:latin typeface="Lato"/>
                <a:ea typeface="Lato"/>
                <a:cs typeface="Lato"/>
              </a:defRPr>
            </a:lvl1pPr>
            <a:lvl2pPr>
              <a:defRPr sz="1620" b="0">
                <a:solidFill>
                  <a:srgbClr val="526170"/>
                </a:solidFill>
                <a:latin typeface="Lato"/>
                <a:ea typeface="Lato"/>
                <a:cs typeface="Lato"/>
              </a:defRPr>
            </a:lvl2pPr>
            <a:lvl3pPr>
              <a:defRPr sz="1620" b="0">
                <a:solidFill>
                  <a:srgbClr val="526170"/>
                </a:solidFill>
                <a:latin typeface="Lato"/>
                <a:ea typeface="Lato"/>
                <a:cs typeface="Lato"/>
              </a:defRPr>
            </a:lvl3pPr>
            <a:lvl4pPr>
              <a:defRPr sz="1620" b="0">
                <a:solidFill>
                  <a:srgbClr val="526170"/>
                </a:solidFill>
                <a:latin typeface="Lato"/>
                <a:ea typeface="Lato"/>
                <a:cs typeface="Lato"/>
              </a:defRPr>
            </a:lvl4pPr>
            <a:lvl5pPr>
              <a:defRPr sz="1620" b="0">
                <a:solidFill>
                  <a:srgbClr val="526170"/>
                </a:solidFill>
                <a:latin typeface="Lato"/>
                <a:ea typeface="Lato"/>
                <a:cs typeface="Lato"/>
              </a:defRPr>
            </a:lvl5pPr>
            <a:lvl6pPr>
              <a:defRPr sz="1620" b="0">
                <a:solidFill>
                  <a:srgbClr val="526170"/>
                </a:solidFill>
                <a:latin typeface="Lato"/>
                <a:ea typeface="Lato"/>
                <a:cs typeface="Lato"/>
              </a:defRPr>
            </a:lvl6pPr>
            <a:lvl7pPr>
              <a:defRPr sz="1620" b="0">
                <a:solidFill>
                  <a:srgbClr val="526170"/>
                </a:solidFill>
                <a:latin typeface="Lato"/>
                <a:ea typeface="Lato"/>
                <a:cs typeface="Lato"/>
              </a:defRPr>
            </a:lvl7pPr>
            <a:lvl8pPr>
              <a:defRPr sz="1620" b="0">
                <a:solidFill>
                  <a:srgbClr val="526170"/>
                </a:solidFill>
                <a:latin typeface="Lato"/>
                <a:ea typeface="Lato"/>
                <a:cs typeface="Lato"/>
              </a:defRPr>
            </a:lvl8pPr>
            <a:lvl9pPr>
              <a:defRPr sz="1620" b="0">
                <a:solidFill>
                  <a:srgbClr val="526170"/>
                </a:solidFill>
                <a:latin typeface="Lato"/>
                <a:ea typeface="Lato"/>
                <a:cs typeface="Lato"/>
              </a:defRPr>
            </a:lvl9pPr>
          </a:lstStyle>
          <a:p>
            <a:pPr>
              <a:defRPr sz="1620" b="0">
                <a:solidFill>
                  <a:srgbClr val="526170"/>
                </a:solidFill>
                <a:latin typeface="Lato"/>
                <a:ea typeface="Lato"/>
                <a:cs typeface="Lato"/>
              </a:defRPr>
            </a:pPr>
            <a:r>
              <a:rPr sz="1620" b="0" dirty="0">
                <a:solidFill>
                  <a:srgbClr val="526170"/>
                </a:solidFill>
                <a:latin typeface="Lato"/>
                <a:ea typeface="Lato"/>
                <a:cs typeface="Lato"/>
              </a:rPr>
              <a:t>CER, WER </a:t>
            </a:r>
            <a:r>
              <a:rPr sz="1620" b="0" dirty="0" err="1">
                <a:solidFill>
                  <a:srgbClr val="526170"/>
                </a:solidFill>
                <a:latin typeface="Lato"/>
                <a:ea typeface="Lato"/>
                <a:cs typeface="Lato"/>
              </a:rPr>
              <a:t>và</a:t>
            </a:r>
            <a:r>
              <a:rPr sz="1620" b="0" dirty="0">
                <a:solidFill>
                  <a:srgbClr val="526170"/>
                </a:solidFill>
                <a:latin typeface="Lato"/>
                <a:ea typeface="Lato"/>
                <a:cs typeface="Lato"/>
              </a:rPr>
              <a:t> exact match </a:t>
            </a:r>
            <a:r>
              <a:rPr sz="1620" b="0" dirty="0" err="1">
                <a:solidFill>
                  <a:srgbClr val="526170"/>
                </a:solidFill>
                <a:latin typeface="Lato"/>
                <a:ea typeface="Lato"/>
                <a:cs typeface="Lato"/>
              </a:rPr>
              <a:t>riêng</a:t>
            </a:r>
            <a:r>
              <a:rPr sz="1620" b="0" dirty="0">
                <a:solidFill>
                  <a:srgbClr val="526170"/>
                </a:solidFill>
                <a:latin typeface="Lato"/>
                <a:ea typeface="Lato"/>
                <a:cs typeface="Lato"/>
              </a:rPr>
              <a:t> </a:t>
            </a:r>
            <a:r>
              <a:rPr sz="1620" b="0" dirty="0" err="1">
                <a:solidFill>
                  <a:srgbClr val="526170"/>
                </a:solidFill>
                <a:latin typeface="Lato"/>
                <a:ea typeface="Lato"/>
                <a:cs typeface="Lato"/>
              </a:rPr>
              <a:t>từng</a:t>
            </a:r>
            <a:r>
              <a:rPr sz="1620" b="0" dirty="0">
                <a:solidFill>
                  <a:srgbClr val="526170"/>
                </a:solidFill>
                <a:latin typeface="Lato"/>
                <a:ea typeface="Lato"/>
                <a:cs typeface="Lato"/>
              </a:rPr>
              <a:t> </a:t>
            </a:r>
            <a:r>
              <a:rPr sz="1620" b="0" dirty="0" err="1">
                <a:solidFill>
                  <a:srgbClr val="526170"/>
                </a:solidFill>
                <a:latin typeface="Lato"/>
                <a:ea typeface="Lato"/>
                <a:cs typeface="Lato"/>
              </a:rPr>
              <a:t>bộ</a:t>
            </a:r>
            <a:r>
              <a:rPr sz="1620" b="0" dirty="0">
                <a:solidFill>
                  <a:srgbClr val="526170"/>
                </a:solidFill>
                <a:latin typeface="Lato"/>
                <a:ea typeface="Lato"/>
                <a:cs typeface="Lato"/>
              </a:rPr>
              <a:t> + macro-CER </a:t>
            </a:r>
            <a:r>
              <a:rPr sz="1620" b="0" dirty="0" err="1">
                <a:solidFill>
                  <a:srgbClr val="526170"/>
                </a:solidFill>
                <a:latin typeface="Lato"/>
                <a:ea typeface="Lato"/>
                <a:cs typeface="Lato"/>
              </a:rPr>
              <a:t>giữa</a:t>
            </a:r>
            <a:r>
              <a:rPr sz="1620" b="0" dirty="0">
                <a:solidFill>
                  <a:srgbClr val="526170"/>
                </a:solidFill>
                <a:latin typeface="Lato"/>
                <a:ea typeface="Lato"/>
                <a:cs typeface="Lato"/>
              </a:rPr>
              <a:t> </a:t>
            </a:r>
            <a:r>
              <a:rPr sz="1620" b="0" dirty="0" err="1">
                <a:solidFill>
                  <a:srgbClr val="526170"/>
                </a:solidFill>
                <a:latin typeface="Lato"/>
                <a:ea typeface="Lato"/>
                <a:cs typeface="Lato"/>
              </a:rPr>
              <a:t>các</a:t>
            </a:r>
            <a:r>
              <a:rPr sz="1620" b="0" dirty="0">
                <a:solidFill>
                  <a:srgbClr val="526170"/>
                </a:solidFill>
                <a:latin typeface="Lato"/>
                <a:ea typeface="Lato"/>
                <a:cs typeface="Lato"/>
              </a:rPr>
              <a:t> </a:t>
            </a:r>
            <a:r>
              <a:rPr sz="1620" b="0" dirty="0" err="1">
                <a:solidFill>
                  <a:srgbClr val="526170"/>
                </a:solidFill>
                <a:latin typeface="Lato"/>
                <a:ea typeface="Lato"/>
                <a:cs typeface="Lato"/>
              </a:rPr>
              <a:t>bộ</a:t>
            </a:r>
            <a:r>
              <a:rPr sz="1620" b="0" dirty="0">
                <a:solidFill>
                  <a:srgbClr val="526170"/>
                </a:solidFill>
                <a:latin typeface="Lato"/>
                <a:ea typeface="Lato"/>
                <a:cs typeface="Lato"/>
              </a:rPr>
              <a:t>.</a:t>
            </a:r>
          </a:p>
          <a:p>
            <a:pPr>
              <a:defRPr sz="1620" b="0">
                <a:solidFill>
                  <a:srgbClr val="526170"/>
                </a:solidFill>
                <a:latin typeface="Lato"/>
                <a:ea typeface="Lato"/>
                <a:cs typeface="Lato"/>
              </a:defRPr>
            </a:pPr>
            <a:r>
              <a:rPr sz="1620" b="0" dirty="0" err="1">
                <a:solidFill>
                  <a:srgbClr val="526170"/>
                </a:solidFill>
                <a:latin typeface="Lato"/>
                <a:ea typeface="Lato"/>
                <a:cs typeface="Lato"/>
              </a:rPr>
              <a:t>Kiểm</a:t>
            </a:r>
            <a:r>
              <a:rPr sz="1620" b="0" dirty="0">
                <a:solidFill>
                  <a:srgbClr val="526170"/>
                </a:solidFill>
                <a:latin typeface="Lato"/>
                <a:ea typeface="Lato"/>
                <a:cs typeface="Lato"/>
              </a:rPr>
              <a:t> </a:t>
            </a:r>
            <a:r>
              <a:rPr sz="1620" b="0" dirty="0" err="1">
                <a:solidFill>
                  <a:srgbClr val="526170"/>
                </a:solidFill>
                <a:latin typeface="Lato"/>
                <a:ea typeface="Lato"/>
                <a:cs typeface="Lato"/>
              </a:rPr>
              <a:t>tra</a:t>
            </a:r>
            <a:r>
              <a:rPr sz="1620" b="0" dirty="0">
                <a:solidFill>
                  <a:srgbClr val="526170"/>
                </a:solidFill>
                <a:latin typeface="Lato"/>
                <a:ea typeface="Lato"/>
                <a:cs typeface="Lato"/>
              </a:rPr>
              <a:t> </a:t>
            </a:r>
            <a:r>
              <a:rPr sz="1620" b="0" dirty="0" err="1">
                <a:solidFill>
                  <a:srgbClr val="526170"/>
                </a:solidFill>
                <a:latin typeface="Lato"/>
                <a:ea typeface="Lato"/>
                <a:cs typeface="Lato"/>
              </a:rPr>
              <a:t>lại</a:t>
            </a:r>
            <a:r>
              <a:rPr sz="1620" b="0" dirty="0">
                <a:solidFill>
                  <a:srgbClr val="526170"/>
                </a:solidFill>
                <a:latin typeface="Lato"/>
                <a:ea typeface="Lato"/>
                <a:cs typeface="Lato"/>
              </a:rPr>
              <a:t> test </a:t>
            </a:r>
            <a:r>
              <a:rPr sz="1620" b="0" dirty="0" err="1">
                <a:solidFill>
                  <a:srgbClr val="526170"/>
                </a:solidFill>
                <a:latin typeface="Lato"/>
                <a:ea typeface="Lato"/>
                <a:cs typeface="Lato"/>
              </a:rPr>
              <a:t>chữ</a:t>
            </a:r>
            <a:r>
              <a:rPr sz="1620" b="0" dirty="0">
                <a:solidFill>
                  <a:srgbClr val="526170"/>
                </a:solidFill>
                <a:latin typeface="Lato"/>
                <a:ea typeface="Lato"/>
                <a:cs typeface="Lato"/>
              </a:rPr>
              <a:t> in </a:t>
            </a:r>
            <a:r>
              <a:rPr sz="1620" b="0" dirty="0" err="1">
                <a:solidFill>
                  <a:srgbClr val="526170"/>
                </a:solidFill>
                <a:latin typeface="Lato"/>
                <a:ea typeface="Lato"/>
                <a:cs typeface="Lato"/>
              </a:rPr>
              <a:t>để</a:t>
            </a:r>
            <a:r>
              <a:rPr sz="1620" b="0" dirty="0">
                <a:solidFill>
                  <a:srgbClr val="526170"/>
                </a:solidFill>
                <a:latin typeface="Lato"/>
                <a:ea typeface="Lato"/>
                <a:cs typeface="Lato"/>
              </a:rPr>
              <a:t> </a:t>
            </a:r>
            <a:r>
              <a:rPr sz="1620" b="0" dirty="0" err="1">
                <a:solidFill>
                  <a:srgbClr val="526170"/>
                </a:solidFill>
                <a:latin typeface="Lato"/>
                <a:ea typeface="Lato"/>
                <a:cs typeface="Lato"/>
              </a:rPr>
              <a:t>đo</a:t>
            </a:r>
            <a:r>
              <a:rPr sz="1620" b="0" dirty="0">
                <a:solidFill>
                  <a:srgbClr val="526170"/>
                </a:solidFill>
                <a:latin typeface="Lato"/>
                <a:ea typeface="Lato"/>
                <a:cs typeface="Lato"/>
              </a:rPr>
              <a:t> </a:t>
            </a:r>
            <a:r>
              <a:rPr sz="1620" b="0" dirty="0" err="1">
                <a:solidFill>
                  <a:srgbClr val="526170"/>
                </a:solidFill>
                <a:latin typeface="Lato"/>
                <a:ea typeface="Lato"/>
                <a:cs typeface="Lato"/>
              </a:rPr>
              <a:t>mức</a:t>
            </a:r>
            <a:r>
              <a:rPr sz="1620" b="0" dirty="0">
                <a:solidFill>
                  <a:srgbClr val="526170"/>
                </a:solidFill>
                <a:latin typeface="Lato"/>
                <a:ea typeface="Lato"/>
                <a:cs typeface="Lato"/>
              </a:rPr>
              <a:t> </a:t>
            </a:r>
            <a:r>
              <a:rPr sz="1620" b="0" dirty="0" err="1">
                <a:solidFill>
                  <a:srgbClr val="526170"/>
                </a:solidFill>
                <a:latin typeface="Lato"/>
                <a:ea typeface="Lato"/>
                <a:cs typeface="Lato"/>
              </a:rPr>
              <a:t>suy</a:t>
            </a:r>
            <a:r>
              <a:rPr sz="1620" b="0" dirty="0">
                <a:solidFill>
                  <a:srgbClr val="526170"/>
                </a:solidFill>
                <a:latin typeface="Lato"/>
                <a:ea typeface="Lato"/>
                <a:cs typeface="Lato"/>
              </a:rPr>
              <a:t> </a:t>
            </a:r>
            <a:r>
              <a:rPr sz="1620" b="0" dirty="0" err="1">
                <a:solidFill>
                  <a:srgbClr val="526170"/>
                </a:solidFill>
                <a:latin typeface="Lato"/>
                <a:ea typeface="Lato"/>
                <a:cs typeface="Lato"/>
              </a:rPr>
              <a:t>giảm</a:t>
            </a:r>
            <a:r>
              <a:rPr sz="1620" b="0" dirty="0">
                <a:solidFill>
                  <a:srgbClr val="526170"/>
                </a:solidFill>
                <a:latin typeface="Lato"/>
                <a:ea typeface="Lato"/>
                <a:cs typeface="Lato"/>
              </a:rPr>
              <a:t> </a:t>
            </a:r>
            <a:r>
              <a:rPr sz="1620" b="0" dirty="0" err="1">
                <a:solidFill>
                  <a:srgbClr val="526170"/>
                </a:solidFill>
                <a:latin typeface="Lato"/>
                <a:ea typeface="Lato"/>
                <a:cs typeface="Lato"/>
              </a:rPr>
              <a:t>sau</a:t>
            </a:r>
            <a:r>
              <a:rPr sz="1620" b="0" dirty="0">
                <a:solidFill>
                  <a:srgbClr val="526170"/>
                </a:solidFill>
                <a:latin typeface="Lato"/>
                <a:ea typeface="Lato"/>
                <a:cs typeface="Lato"/>
              </a:rPr>
              <a:t> </a:t>
            </a:r>
            <a:r>
              <a:rPr sz="1620" b="0" dirty="0" err="1">
                <a:solidFill>
                  <a:srgbClr val="526170"/>
                </a:solidFill>
                <a:latin typeface="Lato"/>
                <a:ea typeface="Lato"/>
                <a:cs typeface="Lato"/>
              </a:rPr>
              <a:t>chuyển</a:t>
            </a:r>
            <a:r>
              <a:rPr sz="1620" b="0" dirty="0">
                <a:solidFill>
                  <a:srgbClr val="526170"/>
                </a:solidFill>
                <a:latin typeface="Lato"/>
                <a:ea typeface="Lato"/>
                <a:cs typeface="Lato"/>
              </a:rPr>
              <a:t> </a:t>
            </a:r>
            <a:r>
              <a:rPr sz="1620" b="0" dirty="0" err="1">
                <a:solidFill>
                  <a:srgbClr val="526170"/>
                </a:solidFill>
                <a:latin typeface="Lato"/>
                <a:ea typeface="Lato"/>
                <a:cs typeface="Lato"/>
              </a:rPr>
              <a:t>miền</a:t>
            </a:r>
            <a:r>
              <a:rPr sz="1620" b="0" dirty="0">
                <a:solidFill>
                  <a:srgbClr val="526170"/>
                </a:solidFill>
                <a:latin typeface="Lato"/>
                <a:ea typeface="Lato"/>
                <a:cs typeface="Lato"/>
              </a:rPr>
              <a:t>.</a:t>
            </a:r>
          </a:p>
        </p:txBody>
      </p:sp>
    </p:spTree>
    <p:extLst>
      <p:ext uri="{BB962C8B-B14F-4D97-AF65-F5344CB8AC3E}">
        <p14:creationId xmlns:p14="http://schemas.microsoft.com/office/powerpoint/2010/main" val="221433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5A3A07DF-73CB-40EF-ADE9-9C546D84E622}"/>
              </a:ext>
            </a:extLst>
          </p:cNvPr>
          <p:cNvCxnSpPr>
            <a:stCxn id="12" idx="1"/>
            <a:endCxn id="13" idx="3"/>
          </p:cNvCxnSpPr>
          <p:nvPr/>
        </p:nvCxnSpPr>
        <p:spPr>
          <a:xfrm flipH="1">
            <a:off x="2895600" y="3696891"/>
            <a:ext cx="609600" cy="0"/>
          </a:xfrm>
          <a:prstGeom prst="straightConnector1">
            <a:avLst/>
          </a:prstGeom>
          <a:ln w="19050">
            <a:solidFill>
              <a:srgbClr val="BE1E2D"/>
            </a:solidFill>
            <a:prstDash val="solid"/>
            <a:tailEnd type="triangle" w="sm" len="sm"/>
          </a:ln>
        </p:spPr>
      </p:cxnSp>
      <p:cxnSp>
        <p:nvCxnSpPr>
          <p:cNvPr id="15" name="Straight Arrow Connector 14">
            <a:extLst>
              <a:ext uri="{FF2B5EF4-FFF2-40B4-BE49-F238E27FC236}">
                <a16:creationId xmlns:a16="http://schemas.microsoft.com/office/drawing/2014/main" id="{BFE42EDE-3D8A-4D06-A184-E42B38EF1B9E}"/>
              </a:ext>
            </a:extLst>
          </p:cNvPr>
          <p:cNvCxnSpPr>
            <a:stCxn id="11" idx="1"/>
            <a:endCxn id="12" idx="3"/>
          </p:cNvCxnSpPr>
          <p:nvPr/>
        </p:nvCxnSpPr>
        <p:spPr>
          <a:xfrm flipH="1">
            <a:off x="6019800" y="3696891"/>
            <a:ext cx="609600" cy="0"/>
          </a:xfrm>
          <a:prstGeom prst="straightConnector1">
            <a:avLst/>
          </a:prstGeom>
          <a:ln w="19050">
            <a:solidFill>
              <a:srgbClr val="BE1E2D"/>
            </a:solidFill>
            <a:prstDash val="solid"/>
            <a:tailEnd type="triangle" w="sm" len="sm"/>
          </a:ln>
        </p:spPr>
      </p:cxnSp>
      <p:cxnSp>
        <p:nvCxnSpPr>
          <p:cNvPr id="14" name="Straight Arrow Connector 13">
            <a:extLst>
              <a:ext uri="{FF2B5EF4-FFF2-40B4-BE49-F238E27FC236}">
                <a16:creationId xmlns:a16="http://schemas.microsoft.com/office/drawing/2014/main" id="{B7DC1E57-BB6B-4C7F-964E-1DA67BAE4C0A}"/>
              </a:ext>
            </a:extLst>
          </p:cNvPr>
          <p:cNvCxnSpPr>
            <a:stCxn id="8" idx="2"/>
            <a:endCxn id="11" idx="0"/>
          </p:cNvCxnSpPr>
          <p:nvPr/>
        </p:nvCxnSpPr>
        <p:spPr>
          <a:xfrm>
            <a:off x="7848600" y="2557463"/>
            <a:ext cx="0" cy="764381"/>
          </a:xfrm>
          <a:prstGeom prst="straightConnector1">
            <a:avLst/>
          </a:prstGeom>
          <a:ln w="19050">
            <a:solidFill>
              <a:srgbClr val="BE1E2D"/>
            </a:solidFill>
            <a:prstDash val="solid"/>
            <a:tailEnd type="triangle" w="sm" len="sm"/>
          </a:ln>
        </p:spPr>
      </p:cxnSp>
      <p:cxnSp>
        <p:nvCxnSpPr>
          <p:cNvPr id="10" name="Straight Arrow Connector 9">
            <a:extLst>
              <a:ext uri="{FF2B5EF4-FFF2-40B4-BE49-F238E27FC236}">
                <a16:creationId xmlns:a16="http://schemas.microsoft.com/office/drawing/2014/main" id="{99D87F91-24EB-4FE6-896E-79314B4FCE03}"/>
              </a:ext>
            </a:extLst>
          </p:cNvPr>
          <p:cNvCxnSpPr>
            <a:stCxn id="7" idx="3"/>
            <a:endCxn id="8" idx="1"/>
          </p:cNvCxnSpPr>
          <p:nvPr/>
        </p:nvCxnSpPr>
        <p:spPr>
          <a:xfrm>
            <a:off x="6019800" y="2182416"/>
            <a:ext cx="609600" cy="0"/>
          </a:xfrm>
          <a:prstGeom prst="straightConnector1">
            <a:avLst/>
          </a:prstGeom>
          <a:ln w="19050">
            <a:solidFill>
              <a:srgbClr val="BE1E2D"/>
            </a:solidFill>
            <a:prstDash val="solid"/>
            <a:tailEnd type="triangle" w="sm" len="sm"/>
          </a:ln>
        </p:spPr>
      </p:cxnSp>
      <p:cxnSp>
        <p:nvCxnSpPr>
          <p:cNvPr id="9" name="Straight Arrow Connector 8">
            <a:extLst>
              <a:ext uri="{FF2B5EF4-FFF2-40B4-BE49-F238E27FC236}">
                <a16:creationId xmlns:a16="http://schemas.microsoft.com/office/drawing/2014/main" id="{DCB4AD06-3F0A-4FBB-AC7A-E4534AF49E2D}"/>
              </a:ext>
            </a:extLst>
          </p:cNvPr>
          <p:cNvCxnSpPr>
            <a:stCxn id="6" idx="3"/>
            <a:endCxn id="7" idx="1"/>
          </p:cNvCxnSpPr>
          <p:nvPr/>
        </p:nvCxnSpPr>
        <p:spPr>
          <a:xfrm>
            <a:off x="2895600" y="2182416"/>
            <a:ext cx="609600" cy="0"/>
          </a:xfrm>
          <a:prstGeom prst="straightConnector1">
            <a:avLst/>
          </a:prstGeom>
          <a:ln w="19050">
            <a:solidFill>
              <a:srgbClr val="BE1E2D"/>
            </a:solidFill>
            <a:prstDash val="solid"/>
            <a:tailEnd type="triangle" w="sm" len="sm"/>
          </a:ln>
        </p:spPr>
      </p:cxnSp>
      <p:sp>
        <p:nvSpPr>
          <p:cNvPr id="2" name="Title 1">
            <a:extLst>
              <a:ext uri="{FF2B5EF4-FFF2-40B4-BE49-F238E27FC236}">
                <a16:creationId xmlns:a16="http://schemas.microsoft.com/office/drawing/2014/main" id="{EF9B3AB5-95DF-4273-871C-843529DB7255}"/>
              </a:ext>
            </a:extLst>
          </p:cNvPr>
          <p:cNvSpPr>
            <a:spLocks noGrp="1"/>
          </p:cNvSpPr>
          <p:nvPr>
            <p:ph type="title"/>
          </p:nvPr>
        </p:nvSpPr>
        <p:spPr>
          <a:xfrm>
            <a:off x="342900" y="95250"/>
            <a:ext cx="11430000" cy="457200"/>
          </a:xfrm>
        </p:spPr>
        <p:txBody>
          <a:bodyPr lIns="0" tIns="0" rIns="0" bIns="0" anchor="ctr"/>
          <a:lstStyle>
            <a:defPPr>
              <a:defRPr sz="2800" b="1">
                <a:solidFill>
                  <a:srgbClr val="FFFFFF"/>
                </a:solidFill>
                <a:latin typeface="Lato"/>
                <a:ea typeface="Lato"/>
                <a:cs typeface="Lato"/>
              </a:defRPr>
            </a:defPPr>
            <a:lvl1pPr>
              <a:defRPr sz="2800" b="1">
                <a:solidFill>
                  <a:srgbClr val="FFFFFF"/>
                </a:solidFill>
                <a:latin typeface="Lato"/>
                <a:ea typeface="Lato"/>
                <a:cs typeface="Lato"/>
              </a:defRPr>
            </a:lvl1pPr>
            <a:lvl2pPr>
              <a:defRPr sz="2800" b="1">
                <a:solidFill>
                  <a:srgbClr val="FFFFFF"/>
                </a:solidFill>
                <a:latin typeface="Lato"/>
                <a:ea typeface="Lato"/>
                <a:cs typeface="Lato"/>
              </a:defRPr>
            </a:lvl2pPr>
            <a:lvl3pPr>
              <a:defRPr sz="2800" b="1">
                <a:solidFill>
                  <a:srgbClr val="FFFFFF"/>
                </a:solidFill>
                <a:latin typeface="Lato"/>
                <a:ea typeface="Lato"/>
                <a:cs typeface="Lato"/>
              </a:defRPr>
            </a:lvl3pPr>
            <a:lvl4pPr>
              <a:defRPr sz="2800" b="1">
                <a:solidFill>
                  <a:srgbClr val="FFFFFF"/>
                </a:solidFill>
                <a:latin typeface="Lato"/>
                <a:ea typeface="Lato"/>
                <a:cs typeface="Lato"/>
              </a:defRPr>
            </a:lvl4pPr>
            <a:lvl5pPr>
              <a:defRPr sz="2800" b="1">
                <a:solidFill>
                  <a:srgbClr val="FFFFFF"/>
                </a:solidFill>
                <a:latin typeface="Lato"/>
                <a:ea typeface="Lato"/>
                <a:cs typeface="Lato"/>
              </a:defRPr>
            </a:lvl5pPr>
            <a:lvl6pPr>
              <a:defRPr sz="2800" b="1">
                <a:solidFill>
                  <a:srgbClr val="FFFFFF"/>
                </a:solidFill>
                <a:latin typeface="Lato"/>
                <a:ea typeface="Lato"/>
                <a:cs typeface="Lato"/>
              </a:defRPr>
            </a:lvl6pPr>
            <a:lvl7pPr>
              <a:defRPr sz="2800" b="1">
                <a:solidFill>
                  <a:srgbClr val="FFFFFF"/>
                </a:solidFill>
                <a:latin typeface="Lato"/>
                <a:ea typeface="Lato"/>
                <a:cs typeface="Lato"/>
              </a:defRPr>
            </a:lvl7pPr>
            <a:lvl8pPr>
              <a:defRPr sz="2800" b="1">
                <a:solidFill>
                  <a:srgbClr val="FFFFFF"/>
                </a:solidFill>
                <a:latin typeface="Lato"/>
                <a:ea typeface="Lato"/>
                <a:cs typeface="Lato"/>
              </a:defRPr>
            </a:lvl8pPr>
            <a:lvl9pPr>
              <a:defRPr sz="2800" b="1">
                <a:solidFill>
                  <a:srgbClr val="FFFFFF"/>
                </a:solidFill>
                <a:latin typeface="Lato"/>
                <a:ea typeface="Lato"/>
                <a:cs typeface="Lato"/>
              </a:defRPr>
            </a:lvl9pPr>
          </a:lstStyle>
          <a:p>
            <a:pPr>
              <a:defRPr sz="2800" b="1">
                <a:solidFill>
                  <a:srgbClr val="FFFFFF"/>
                </a:solidFill>
                <a:latin typeface="Lato"/>
                <a:ea typeface="Lato"/>
                <a:cs typeface="Lato"/>
              </a:defRPr>
            </a:pPr>
            <a:r>
              <a:rPr sz="2800" b="1" dirty="0">
                <a:solidFill>
                  <a:srgbClr val="FFFFFF"/>
                </a:solidFill>
                <a:latin typeface="Lato"/>
                <a:ea typeface="Lato"/>
                <a:cs typeface="Lato"/>
              </a:rPr>
              <a:t>Frontend </a:t>
            </a:r>
            <a:r>
              <a:rPr sz="2800" b="1" dirty="0" err="1">
                <a:solidFill>
                  <a:srgbClr val="FFFFFF"/>
                </a:solidFill>
                <a:latin typeface="Lato"/>
                <a:ea typeface="Lato"/>
                <a:cs typeface="Lato"/>
              </a:rPr>
              <a:t>nhận</a:t>
            </a:r>
            <a:r>
              <a:rPr sz="2800" b="1" dirty="0">
                <a:solidFill>
                  <a:srgbClr val="FFFFFF"/>
                </a:solidFill>
                <a:latin typeface="Lato"/>
                <a:ea typeface="Lato"/>
                <a:cs typeface="Lato"/>
              </a:rPr>
              <a:t> </a:t>
            </a:r>
            <a:r>
              <a:rPr sz="2800" b="1" dirty="0" err="1">
                <a:solidFill>
                  <a:srgbClr val="FFFFFF"/>
                </a:solidFill>
                <a:latin typeface="Lato"/>
                <a:ea typeface="Lato"/>
                <a:cs typeface="Lato"/>
              </a:rPr>
              <a:t>dạng</a:t>
            </a:r>
            <a:r>
              <a:rPr sz="2800" b="1" dirty="0">
                <a:solidFill>
                  <a:srgbClr val="FFFFFF"/>
                </a:solidFill>
                <a:latin typeface="Lato"/>
                <a:ea typeface="Lato"/>
                <a:cs typeface="Lato"/>
              </a:rPr>
              <a:t> </a:t>
            </a:r>
            <a:r>
              <a:rPr sz="2800" b="1" dirty="0" err="1">
                <a:solidFill>
                  <a:srgbClr val="FFFFFF"/>
                </a:solidFill>
                <a:latin typeface="Lato"/>
                <a:ea typeface="Lato"/>
                <a:cs typeface="Lato"/>
              </a:rPr>
              <a:t>đoạn</a:t>
            </a:r>
            <a:r>
              <a:rPr sz="2800" b="1" dirty="0">
                <a:solidFill>
                  <a:srgbClr val="FFFFFF"/>
                </a:solidFill>
                <a:latin typeface="Lato"/>
                <a:ea typeface="Lato"/>
                <a:cs typeface="Lato"/>
              </a:rPr>
              <a:t> </a:t>
            </a:r>
            <a:r>
              <a:rPr sz="2800" b="1" dirty="0" err="1">
                <a:solidFill>
                  <a:srgbClr val="FFFFFF"/>
                </a:solidFill>
                <a:latin typeface="Lato"/>
                <a:ea typeface="Lato"/>
                <a:cs typeface="Lato"/>
              </a:rPr>
              <a:t>văn</a:t>
            </a:r>
            <a:r>
              <a:rPr sz="2800" b="1" dirty="0">
                <a:solidFill>
                  <a:srgbClr val="FFFFFF"/>
                </a:solidFill>
                <a:latin typeface="Lato"/>
                <a:ea typeface="Lato"/>
                <a:cs typeface="Lato"/>
              </a:rPr>
              <a:t> </a:t>
            </a:r>
            <a:r>
              <a:rPr sz="2800" b="1" dirty="0" err="1">
                <a:solidFill>
                  <a:srgbClr val="FFFFFF"/>
                </a:solidFill>
                <a:latin typeface="Lato"/>
                <a:ea typeface="Lato"/>
                <a:cs typeface="Lato"/>
              </a:rPr>
              <a:t>bản</a:t>
            </a:r>
            <a:endParaRPr dirty="0"/>
          </a:p>
        </p:txBody>
      </p:sp>
      <p:sp>
        <p:nvSpPr>
          <p:cNvPr id="3" name="Content Placeholder 2">
            <a:extLst>
              <a:ext uri="{FF2B5EF4-FFF2-40B4-BE49-F238E27FC236}">
                <a16:creationId xmlns:a16="http://schemas.microsoft.com/office/drawing/2014/main" id="{3573E091-9DCD-4DE7-96D1-A93E44E0F5B9}"/>
              </a:ext>
            </a:extLst>
          </p:cNvPr>
          <p:cNvSpPr>
            <a:spLocks noGrp="1"/>
          </p:cNvSpPr>
          <p:nvPr>
            <p:ph idx="13"/>
          </p:nvPr>
        </p:nvSpPr>
        <p:spPr/>
        <p:txBody>
          <a:bodyPr/>
          <a:lstStyle/>
          <a:p>
            <a:endParaRPr dirty="0"/>
          </a:p>
        </p:txBody>
      </p:sp>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idx="12"/>
          </p:nvPr>
        </p:nvSpPr>
        <p:spPr/>
        <p:txBody>
          <a:bodyPr/>
          <a:lstStyle/>
          <a:p>
            <a:fld id="{8C630A04-5A25-9E0C-9436-126091DB86B3}" type="slidenum">
              <a:rPr/>
              <a:t>6</a:t>
            </a:fld>
            <a:endParaRPr/>
          </a:p>
        </p:txBody>
      </p:sp>
      <p:sp>
        <p:nvSpPr>
          <p:cNvPr id="6" name="node-56">
            <a:extLst>
              <a:ext uri="{FF2B5EF4-FFF2-40B4-BE49-F238E27FC236}">
                <a16:creationId xmlns:a16="http://schemas.microsoft.com/office/drawing/2014/main" id="{62C975EF-50FA-4B39-A870-3F1C543B0657}"/>
              </a:ext>
            </a:extLst>
          </p:cNvPr>
          <p:cNvSpPr>
            <a:spLocks noGrp="1"/>
          </p:cNvSpPr>
          <p:nvPr/>
        </p:nvSpPr>
        <p:spPr>
          <a:xfrm>
            <a:off x="609600" y="1807369"/>
            <a:ext cx="2286000" cy="750094"/>
          </a:xfrm>
          <a:prstGeom prst="rect">
            <a:avLst/>
          </a:prstGeom>
          <a:solidFill>
            <a:srgbClr val="E9F0F8"/>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Ảnh đoạn văn</a:t>
            </a:r>
          </a:p>
          <a:p>
            <a:pPr algn="ctr">
              <a:defRPr sz="1500" b="1">
                <a:solidFill>
                  <a:srgbClr val="00376F"/>
                </a:solidFill>
                <a:latin typeface="Lato"/>
                <a:ea typeface="Lato"/>
                <a:cs typeface="Lato"/>
              </a:defRPr>
            </a:pPr>
            <a:r>
              <a:rPr sz="1500" b="1">
                <a:solidFill>
                  <a:srgbClr val="00376F"/>
                </a:solidFill>
                <a:latin typeface="Lato"/>
                <a:ea typeface="Lato"/>
                <a:cs typeface="Lato"/>
              </a:rPr>
              <a:t>Người dùng tải lên</a:t>
            </a:r>
          </a:p>
        </p:txBody>
      </p:sp>
      <p:sp>
        <p:nvSpPr>
          <p:cNvPr id="7" name="node-57">
            <a:extLst>
              <a:ext uri="{FF2B5EF4-FFF2-40B4-BE49-F238E27FC236}">
                <a16:creationId xmlns:a16="http://schemas.microsoft.com/office/drawing/2014/main" id="{E64308E2-A5E8-4F2D-BBD3-F94352351761}"/>
              </a:ext>
            </a:extLst>
          </p:cNvPr>
          <p:cNvSpPr>
            <a:spLocks noGrp="1"/>
          </p:cNvSpPr>
          <p:nvPr/>
        </p:nvSpPr>
        <p:spPr>
          <a:xfrm>
            <a:off x="3505200" y="1807369"/>
            <a:ext cx="2514600" cy="750094"/>
          </a:xfrm>
          <a:prstGeom prst="rect">
            <a:avLst/>
          </a:prstGeom>
          <a:solidFill>
            <a:srgbClr val="E9F0F8"/>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Detector pretrained</a:t>
            </a:r>
          </a:p>
          <a:p>
            <a:pPr algn="ctr">
              <a:defRPr sz="1500" b="1">
                <a:solidFill>
                  <a:srgbClr val="00376F"/>
                </a:solidFill>
                <a:latin typeface="Lato"/>
                <a:ea typeface="Lato"/>
                <a:cs typeface="Lato"/>
              </a:defRPr>
            </a:pPr>
            <a:r>
              <a:rPr sz="1500" b="1">
                <a:solidFill>
                  <a:srgbClr val="00376F"/>
                </a:solidFill>
                <a:latin typeface="Lato"/>
                <a:ea typeface="Lato"/>
                <a:cs typeface="Lato"/>
              </a:rPr>
              <a:t>Tìm vùng chữ</a:t>
            </a:r>
          </a:p>
        </p:txBody>
      </p:sp>
      <p:sp>
        <p:nvSpPr>
          <p:cNvPr id="8" name="node-58">
            <a:extLst>
              <a:ext uri="{FF2B5EF4-FFF2-40B4-BE49-F238E27FC236}">
                <a16:creationId xmlns:a16="http://schemas.microsoft.com/office/drawing/2014/main" id="{C7F78510-97DE-43D5-B7E9-AE95E8A7E272}"/>
              </a:ext>
            </a:extLst>
          </p:cNvPr>
          <p:cNvSpPr>
            <a:spLocks noGrp="1"/>
          </p:cNvSpPr>
          <p:nvPr/>
        </p:nvSpPr>
        <p:spPr>
          <a:xfrm>
            <a:off x="6629400" y="1807369"/>
            <a:ext cx="2438400" cy="750094"/>
          </a:xfrm>
          <a:prstGeom prst="rect">
            <a:avLst/>
          </a:prstGeom>
          <a:solidFill>
            <a:srgbClr val="E9F0F8"/>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Ghép vùng theo dòng</a:t>
            </a:r>
          </a:p>
          <a:p>
            <a:pPr algn="ctr">
              <a:defRPr sz="1500" b="1">
                <a:solidFill>
                  <a:srgbClr val="00376F"/>
                </a:solidFill>
                <a:latin typeface="Lato"/>
                <a:ea typeface="Lato"/>
                <a:cs typeface="Lato"/>
              </a:defRPr>
            </a:pPr>
            <a:r>
              <a:rPr sz="1500" b="1">
                <a:solidFill>
                  <a:srgbClr val="00376F"/>
                </a:solidFill>
                <a:latin typeface="Lato"/>
                <a:ea typeface="Lato"/>
                <a:cs typeface="Lato"/>
              </a:rPr>
              <a:t>Cắt, chỉnh nghiêng</a:t>
            </a:r>
          </a:p>
        </p:txBody>
      </p:sp>
      <p:sp>
        <p:nvSpPr>
          <p:cNvPr id="11" name="node-59">
            <a:extLst>
              <a:ext uri="{FF2B5EF4-FFF2-40B4-BE49-F238E27FC236}">
                <a16:creationId xmlns:a16="http://schemas.microsoft.com/office/drawing/2014/main" id="{129F184C-1EFC-4FD2-A09A-8900A3056D79}"/>
              </a:ext>
            </a:extLst>
          </p:cNvPr>
          <p:cNvSpPr>
            <a:spLocks noGrp="1"/>
          </p:cNvSpPr>
          <p:nvPr/>
        </p:nvSpPr>
        <p:spPr>
          <a:xfrm>
            <a:off x="6629400" y="3321844"/>
            <a:ext cx="2438400" cy="750094"/>
          </a:xfrm>
          <a:prstGeom prst="rect">
            <a:avLst/>
          </a:prstGeom>
          <a:solidFill>
            <a:srgbClr val="E9F0F8"/>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Recognizer</a:t>
            </a:r>
          </a:p>
          <a:p>
            <a:pPr algn="ctr">
              <a:defRPr sz="1500" b="1">
                <a:solidFill>
                  <a:srgbClr val="00376F"/>
                </a:solidFill>
                <a:latin typeface="Lato"/>
                <a:ea typeface="Lato"/>
                <a:cs typeface="Lato"/>
              </a:defRPr>
            </a:pPr>
            <a:r>
              <a:rPr sz="1500" b="1">
                <a:solidFill>
                  <a:srgbClr val="00376F"/>
                </a:solidFill>
                <a:latin typeface="Lato"/>
                <a:ea typeface="Lato"/>
                <a:cs typeface="Lato"/>
              </a:rPr>
              <a:t>Chữ in / chữ viết tay</a:t>
            </a:r>
          </a:p>
        </p:txBody>
      </p:sp>
      <p:sp>
        <p:nvSpPr>
          <p:cNvPr id="12" name="node-60">
            <a:extLst>
              <a:ext uri="{FF2B5EF4-FFF2-40B4-BE49-F238E27FC236}">
                <a16:creationId xmlns:a16="http://schemas.microsoft.com/office/drawing/2014/main" id="{75C9ED3F-B7E3-4DC4-9A76-65EC68179C5E}"/>
              </a:ext>
            </a:extLst>
          </p:cNvPr>
          <p:cNvSpPr>
            <a:spLocks noGrp="1"/>
          </p:cNvSpPr>
          <p:nvPr/>
        </p:nvSpPr>
        <p:spPr>
          <a:xfrm>
            <a:off x="3505200" y="3321844"/>
            <a:ext cx="2514600" cy="750094"/>
          </a:xfrm>
          <a:prstGeom prst="rect">
            <a:avLst/>
          </a:prstGeom>
          <a:solidFill>
            <a:srgbClr val="E9F0F8"/>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Sắp xếp thứ tự đọc</a:t>
            </a:r>
          </a:p>
          <a:p>
            <a:pPr algn="ctr">
              <a:defRPr sz="1500" b="1">
                <a:solidFill>
                  <a:srgbClr val="00376F"/>
                </a:solidFill>
                <a:latin typeface="Lato"/>
                <a:ea typeface="Lato"/>
                <a:cs typeface="Lato"/>
              </a:defRPr>
            </a:pPr>
            <a:r>
              <a:rPr sz="1500" b="1">
                <a:solidFill>
                  <a:srgbClr val="00376F"/>
                </a:solidFill>
                <a:latin typeface="Lato"/>
                <a:ea typeface="Lato"/>
                <a:cs typeface="Lato"/>
              </a:rPr>
              <a:t>Ghép văn bản</a:t>
            </a:r>
          </a:p>
        </p:txBody>
      </p:sp>
      <p:sp>
        <p:nvSpPr>
          <p:cNvPr id="13" name="node-61">
            <a:extLst>
              <a:ext uri="{FF2B5EF4-FFF2-40B4-BE49-F238E27FC236}">
                <a16:creationId xmlns:a16="http://schemas.microsoft.com/office/drawing/2014/main" id="{C970D317-8685-4921-857E-930181DC8EF7}"/>
              </a:ext>
            </a:extLst>
          </p:cNvPr>
          <p:cNvSpPr>
            <a:spLocks noGrp="1"/>
          </p:cNvSpPr>
          <p:nvPr/>
        </p:nvSpPr>
        <p:spPr>
          <a:xfrm>
            <a:off x="609600" y="3321844"/>
            <a:ext cx="2286000" cy="750094"/>
          </a:xfrm>
          <a:prstGeom prst="rect">
            <a:avLst/>
          </a:prstGeom>
          <a:solidFill>
            <a:srgbClr val="E9F0F8"/>
          </a:solidFill>
          <a:ln w="12383">
            <a:solidFill>
              <a:srgbClr val="BE1E2D"/>
            </a:solidFill>
            <a:prstDash val="solid"/>
          </a:ln>
        </p:spPr>
        <p:txBody>
          <a:bodyPr lIns="95250" tIns="95250" rIns="95250" bIns="95250" anchor="ctr"/>
          <a:lstStyle>
            <a:defPPr algn="ctr">
              <a:defRPr sz="1500" b="1">
                <a:solidFill>
                  <a:srgbClr val="00376F"/>
                </a:solidFill>
                <a:latin typeface="Lato"/>
                <a:ea typeface="Lato"/>
                <a:cs typeface="Lato"/>
              </a:defRPr>
            </a:defPPr>
            <a:lvl1pPr algn="ctr">
              <a:defRPr sz="1500" b="1">
                <a:solidFill>
                  <a:srgbClr val="00376F"/>
                </a:solidFill>
                <a:latin typeface="Lato"/>
                <a:ea typeface="Lato"/>
                <a:cs typeface="Lato"/>
              </a:defRPr>
            </a:lvl1pPr>
            <a:lvl2pPr algn="ctr">
              <a:defRPr sz="1500" b="1">
                <a:solidFill>
                  <a:srgbClr val="00376F"/>
                </a:solidFill>
                <a:latin typeface="Lato"/>
                <a:ea typeface="Lato"/>
                <a:cs typeface="Lato"/>
              </a:defRPr>
            </a:lvl2pPr>
            <a:lvl3pPr algn="ctr">
              <a:defRPr sz="1500" b="1">
                <a:solidFill>
                  <a:srgbClr val="00376F"/>
                </a:solidFill>
                <a:latin typeface="Lato"/>
                <a:ea typeface="Lato"/>
                <a:cs typeface="Lato"/>
              </a:defRPr>
            </a:lvl3pPr>
            <a:lvl4pPr algn="ctr">
              <a:defRPr sz="1500" b="1">
                <a:solidFill>
                  <a:srgbClr val="00376F"/>
                </a:solidFill>
                <a:latin typeface="Lato"/>
                <a:ea typeface="Lato"/>
                <a:cs typeface="Lato"/>
              </a:defRPr>
            </a:lvl4pPr>
            <a:lvl5pPr algn="ctr">
              <a:defRPr sz="1500" b="1">
                <a:solidFill>
                  <a:srgbClr val="00376F"/>
                </a:solidFill>
                <a:latin typeface="Lato"/>
                <a:ea typeface="Lato"/>
                <a:cs typeface="Lato"/>
              </a:defRPr>
            </a:lvl5pPr>
            <a:lvl6pPr algn="ctr">
              <a:defRPr sz="1500" b="1">
                <a:solidFill>
                  <a:srgbClr val="00376F"/>
                </a:solidFill>
                <a:latin typeface="Lato"/>
                <a:ea typeface="Lato"/>
                <a:cs typeface="Lato"/>
              </a:defRPr>
            </a:lvl6pPr>
            <a:lvl7pPr algn="ctr">
              <a:defRPr sz="1500" b="1">
                <a:solidFill>
                  <a:srgbClr val="00376F"/>
                </a:solidFill>
                <a:latin typeface="Lato"/>
                <a:ea typeface="Lato"/>
                <a:cs typeface="Lato"/>
              </a:defRPr>
            </a:lvl7pPr>
            <a:lvl8pPr algn="ctr">
              <a:defRPr sz="1500" b="1">
                <a:solidFill>
                  <a:srgbClr val="00376F"/>
                </a:solidFill>
                <a:latin typeface="Lato"/>
                <a:ea typeface="Lato"/>
                <a:cs typeface="Lato"/>
              </a:defRPr>
            </a:lvl8pPr>
            <a:lvl9pPr algn="ctr">
              <a:defRPr sz="1500" b="1">
                <a:solidFill>
                  <a:srgbClr val="00376F"/>
                </a:solidFill>
                <a:latin typeface="Lato"/>
                <a:ea typeface="Lato"/>
                <a:cs typeface="Lato"/>
              </a:defRPr>
            </a:lvl9pPr>
          </a:lstStyle>
          <a:p>
            <a:pPr algn="ctr">
              <a:defRPr sz="1500" b="1">
                <a:solidFill>
                  <a:srgbClr val="00376F"/>
                </a:solidFill>
                <a:latin typeface="Lato"/>
                <a:ea typeface="Lato"/>
                <a:cs typeface="Lato"/>
              </a:defRPr>
            </a:pPr>
            <a:r>
              <a:rPr sz="1500" b="1">
                <a:solidFill>
                  <a:srgbClr val="00376F"/>
                </a:solidFill>
                <a:latin typeface="Lato"/>
                <a:ea typeface="Lato"/>
                <a:cs typeface="Lato"/>
              </a:rPr>
              <a:t>Frontend</a:t>
            </a:r>
          </a:p>
          <a:p>
            <a:pPr algn="ctr">
              <a:defRPr sz="1500" b="1">
                <a:solidFill>
                  <a:srgbClr val="00376F"/>
                </a:solidFill>
                <a:latin typeface="Lato"/>
                <a:ea typeface="Lato"/>
                <a:cs typeface="Lato"/>
              </a:defRPr>
            </a:pPr>
            <a:r>
              <a:rPr sz="1500" b="1">
                <a:solidFill>
                  <a:srgbClr val="00376F"/>
                </a:solidFill>
                <a:latin typeface="Lato"/>
                <a:ea typeface="Lato"/>
                <a:cs typeface="Lato"/>
              </a:rPr>
              <a:t>Xem và sửa kết quả</a:t>
            </a:r>
          </a:p>
        </p:txBody>
      </p:sp>
      <p:sp>
        <p:nvSpPr>
          <p:cNvPr id="17" name="text-62">
            <a:extLst>
              <a:ext uri="{FF2B5EF4-FFF2-40B4-BE49-F238E27FC236}">
                <a16:creationId xmlns:a16="http://schemas.microsoft.com/office/drawing/2014/main" id="{34862728-D34E-4E0D-8A9D-E71944537419}"/>
              </a:ext>
            </a:extLst>
          </p:cNvPr>
          <p:cNvSpPr>
            <a:spLocks noGrp="1"/>
          </p:cNvSpPr>
          <p:nvPr/>
        </p:nvSpPr>
        <p:spPr>
          <a:xfrm>
            <a:off x="9677400" y="1771650"/>
            <a:ext cx="2057400" cy="307181"/>
          </a:xfrm>
          <a:prstGeom prst="rect">
            <a:avLst/>
          </a:prstGeom>
          <a:noFill/>
          <a:ln w="0">
            <a:noFill/>
            <a:prstDash val="solid"/>
          </a:ln>
        </p:spPr>
        <p:txBody>
          <a:bodyPr lIns="0" tIns="0" rIns="0" bIns="0" anchor="t"/>
          <a:lstStyle>
            <a:defPPr>
              <a:defRPr sz="1560" b="1">
                <a:solidFill>
                  <a:srgbClr val="BE1E2D"/>
                </a:solidFill>
                <a:latin typeface="Lato"/>
                <a:ea typeface="Lato"/>
                <a:cs typeface="Lato"/>
              </a:defRPr>
            </a:defPPr>
            <a:lvl1pPr>
              <a:defRPr sz="1560" b="1">
                <a:solidFill>
                  <a:srgbClr val="BE1E2D"/>
                </a:solidFill>
                <a:latin typeface="Lato"/>
                <a:ea typeface="Lato"/>
                <a:cs typeface="Lato"/>
              </a:defRPr>
            </a:lvl1pPr>
            <a:lvl2pPr>
              <a:defRPr sz="1560" b="1">
                <a:solidFill>
                  <a:srgbClr val="BE1E2D"/>
                </a:solidFill>
                <a:latin typeface="Lato"/>
                <a:ea typeface="Lato"/>
                <a:cs typeface="Lato"/>
              </a:defRPr>
            </a:lvl2pPr>
            <a:lvl3pPr>
              <a:defRPr sz="1560" b="1">
                <a:solidFill>
                  <a:srgbClr val="BE1E2D"/>
                </a:solidFill>
                <a:latin typeface="Lato"/>
                <a:ea typeface="Lato"/>
                <a:cs typeface="Lato"/>
              </a:defRPr>
            </a:lvl3pPr>
            <a:lvl4pPr>
              <a:defRPr sz="1560" b="1">
                <a:solidFill>
                  <a:srgbClr val="BE1E2D"/>
                </a:solidFill>
                <a:latin typeface="Lato"/>
                <a:ea typeface="Lato"/>
                <a:cs typeface="Lato"/>
              </a:defRPr>
            </a:lvl4pPr>
            <a:lvl5pPr>
              <a:defRPr sz="1560" b="1">
                <a:solidFill>
                  <a:srgbClr val="BE1E2D"/>
                </a:solidFill>
                <a:latin typeface="Lato"/>
                <a:ea typeface="Lato"/>
                <a:cs typeface="Lato"/>
              </a:defRPr>
            </a:lvl5pPr>
            <a:lvl6pPr>
              <a:defRPr sz="1560" b="1">
                <a:solidFill>
                  <a:srgbClr val="BE1E2D"/>
                </a:solidFill>
                <a:latin typeface="Lato"/>
                <a:ea typeface="Lato"/>
                <a:cs typeface="Lato"/>
              </a:defRPr>
            </a:lvl6pPr>
            <a:lvl7pPr>
              <a:defRPr sz="1560" b="1">
                <a:solidFill>
                  <a:srgbClr val="BE1E2D"/>
                </a:solidFill>
                <a:latin typeface="Lato"/>
                <a:ea typeface="Lato"/>
                <a:cs typeface="Lato"/>
              </a:defRPr>
            </a:lvl7pPr>
            <a:lvl8pPr>
              <a:defRPr sz="1560" b="1">
                <a:solidFill>
                  <a:srgbClr val="BE1E2D"/>
                </a:solidFill>
                <a:latin typeface="Lato"/>
                <a:ea typeface="Lato"/>
                <a:cs typeface="Lato"/>
              </a:defRPr>
            </a:lvl8pPr>
            <a:lvl9pPr>
              <a:defRPr sz="1560" b="1">
                <a:solidFill>
                  <a:srgbClr val="BE1E2D"/>
                </a:solidFill>
                <a:latin typeface="Lato"/>
                <a:ea typeface="Lato"/>
                <a:cs typeface="Lato"/>
              </a:defRPr>
            </a:lvl9pPr>
          </a:lstStyle>
          <a:p>
            <a:pPr>
              <a:defRPr sz="1560" b="1">
                <a:solidFill>
                  <a:srgbClr val="BE1E2D"/>
                </a:solidFill>
                <a:latin typeface="Lato"/>
                <a:ea typeface="Lato"/>
                <a:cs typeface="Lato"/>
              </a:defRPr>
            </a:pPr>
            <a:r>
              <a:rPr sz="1560" b="1">
                <a:solidFill>
                  <a:srgbClr val="BE1E2D"/>
                </a:solidFill>
                <a:latin typeface="Lato"/>
                <a:ea typeface="Lato"/>
                <a:cs typeface="Lato"/>
              </a:rPr>
              <a:t>GIAO DIỆN</a:t>
            </a:r>
          </a:p>
        </p:txBody>
      </p:sp>
      <p:sp>
        <p:nvSpPr>
          <p:cNvPr id="18" name="text-63">
            <a:extLst>
              <a:ext uri="{FF2B5EF4-FFF2-40B4-BE49-F238E27FC236}">
                <a16:creationId xmlns:a16="http://schemas.microsoft.com/office/drawing/2014/main" id="{66CBB38A-D87C-4FDD-BF33-91FE74506BD9}"/>
              </a:ext>
            </a:extLst>
          </p:cNvPr>
          <p:cNvSpPr>
            <a:spLocks noGrp="1"/>
          </p:cNvSpPr>
          <p:nvPr/>
        </p:nvSpPr>
        <p:spPr>
          <a:xfrm>
            <a:off x="9677400" y="2221706"/>
            <a:ext cx="2057400" cy="1593056"/>
          </a:xfrm>
          <a:prstGeom prst="rect">
            <a:avLst/>
          </a:prstGeom>
          <a:noFill/>
          <a:ln w="0">
            <a:noFill/>
            <a:prstDash val="solid"/>
          </a:ln>
        </p:spPr>
        <p:txBody>
          <a:bodyPr lIns="0" tIns="0" rIns="0" bIns="0" anchor="t"/>
          <a:lstStyle>
            <a:defPPr>
              <a:defRPr sz="1440" b="0">
                <a:solidFill>
                  <a:srgbClr val="00376F"/>
                </a:solidFill>
                <a:latin typeface="Lato"/>
                <a:ea typeface="Lato"/>
                <a:cs typeface="Lato"/>
              </a:defRPr>
            </a:defPPr>
            <a:lvl1pPr>
              <a:defRPr sz="1440" b="0">
                <a:solidFill>
                  <a:srgbClr val="00376F"/>
                </a:solidFill>
                <a:latin typeface="Lato"/>
                <a:ea typeface="Lato"/>
                <a:cs typeface="Lato"/>
              </a:defRPr>
            </a:lvl1pPr>
            <a:lvl2pPr>
              <a:defRPr sz="1440" b="0">
                <a:solidFill>
                  <a:srgbClr val="00376F"/>
                </a:solidFill>
                <a:latin typeface="Lato"/>
                <a:ea typeface="Lato"/>
                <a:cs typeface="Lato"/>
              </a:defRPr>
            </a:lvl2pPr>
            <a:lvl3pPr>
              <a:defRPr sz="1440" b="0">
                <a:solidFill>
                  <a:srgbClr val="00376F"/>
                </a:solidFill>
                <a:latin typeface="Lato"/>
                <a:ea typeface="Lato"/>
                <a:cs typeface="Lato"/>
              </a:defRPr>
            </a:lvl3pPr>
            <a:lvl4pPr>
              <a:defRPr sz="1440" b="0">
                <a:solidFill>
                  <a:srgbClr val="00376F"/>
                </a:solidFill>
                <a:latin typeface="Lato"/>
                <a:ea typeface="Lato"/>
                <a:cs typeface="Lato"/>
              </a:defRPr>
            </a:lvl4pPr>
            <a:lvl5pPr>
              <a:defRPr sz="1440" b="0">
                <a:solidFill>
                  <a:srgbClr val="00376F"/>
                </a:solidFill>
                <a:latin typeface="Lato"/>
                <a:ea typeface="Lato"/>
                <a:cs typeface="Lato"/>
              </a:defRPr>
            </a:lvl5pPr>
            <a:lvl6pPr>
              <a:defRPr sz="1440" b="0">
                <a:solidFill>
                  <a:srgbClr val="00376F"/>
                </a:solidFill>
                <a:latin typeface="Lato"/>
                <a:ea typeface="Lato"/>
                <a:cs typeface="Lato"/>
              </a:defRPr>
            </a:lvl6pPr>
            <a:lvl7pPr>
              <a:defRPr sz="1440" b="0">
                <a:solidFill>
                  <a:srgbClr val="00376F"/>
                </a:solidFill>
                <a:latin typeface="Lato"/>
                <a:ea typeface="Lato"/>
                <a:cs typeface="Lato"/>
              </a:defRPr>
            </a:lvl7pPr>
            <a:lvl8pPr>
              <a:defRPr sz="1440" b="0">
                <a:solidFill>
                  <a:srgbClr val="00376F"/>
                </a:solidFill>
                <a:latin typeface="Lato"/>
                <a:ea typeface="Lato"/>
                <a:cs typeface="Lato"/>
              </a:defRPr>
            </a:lvl8pPr>
            <a:lvl9pPr>
              <a:defRPr sz="1440" b="0">
                <a:solidFill>
                  <a:srgbClr val="00376F"/>
                </a:solidFill>
                <a:latin typeface="Lato"/>
                <a:ea typeface="Lato"/>
                <a:cs typeface="Lato"/>
              </a:defRPr>
            </a:lvl9pPr>
          </a:lstStyle>
          <a:p>
            <a:pPr>
              <a:defRPr sz="1440" b="0">
                <a:solidFill>
                  <a:srgbClr val="00376F"/>
                </a:solidFill>
                <a:latin typeface="Lato"/>
                <a:ea typeface="Lato"/>
                <a:cs typeface="Lato"/>
              </a:defRPr>
            </a:pPr>
            <a:r>
              <a:rPr sz="1440" b="0">
                <a:solidFill>
                  <a:srgbClr val="00376F"/>
                </a:solidFill>
                <a:latin typeface="Lato"/>
                <a:ea typeface="Lato"/>
                <a:cs typeface="Lato"/>
              </a:rPr>
              <a:t>Ảnh + vùng chữ</a:t>
            </a:r>
          </a:p>
          <a:p>
            <a:pPr>
              <a:defRPr sz="1440" b="0">
                <a:solidFill>
                  <a:srgbClr val="00376F"/>
                </a:solidFill>
                <a:latin typeface="Lato"/>
                <a:ea typeface="Lato"/>
                <a:cs typeface="Lato"/>
              </a:defRPr>
            </a:pPr>
            <a:r>
              <a:rPr sz="1440" b="0">
                <a:solidFill>
                  <a:srgbClr val="00376F"/>
                </a:solidFill>
                <a:latin typeface="Lato"/>
                <a:ea typeface="Lato"/>
                <a:cs typeface="Lato"/>
              </a:rPr>
              <a:t>Văn bản chỉnh sửa</a:t>
            </a:r>
          </a:p>
          <a:p>
            <a:pPr>
              <a:defRPr sz="1440" b="0">
                <a:solidFill>
                  <a:srgbClr val="00376F"/>
                </a:solidFill>
                <a:latin typeface="Lato"/>
                <a:ea typeface="Lato"/>
                <a:cs typeface="Lato"/>
              </a:defRPr>
            </a:pPr>
            <a:r>
              <a:rPr sz="1440" b="0">
                <a:solidFill>
                  <a:srgbClr val="00376F"/>
                </a:solidFill>
                <a:latin typeface="Lato"/>
                <a:ea typeface="Lato"/>
                <a:cs typeface="Lato"/>
              </a:rPr>
              <a:t>Sao chép / tải TXT</a:t>
            </a:r>
          </a:p>
          <a:p>
            <a:pPr>
              <a:defRPr sz="1440" b="0">
                <a:solidFill>
                  <a:srgbClr val="00376F"/>
                </a:solidFill>
                <a:latin typeface="Lato"/>
                <a:ea typeface="Lato"/>
                <a:cs typeface="Lato"/>
              </a:defRPr>
            </a:pPr>
            <a:r>
              <a:rPr sz="1440" b="0">
                <a:solidFill>
                  <a:srgbClr val="00376F"/>
                </a:solidFill>
                <a:latin typeface="Lato"/>
                <a:ea typeface="Lato"/>
                <a:cs typeface="Lato"/>
              </a:rPr>
              <a:t>Chọn chế độ OCR</a:t>
            </a:r>
          </a:p>
        </p:txBody>
      </p:sp>
      <p:sp>
        <p:nvSpPr>
          <p:cNvPr id="19" name="text-64">
            <a:extLst>
              <a:ext uri="{FF2B5EF4-FFF2-40B4-BE49-F238E27FC236}">
                <a16:creationId xmlns:a16="http://schemas.microsoft.com/office/drawing/2014/main" id="{0243929C-FA86-420F-8927-035CA782FF78}"/>
              </a:ext>
            </a:extLst>
          </p:cNvPr>
          <p:cNvSpPr>
            <a:spLocks noGrp="1"/>
          </p:cNvSpPr>
          <p:nvPr/>
        </p:nvSpPr>
        <p:spPr>
          <a:xfrm>
            <a:off x="609600" y="4672013"/>
            <a:ext cx="10820400" cy="328613"/>
          </a:xfrm>
          <a:prstGeom prst="rect">
            <a:avLst/>
          </a:prstGeom>
          <a:noFill/>
          <a:ln w="0">
            <a:noFill/>
            <a:prstDash val="solid"/>
          </a:ln>
        </p:spPr>
        <p:txBody>
          <a:bodyPr lIns="0" tIns="0" rIns="0" bIns="0" anchor="t"/>
          <a:lstStyle>
            <a:defPPr>
              <a:defRPr sz="1980" b="1">
                <a:solidFill>
                  <a:srgbClr val="00376F"/>
                </a:solidFill>
                <a:latin typeface="Lato"/>
                <a:ea typeface="Lato"/>
                <a:cs typeface="Lato"/>
              </a:defRPr>
            </a:defPPr>
            <a:lvl1pPr>
              <a:defRPr sz="1980" b="1">
                <a:solidFill>
                  <a:srgbClr val="00376F"/>
                </a:solidFill>
                <a:latin typeface="Lato"/>
                <a:ea typeface="Lato"/>
                <a:cs typeface="Lato"/>
              </a:defRPr>
            </a:lvl1pPr>
            <a:lvl2pPr>
              <a:defRPr sz="1980" b="1">
                <a:solidFill>
                  <a:srgbClr val="00376F"/>
                </a:solidFill>
                <a:latin typeface="Lato"/>
                <a:ea typeface="Lato"/>
                <a:cs typeface="Lato"/>
              </a:defRPr>
            </a:lvl2pPr>
            <a:lvl3pPr>
              <a:defRPr sz="1980" b="1">
                <a:solidFill>
                  <a:srgbClr val="00376F"/>
                </a:solidFill>
                <a:latin typeface="Lato"/>
                <a:ea typeface="Lato"/>
                <a:cs typeface="Lato"/>
              </a:defRPr>
            </a:lvl3pPr>
            <a:lvl4pPr>
              <a:defRPr sz="1980" b="1">
                <a:solidFill>
                  <a:srgbClr val="00376F"/>
                </a:solidFill>
                <a:latin typeface="Lato"/>
                <a:ea typeface="Lato"/>
                <a:cs typeface="Lato"/>
              </a:defRPr>
            </a:lvl4pPr>
            <a:lvl5pPr>
              <a:defRPr sz="1980" b="1">
                <a:solidFill>
                  <a:srgbClr val="00376F"/>
                </a:solidFill>
                <a:latin typeface="Lato"/>
                <a:ea typeface="Lato"/>
                <a:cs typeface="Lato"/>
              </a:defRPr>
            </a:lvl5pPr>
            <a:lvl6pPr>
              <a:defRPr sz="1980" b="1">
                <a:solidFill>
                  <a:srgbClr val="00376F"/>
                </a:solidFill>
                <a:latin typeface="Lato"/>
                <a:ea typeface="Lato"/>
                <a:cs typeface="Lato"/>
              </a:defRPr>
            </a:lvl6pPr>
            <a:lvl7pPr>
              <a:defRPr sz="1980" b="1">
                <a:solidFill>
                  <a:srgbClr val="00376F"/>
                </a:solidFill>
                <a:latin typeface="Lato"/>
                <a:ea typeface="Lato"/>
                <a:cs typeface="Lato"/>
              </a:defRPr>
            </a:lvl7pPr>
            <a:lvl8pPr>
              <a:defRPr sz="1980" b="1">
                <a:solidFill>
                  <a:srgbClr val="00376F"/>
                </a:solidFill>
                <a:latin typeface="Lato"/>
                <a:ea typeface="Lato"/>
                <a:cs typeface="Lato"/>
              </a:defRPr>
            </a:lvl8pPr>
            <a:lvl9pPr>
              <a:defRPr sz="1980" b="1">
                <a:solidFill>
                  <a:srgbClr val="00376F"/>
                </a:solidFill>
                <a:latin typeface="Lato"/>
                <a:ea typeface="Lato"/>
                <a:cs typeface="Lato"/>
              </a:defRPr>
            </a:lvl9pPr>
          </a:lstStyle>
          <a:p>
            <a:pPr>
              <a:defRPr sz="1980" b="1">
                <a:solidFill>
                  <a:srgbClr val="00376F"/>
                </a:solidFill>
                <a:latin typeface="Lato"/>
                <a:ea typeface="Lato"/>
                <a:cs typeface="Lato"/>
              </a:defRPr>
            </a:pPr>
            <a:r>
              <a:rPr sz="1980" b="1">
                <a:solidFill>
                  <a:srgbClr val="00376F"/>
                </a:solidFill>
                <a:latin typeface="Lato"/>
                <a:ea typeface="Lato"/>
                <a:cs typeface="Lato"/>
              </a:rPr>
              <a:t>Triển khai dự kiến</a:t>
            </a:r>
          </a:p>
        </p:txBody>
      </p:sp>
      <p:sp>
        <p:nvSpPr>
          <p:cNvPr id="20" name="text-65">
            <a:extLst>
              <a:ext uri="{FF2B5EF4-FFF2-40B4-BE49-F238E27FC236}">
                <a16:creationId xmlns:a16="http://schemas.microsoft.com/office/drawing/2014/main" id="{7EEC1F76-7B0B-4A1A-AD6B-B876115D793A}"/>
              </a:ext>
            </a:extLst>
          </p:cNvPr>
          <p:cNvSpPr>
            <a:spLocks noGrp="1"/>
          </p:cNvSpPr>
          <p:nvPr/>
        </p:nvSpPr>
        <p:spPr>
          <a:xfrm>
            <a:off x="609600" y="5172075"/>
            <a:ext cx="10896600" cy="635794"/>
          </a:xfrm>
          <a:prstGeom prst="rect">
            <a:avLst/>
          </a:prstGeom>
          <a:noFill/>
          <a:ln w="0">
            <a:noFill/>
            <a:prstDash val="solid"/>
          </a:ln>
        </p:spPr>
        <p:txBody>
          <a:bodyPr lIns="0" tIns="0" rIns="0" bIns="0" anchor="t"/>
          <a:lstStyle>
            <a:defPPr>
              <a:defRPr sz="1560" b="0">
                <a:solidFill>
                  <a:srgbClr val="526170"/>
                </a:solidFill>
                <a:latin typeface="Lato"/>
                <a:ea typeface="Lato"/>
                <a:cs typeface="Lato"/>
              </a:defRPr>
            </a:defPPr>
            <a:lvl1pPr>
              <a:defRPr sz="1560" b="0">
                <a:solidFill>
                  <a:srgbClr val="526170"/>
                </a:solidFill>
                <a:latin typeface="Lato"/>
                <a:ea typeface="Lato"/>
                <a:cs typeface="Lato"/>
              </a:defRPr>
            </a:lvl1pPr>
            <a:lvl2pPr>
              <a:defRPr sz="1560" b="0">
                <a:solidFill>
                  <a:srgbClr val="526170"/>
                </a:solidFill>
                <a:latin typeface="Lato"/>
                <a:ea typeface="Lato"/>
                <a:cs typeface="Lato"/>
              </a:defRPr>
            </a:lvl2pPr>
            <a:lvl3pPr>
              <a:defRPr sz="1560" b="0">
                <a:solidFill>
                  <a:srgbClr val="526170"/>
                </a:solidFill>
                <a:latin typeface="Lato"/>
                <a:ea typeface="Lato"/>
                <a:cs typeface="Lato"/>
              </a:defRPr>
            </a:lvl3pPr>
            <a:lvl4pPr>
              <a:defRPr sz="1560" b="0">
                <a:solidFill>
                  <a:srgbClr val="526170"/>
                </a:solidFill>
                <a:latin typeface="Lato"/>
                <a:ea typeface="Lato"/>
                <a:cs typeface="Lato"/>
              </a:defRPr>
            </a:lvl4pPr>
            <a:lvl5pPr>
              <a:defRPr sz="1560" b="0">
                <a:solidFill>
                  <a:srgbClr val="526170"/>
                </a:solidFill>
                <a:latin typeface="Lato"/>
                <a:ea typeface="Lato"/>
                <a:cs typeface="Lato"/>
              </a:defRPr>
            </a:lvl5pPr>
            <a:lvl6pPr>
              <a:defRPr sz="1560" b="0">
                <a:solidFill>
                  <a:srgbClr val="526170"/>
                </a:solidFill>
                <a:latin typeface="Lato"/>
                <a:ea typeface="Lato"/>
                <a:cs typeface="Lato"/>
              </a:defRPr>
            </a:lvl6pPr>
            <a:lvl7pPr>
              <a:defRPr sz="1560" b="0">
                <a:solidFill>
                  <a:srgbClr val="526170"/>
                </a:solidFill>
                <a:latin typeface="Lato"/>
                <a:ea typeface="Lato"/>
                <a:cs typeface="Lato"/>
              </a:defRPr>
            </a:lvl7pPr>
            <a:lvl8pPr>
              <a:defRPr sz="1560" b="0">
                <a:solidFill>
                  <a:srgbClr val="526170"/>
                </a:solidFill>
                <a:latin typeface="Lato"/>
                <a:ea typeface="Lato"/>
                <a:cs typeface="Lato"/>
              </a:defRPr>
            </a:lvl8pPr>
            <a:lvl9pPr>
              <a:defRPr sz="1560" b="0">
                <a:solidFill>
                  <a:srgbClr val="526170"/>
                </a:solidFill>
                <a:latin typeface="Lato"/>
                <a:ea typeface="Lato"/>
                <a:cs typeface="Lato"/>
              </a:defRPr>
            </a:lvl9pPr>
          </a:lstStyle>
          <a:p>
            <a:pPr>
              <a:defRPr sz="1560" b="0">
                <a:solidFill>
                  <a:srgbClr val="526170"/>
                </a:solidFill>
                <a:latin typeface="Lato"/>
                <a:ea typeface="Lato"/>
                <a:cs typeface="Lato"/>
              </a:defRPr>
            </a:pPr>
            <a:r>
              <a:rPr sz="1560" b="0">
                <a:solidFill>
                  <a:srgbClr val="526170"/>
                </a:solidFill>
                <a:latin typeface="Lato"/>
                <a:ea typeface="Lato"/>
                <a:cs typeface="Lato"/>
              </a:rPr>
              <a:t>React + FastAPI + PyTorch. Detector DBNet/PP-OCR pretrained được chọn qua thử nghiệm.</a:t>
            </a:r>
          </a:p>
          <a:p>
            <a:pPr>
              <a:defRPr sz="1560" b="0">
                <a:solidFill>
                  <a:srgbClr val="526170"/>
                </a:solidFill>
                <a:latin typeface="Lato"/>
                <a:ea typeface="Lato"/>
                <a:cs typeface="Lato"/>
              </a:defRPr>
            </a:pPr>
            <a:r>
              <a:rPr sz="1560" b="0">
                <a:solidFill>
                  <a:srgbClr val="526170"/>
                </a:solidFill>
                <a:latin typeface="Lato"/>
                <a:ea typeface="Lato"/>
                <a:cs typeface="Lato"/>
              </a:rPr>
              <a:t>Đo CER toàn đoạn và thời gian end-to-end, tách lỗi detection khỏi lỗi recognition.</a:t>
            </a:r>
          </a:p>
        </p:txBody>
      </p:sp>
    </p:spTree>
    <p:extLst>
      <p:ext uri="{BB962C8B-B14F-4D97-AF65-F5344CB8AC3E}">
        <p14:creationId xmlns:p14="http://schemas.microsoft.com/office/powerpoint/2010/main" val="221433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B3AB5-95DF-4273-871C-843529DB7255}"/>
              </a:ext>
            </a:extLst>
          </p:cNvPr>
          <p:cNvSpPr>
            <a:spLocks noGrp="1"/>
          </p:cNvSpPr>
          <p:nvPr>
            <p:ph type="title"/>
          </p:nvPr>
        </p:nvSpPr>
        <p:spPr>
          <a:xfrm>
            <a:off x="342900" y="95250"/>
            <a:ext cx="11430000" cy="457200"/>
          </a:xfrm>
        </p:spPr>
        <p:txBody>
          <a:bodyPr lIns="0" tIns="0" rIns="0" bIns="0" anchor="ctr"/>
          <a:lstStyle>
            <a:defPPr>
              <a:defRPr sz="2800" b="1">
                <a:solidFill>
                  <a:srgbClr val="FFFFFF"/>
                </a:solidFill>
                <a:latin typeface="Lato"/>
                <a:ea typeface="Lato"/>
                <a:cs typeface="Lato"/>
              </a:defRPr>
            </a:defPPr>
            <a:lvl1pPr>
              <a:defRPr sz="2800" b="1">
                <a:solidFill>
                  <a:srgbClr val="FFFFFF"/>
                </a:solidFill>
                <a:latin typeface="Lato"/>
                <a:ea typeface="Lato"/>
                <a:cs typeface="Lato"/>
              </a:defRPr>
            </a:lvl1pPr>
            <a:lvl2pPr>
              <a:defRPr sz="2800" b="1">
                <a:solidFill>
                  <a:srgbClr val="FFFFFF"/>
                </a:solidFill>
                <a:latin typeface="Lato"/>
                <a:ea typeface="Lato"/>
                <a:cs typeface="Lato"/>
              </a:defRPr>
            </a:lvl2pPr>
            <a:lvl3pPr>
              <a:defRPr sz="2800" b="1">
                <a:solidFill>
                  <a:srgbClr val="FFFFFF"/>
                </a:solidFill>
                <a:latin typeface="Lato"/>
                <a:ea typeface="Lato"/>
                <a:cs typeface="Lato"/>
              </a:defRPr>
            </a:lvl3pPr>
            <a:lvl4pPr>
              <a:defRPr sz="2800" b="1">
                <a:solidFill>
                  <a:srgbClr val="FFFFFF"/>
                </a:solidFill>
                <a:latin typeface="Lato"/>
                <a:ea typeface="Lato"/>
                <a:cs typeface="Lato"/>
              </a:defRPr>
            </a:lvl4pPr>
            <a:lvl5pPr>
              <a:defRPr sz="2800" b="1">
                <a:solidFill>
                  <a:srgbClr val="FFFFFF"/>
                </a:solidFill>
                <a:latin typeface="Lato"/>
                <a:ea typeface="Lato"/>
                <a:cs typeface="Lato"/>
              </a:defRPr>
            </a:lvl5pPr>
            <a:lvl6pPr>
              <a:defRPr sz="2800" b="1">
                <a:solidFill>
                  <a:srgbClr val="FFFFFF"/>
                </a:solidFill>
                <a:latin typeface="Lato"/>
                <a:ea typeface="Lato"/>
                <a:cs typeface="Lato"/>
              </a:defRPr>
            </a:lvl6pPr>
            <a:lvl7pPr>
              <a:defRPr sz="2800" b="1">
                <a:solidFill>
                  <a:srgbClr val="FFFFFF"/>
                </a:solidFill>
                <a:latin typeface="Lato"/>
                <a:ea typeface="Lato"/>
                <a:cs typeface="Lato"/>
              </a:defRPr>
            </a:lvl7pPr>
            <a:lvl8pPr>
              <a:defRPr sz="2800" b="1">
                <a:solidFill>
                  <a:srgbClr val="FFFFFF"/>
                </a:solidFill>
                <a:latin typeface="Lato"/>
                <a:ea typeface="Lato"/>
                <a:cs typeface="Lato"/>
              </a:defRPr>
            </a:lvl8pPr>
            <a:lvl9pPr>
              <a:defRPr sz="2800" b="1">
                <a:solidFill>
                  <a:srgbClr val="FFFFFF"/>
                </a:solidFill>
                <a:latin typeface="Lato"/>
                <a:ea typeface="Lato"/>
                <a:cs typeface="Lato"/>
              </a:defRPr>
            </a:lvl9pPr>
          </a:lstStyle>
          <a:p>
            <a:pPr>
              <a:defRPr sz="2800" b="1">
                <a:solidFill>
                  <a:srgbClr val="FFFFFF"/>
                </a:solidFill>
                <a:latin typeface="Lato"/>
                <a:ea typeface="Lato"/>
                <a:cs typeface="Lato"/>
              </a:defRPr>
            </a:pPr>
            <a:r>
              <a:rPr sz="2800" b="1" dirty="0" err="1">
                <a:solidFill>
                  <a:srgbClr val="FFFFFF"/>
                </a:solidFill>
                <a:latin typeface="Lato"/>
                <a:ea typeface="Lato"/>
                <a:cs typeface="Lato"/>
              </a:rPr>
              <a:t>Phân</a:t>
            </a:r>
            <a:r>
              <a:rPr sz="2800" b="1" dirty="0">
                <a:solidFill>
                  <a:srgbClr val="FFFFFF"/>
                </a:solidFill>
                <a:latin typeface="Lato"/>
                <a:ea typeface="Lato"/>
                <a:cs typeface="Lato"/>
              </a:rPr>
              <a:t> </a:t>
            </a:r>
            <a:r>
              <a:rPr sz="2800" b="1" dirty="0" err="1">
                <a:solidFill>
                  <a:srgbClr val="FFFFFF"/>
                </a:solidFill>
                <a:latin typeface="Lato"/>
                <a:ea typeface="Lato"/>
                <a:cs typeface="Lato"/>
              </a:rPr>
              <a:t>công</a:t>
            </a:r>
            <a:endParaRPr dirty="0"/>
          </a:p>
        </p:txBody>
      </p:sp>
      <p:sp>
        <p:nvSpPr>
          <p:cNvPr id="3" name="Content Placeholder 2">
            <a:extLst>
              <a:ext uri="{FF2B5EF4-FFF2-40B4-BE49-F238E27FC236}">
                <a16:creationId xmlns:a16="http://schemas.microsoft.com/office/drawing/2014/main" id="{3573E091-9DCD-4DE7-96D1-A93E44E0F5B9}"/>
              </a:ext>
            </a:extLst>
          </p:cNvPr>
          <p:cNvSpPr>
            <a:spLocks noGrp="1"/>
          </p:cNvSpPr>
          <p:nvPr>
            <p:ph idx="13"/>
          </p:nvPr>
        </p:nvSpPr>
        <p:spPr/>
        <p:txBody>
          <a:bodyPr/>
          <a:lstStyle/>
          <a:p>
            <a:endParaRPr dirty="0"/>
          </a:p>
        </p:txBody>
      </p:sp>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idx="12"/>
          </p:nvPr>
        </p:nvSpPr>
        <p:spPr/>
        <p:txBody>
          <a:bodyPr/>
          <a:lstStyle/>
          <a:p>
            <a:fld id="{D3D7D1C8-AE23-AA48-DF65-C742588DBE47}" type="slidenum">
              <a:rPr/>
              <a:t>7</a:t>
            </a:fld>
            <a:endParaRPr/>
          </a:p>
        </p:txBody>
      </p:sp>
      <p:sp>
        <p:nvSpPr>
          <p:cNvPr id="5" name="text-66">
            <a:extLst>
              <a:ext uri="{FF2B5EF4-FFF2-40B4-BE49-F238E27FC236}">
                <a16:creationId xmlns:a16="http://schemas.microsoft.com/office/drawing/2014/main" id="{1935544A-79FF-4B37-86AE-19194F31C1D1}"/>
              </a:ext>
            </a:extLst>
          </p:cNvPr>
          <p:cNvSpPr>
            <a:spLocks noGrp="1"/>
          </p:cNvSpPr>
          <p:nvPr/>
        </p:nvSpPr>
        <p:spPr>
          <a:xfrm>
            <a:off x="365760" y="985838"/>
            <a:ext cx="11391900" cy="500063"/>
          </a:xfrm>
          <a:prstGeom prst="rect">
            <a:avLst/>
          </a:prstGeom>
          <a:noFill/>
          <a:ln w="0">
            <a:noFill/>
            <a:prstDash val="solid"/>
          </a:ln>
        </p:spPr>
        <p:txBody>
          <a:bodyPr lIns="0" tIns="0" rIns="0" bIns="0" anchor="t"/>
          <a:lstStyle>
            <a:defPPr>
              <a:defRPr sz="1560" b="0">
                <a:solidFill>
                  <a:srgbClr val="526170"/>
                </a:solidFill>
                <a:latin typeface="Lato"/>
                <a:ea typeface="Lato"/>
                <a:cs typeface="Lato"/>
              </a:defRPr>
            </a:defPPr>
            <a:lvl1pPr>
              <a:defRPr sz="1560" b="0">
                <a:solidFill>
                  <a:srgbClr val="526170"/>
                </a:solidFill>
                <a:latin typeface="Lato"/>
                <a:ea typeface="Lato"/>
                <a:cs typeface="Lato"/>
              </a:defRPr>
            </a:lvl1pPr>
            <a:lvl2pPr>
              <a:defRPr sz="1560" b="0">
                <a:solidFill>
                  <a:srgbClr val="526170"/>
                </a:solidFill>
                <a:latin typeface="Lato"/>
                <a:ea typeface="Lato"/>
                <a:cs typeface="Lato"/>
              </a:defRPr>
            </a:lvl2pPr>
            <a:lvl3pPr>
              <a:defRPr sz="1560" b="0">
                <a:solidFill>
                  <a:srgbClr val="526170"/>
                </a:solidFill>
                <a:latin typeface="Lato"/>
                <a:ea typeface="Lato"/>
                <a:cs typeface="Lato"/>
              </a:defRPr>
            </a:lvl3pPr>
            <a:lvl4pPr>
              <a:defRPr sz="1560" b="0">
                <a:solidFill>
                  <a:srgbClr val="526170"/>
                </a:solidFill>
                <a:latin typeface="Lato"/>
                <a:ea typeface="Lato"/>
                <a:cs typeface="Lato"/>
              </a:defRPr>
            </a:lvl4pPr>
            <a:lvl5pPr>
              <a:defRPr sz="1560" b="0">
                <a:solidFill>
                  <a:srgbClr val="526170"/>
                </a:solidFill>
                <a:latin typeface="Lato"/>
                <a:ea typeface="Lato"/>
                <a:cs typeface="Lato"/>
              </a:defRPr>
            </a:lvl5pPr>
            <a:lvl6pPr>
              <a:defRPr sz="1560" b="0">
                <a:solidFill>
                  <a:srgbClr val="526170"/>
                </a:solidFill>
                <a:latin typeface="Lato"/>
                <a:ea typeface="Lato"/>
                <a:cs typeface="Lato"/>
              </a:defRPr>
            </a:lvl6pPr>
            <a:lvl7pPr>
              <a:defRPr sz="1560" b="0">
                <a:solidFill>
                  <a:srgbClr val="526170"/>
                </a:solidFill>
                <a:latin typeface="Lato"/>
                <a:ea typeface="Lato"/>
                <a:cs typeface="Lato"/>
              </a:defRPr>
            </a:lvl7pPr>
            <a:lvl8pPr>
              <a:defRPr sz="1560" b="0">
                <a:solidFill>
                  <a:srgbClr val="526170"/>
                </a:solidFill>
                <a:latin typeface="Lato"/>
                <a:ea typeface="Lato"/>
                <a:cs typeface="Lato"/>
              </a:defRPr>
            </a:lvl8pPr>
            <a:lvl9pPr>
              <a:defRPr sz="1560" b="0">
                <a:solidFill>
                  <a:srgbClr val="526170"/>
                </a:solidFill>
                <a:latin typeface="Lato"/>
                <a:ea typeface="Lato"/>
                <a:cs typeface="Lato"/>
              </a:defRPr>
            </a:lvl9pPr>
          </a:lstStyle>
          <a:p>
            <a:pPr>
              <a:defRPr sz="1560" b="0">
                <a:solidFill>
                  <a:srgbClr val="526170"/>
                </a:solidFill>
                <a:latin typeface="Lato"/>
                <a:ea typeface="Lato"/>
                <a:cs typeface="Lato"/>
              </a:defRPr>
            </a:pPr>
            <a:r>
              <a:rPr sz="1560" b="0" dirty="0" err="1">
                <a:solidFill>
                  <a:srgbClr val="526170"/>
                </a:solidFill>
                <a:latin typeface="Lato"/>
                <a:ea typeface="Lato"/>
                <a:cs typeface="Lato"/>
              </a:rPr>
              <a:t>Phân</a:t>
            </a:r>
            <a:r>
              <a:rPr sz="1560" b="0" dirty="0">
                <a:solidFill>
                  <a:srgbClr val="526170"/>
                </a:solidFill>
                <a:latin typeface="Lato"/>
                <a:ea typeface="Lato"/>
                <a:cs typeface="Lato"/>
              </a:rPr>
              <a:t> </a:t>
            </a:r>
            <a:r>
              <a:rPr sz="1560" b="0" dirty="0" err="1">
                <a:solidFill>
                  <a:srgbClr val="526170"/>
                </a:solidFill>
                <a:latin typeface="Lato"/>
                <a:ea typeface="Lato"/>
                <a:cs typeface="Lato"/>
              </a:rPr>
              <a:t>công</a:t>
            </a:r>
            <a:r>
              <a:rPr sz="1560" b="0" dirty="0">
                <a:solidFill>
                  <a:srgbClr val="526170"/>
                </a:solidFill>
                <a:latin typeface="Lato"/>
                <a:ea typeface="Lato"/>
                <a:cs typeface="Lato"/>
              </a:rPr>
              <a:t> </a:t>
            </a:r>
            <a:r>
              <a:rPr sz="1560" b="0" dirty="0" err="1">
                <a:solidFill>
                  <a:srgbClr val="526170"/>
                </a:solidFill>
                <a:latin typeface="Lato"/>
                <a:ea typeface="Lato"/>
                <a:cs typeface="Lato"/>
              </a:rPr>
              <a:t>đề</a:t>
            </a:r>
            <a:r>
              <a:rPr sz="1560" b="0" dirty="0">
                <a:solidFill>
                  <a:srgbClr val="526170"/>
                </a:solidFill>
                <a:latin typeface="Lato"/>
                <a:ea typeface="Lato"/>
                <a:cs typeface="Lato"/>
              </a:rPr>
              <a:t> </a:t>
            </a:r>
            <a:r>
              <a:rPr sz="1560" b="0" dirty="0" err="1">
                <a:solidFill>
                  <a:srgbClr val="526170"/>
                </a:solidFill>
                <a:latin typeface="Lato"/>
                <a:ea typeface="Lato"/>
                <a:cs typeface="Lato"/>
              </a:rPr>
              <a:t>xuất</a:t>
            </a:r>
            <a:r>
              <a:rPr sz="1560" b="0" dirty="0">
                <a:solidFill>
                  <a:srgbClr val="526170"/>
                </a:solidFill>
                <a:latin typeface="Lato"/>
                <a:ea typeface="Lato"/>
                <a:cs typeface="Lato"/>
              </a:rPr>
              <a:t>: </a:t>
            </a:r>
            <a:r>
              <a:rPr sz="1560" b="0" dirty="0" err="1">
                <a:solidFill>
                  <a:srgbClr val="526170"/>
                </a:solidFill>
                <a:latin typeface="Lato"/>
                <a:ea typeface="Lato"/>
                <a:cs typeface="Lato"/>
              </a:rPr>
              <a:t>mỗi</a:t>
            </a:r>
            <a:r>
              <a:rPr sz="1560" b="0" dirty="0">
                <a:solidFill>
                  <a:srgbClr val="526170"/>
                </a:solidFill>
                <a:latin typeface="Lato"/>
                <a:ea typeface="Lato"/>
                <a:cs typeface="Lato"/>
              </a:rPr>
              <a:t> </a:t>
            </a:r>
            <a:r>
              <a:rPr sz="1560" b="0" dirty="0" err="1">
                <a:solidFill>
                  <a:srgbClr val="526170"/>
                </a:solidFill>
                <a:latin typeface="Lato"/>
                <a:ea typeface="Lato"/>
                <a:cs typeface="Lato"/>
              </a:rPr>
              <a:t>thành</a:t>
            </a:r>
            <a:r>
              <a:rPr sz="1560" b="0" dirty="0">
                <a:solidFill>
                  <a:srgbClr val="526170"/>
                </a:solidFill>
                <a:latin typeface="Lato"/>
                <a:ea typeface="Lato"/>
                <a:cs typeface="Lato"/>
              </a:rPr>
              <a:t> </a:t>
            </a:r>
            <a:r>
              <a:rPr sz="1560" b="0" dirty="0" err="1">
                <a:solidFill>
                  <a:srgbClr val="526170"/>
                </a:solidFill>
                <a:latin typeface="Lato"/>
                <a:ea typeface="Lato"/>
                <a:cs typeface="Lato"/>
              </a:rPr>
              <a:t>viên</a:t>
            </a:r>
            <a:r>
              <a:rPr sz="1560" b="0" dirty="0">
                <a:solidFill>
                  <a:srgbClr val="526170"/>
                </a:solidFill>
                <a:latin typeface="Lato"/>
                <a:ea typeface="Lato"/>
                <a:cs typeface="Lato"/>
              </a:rPr>
              <a:t> </a:t>
            </a:r>
            <a:r>
              <a:rPr sz="1560" b="0" dirty="0" err="1">
                <a:solidFill>
                  <a:srgbClr val="526170"/>
                </a:solidFill>
                <a:latin typeface="Lato"/>
                <a:ea typeface="Lato"/>
                <a:cs typeface="Lato"/>
              </a:rPr>
              <a:t>có</a:t>
            </a:r>
            <a:r>
              <a:rPr sz="1560" b="0" dirty="0">
                <a:solidFill>
                  <a:srgbClr val="526170"/>
                </a:solidFill>
                <a:latin typeface="Lato"/>
                <a:ea typeface="Lato"/>
                <a:cs typeface="Lato"/>
              </a:rPr>
              <a:t> </a:t>
            </a:r>
            <a:r>
              <a:rPr sz="1560" b="0" dirty="0" err="1">
                <a:solidFill>
                  <a:srgbClr val="526170"/>
                </a:solidFill>
                <a:latin typeface="Lato"/>
                <a:ea typeface="Lato"/>
                <a:cs typeface="Lato"/>
              </a:rPr>
              <a:t>một</a:t>
            </a:r>
            <a:r>
              <a:rPr sz="1560" b="0" dirty="0">
                <a:solidFill>
                  <a:srgbClr val="526170"/>
                </a:solidFill>
                <a:latin typeface="Lato"/>
                <a:ea typeface="Lato"/>
                <a:cs typeface="Lato"/>
              </a:rPr>
              <a:t> </a:t>
            </a:r>
            <a:r>
              <a:rPr sz="1560" b="0" dirty="0" err="1">
                <a:solidFill>
                  <a:srgbClr val="526170"/>
                </a:solidFill>
                <a:latin typeface="Lato"/>
                <a:ea typeface="Lato"/>
                <a:cs typeface="Lato"/>
              </a:rPr>
              <a:t>phần</a:t>
            </a:r>
            <a:r>
              <a:rPr sz="1560" b="0" dirty="0">
                <a:solidFill>
                  <a:srgbClr val="526170"/>
                </a:solidFill>
                <a:latin typeface="Lato"/>
                <a:ea typeface="Lato"/>
                <a:cs typeface="Lato"/>
              </a:rPr>
              <a:t> </a:t>
            </a:r>
            <a:r>
              <a:rPr sz="1560" b="0" dirty="0" err="1">
                <a:solidFill>
                  <a:srgbClr val="526170"/>
                </a:solidFill>
                <a:latin typeface="Lato"/>
                <a:ea typeface="Lato"/>
                <a:cs typeface="Lato"/>
              </a:rPr>
              <a:t>chính</a:t>
            </a:r>
            <a:r>
              <a:rPr sz="1560" b="0" dirty="0">
                <a:solidFill>
                  <a:srgbClr val="526170"/>
                </a:solidFill>
                <a:latin typeface="Lato"/>
                <a:ea typeface="Lato"/>
                <a:cs typeface="Lato"/>
              </a:rPr>
              <a:t> </a:t>
            </a:r>
            <a:r>
              <a:rPr sz="1560" b="0" dirty="0" err="1">
                <a:solidFill>
                  <a:srgbClr val="526170"/>
                </a:solidFill>
                <a:latin typeface="Lato"/>
                <a:ea typeface="Lato"/>
                <a:cs typeface="Lato"/>
              </a:rPr>
              <a:t>và</a:t>
            </a:r>
            <a:r>
              <a:rPr sz="1560" b="0" dirty="0">
                <a:solidFill>
                  <a:srgbClr val="526170"/>
                </a:solidFill>
                <a:latin typeface="Lato"/>
                <a:ea typeface="Lato"/>
                <a:cs typeface="Lato"/>
              </a:rPr>
              <a:t> </a:t>
            </a:r>
            <a:r>
              <a:rPr sz="1560" b="0" dirty="0" err="1">
                <a:solidFill>
                  <a:srgbClr val="526170"/>
                </a:solidFill>
                <a:latin typeface="Lato"/>
                <a:ea typeface="Lato"/>
                <a:cs typeface="Lato"/>
              </a:rPr>
              <a:t>cùng</a:t>
            </a:r>
            <a:r>
              <a:rPr sz="1560" b="0" dirty="0">
                <a:solidFill>
                  <a:srgbClr val="526170"/>
                </a:solidFill>
                <a:latin typeface="Lato"/>
                <a:ea typeface="Lato"/>
                <a:cs typeface="Lato"/>
              </a:rPr>
              <a:t> </a:t>
            </a:r>
            <a:r>
              <a:rPr sz="1560" b="0" dirty="0" err="1">
                <a:solidFill>
                  <a:srgbClr val="526170"/>
                </a:solidFill>
                <a:latin typeface="Lato"/>
                <a:ea typeface="Lato"/>
                <a:cs typeface="Lato"/>
              </a:rPr>
              <a:t>tích</a:t>
            </a:r>
            <a:r>
              <a:rPr sz="1560" b="0" dirty="0">
                <a:solidFill>
                  <a:srgbClr val="526170"/>
                </a:solidFill>
                <a:latin typeface="Lato"/>
                <a:ea typeface="Lato"/>
                <a:cs typeface="Lato"/>
              </a:rPr>
              <a:t> </a:t>
            </a:r>
            <a:r>
              <a:rPr sz="1560" b="0" dirty="0" err="1">
                <a:solidFill>
                  <a:srgbClr val="526170"/>
                </a:solidFill>
                <a:latin typeface="Lato"/>
                <a:ea typeface="Lato"/>
                <a:cs typeface="Lato"/>
              </a:rPr>
              <a:t>hợp</a:t>
            </a:r>
            <a:r>
              <a:rPr sz="1560" b="0" dirty="0">
                <a:solidFill>
                  <a:srgbClr val="526170"/>
                </a:solidFill>
                <a:latin typeface="Lato"/>
                <a:ea typeface="Lato"/>
                <a:cs typeface="Lato"/>
              </a:rPr>
              <a:t> </a:t>
            </a:r>
            <a:r>
              <a:rPr sz="1560" b="0" dirty="0" err="1">
                <a:solidFill>
                  <a:srgbClr val="526170"/>
                </a:solidFill>
                <a:latin typeface="Lato"/>
                <a:ea typeface="Lato"/>
                <a:cs typeface="Lato"/>
              </a:rPr>
              <a:t>hệ</a:t>
            </a:r>
            <a:r>
              <a:rPr sz="1560" b="0" dirty="0">
                <a:solidFill>
                  <a:srgbClr val="526170"/>
                </a:solidFill>
                <a:latin typeface="Lato"/>
                <a:ea typeface="Lato"/>
                <a:cs typeface="Lato"/>
              </a:rPr>
              <a:t> </a:t>
            </a:r>
            <a:r>
              <a:rPr sz="1560" b="0" dirty="0" err="1">
                <a:solidFill>
                  <a:srgbClr val="526170"/>
                </a:solidFill>
                <a:latin typeface="Lato"/>
                <a:ea typeface="Lato"/>
                <a:cs typeface="Lato"/>
              </a:rPr>
              <a:t>thống</a:t>
            </a:r>
            <a:r>
              <a:rPr sz="1560" b="0" dirty="0">
                <a:solidFill>
                  <a:srgbClr val="526170"/>
                </a:solidFill>
                <a:latin typeface="Lato"/>
                <a:ea typeface="Lato"/>
                <a:cs typeface="Lato"/>
              </a:rPr>
              <a:t>.</a:t>
            </a:r>
          </a:p>
        </p:txBody>
      </p:sp>
      <p:graphicFrame>
        <p:nvGraphicFramePr>
          <p:cNvPr id="6" name="Table 5">
            <a:extLst>
              <a:ext uri="{FF2B5EF4-FFF2-40B4-BE49-F238E27FC236}">
                <a16:creationId xmlns:a16="http://schemas.microsoft.com/office/drawing/2014/main" id="{8E8CBE5F-923C-4D1C-AAE3-2D79DFD84C71}"/>
              </a:ext>
            </a:extLst>
          </p:cNvPr>
          <p:cNvGraphicFramePr/>
          <p:nvPr>
            <p:extLst>
              <p:ext uri="{D42A27DB-BD31-4B8C-83A1-F6EECF244321}">
                <p14:modId xmlns:p14="http://schemas.microsoft.com/office/powerpoint/2010/main" val="3493341283"/>
              </p:ext>
            </p:extLst>
          </p:nvPr>
        </p:nvGraphicFramePr>
        <p:xfrm>
          <a:off x="609600" y="1664494"/>
          <a:ext cx="10972800" cy="2486025"/>
        </p:xfrm>
        <a:graphic>
          <a:graphicData uri="http://schemas.openxmlformats.org/drawingml/2006/table">
            <a:tbl>
              <a:tblPr/>
              <a:tblGrid>
                <a:gridCol w="3048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97205">
                <a:tc>
                  <a:txBody>
                    <a:bodyPr/>
                    <a:lstStyle/>
                    <a:p>
                      <a:r>
                        <a:rPr sz="1500" b="1">
                          <a:solidFill>
                            <a:srgbClr val="FFFFFF"/>
                          </a:solidFill>
                          <a:latin typeface="Lato"/>
                          <a:ea typeface="Lato"/>
                          <a:cs typeface="Lato"/>
                        </a:rPr>
                        <a:t>Thành viên</a:t>
                      </a:r>
                    </a:p>
                  </a:txBody>
                  <a:tcPr>
                    <a:lnL w="9525">
                      <a:solidFill>
                        <a:srgbClr val="CBD5E0"/>
                      </a:solidFill>
                      <a:prstDash val="solid"/>
                    </a:lnL>
                    <a:lnR w="9525">
                      <a:solidFill>
                        <a:srgbClr val="CBD5E0"/>
                      </a:solidFill>
                      <a:prstDash val="solid"/>
                    </a:lnR>
                    <a:lnT w="9525">
                      <a:solidFill>
                        <a:srgbClr val="CBD5E0"/>
                      </a:solidFill>
                      <a:prstDash val="solid"/>
                    </a:lnT>
                    <a:lnB w="9525">
                      <a:solidFill>
                        <a:srgbClr val="CBD5E0"/>
                      </a:solidFill>
                      <a:prstDash val="solid"/>
                    </a:lnB>
                    <a:solidFill>
                      <a:srgbClr val="003063"/>
                    </a:solidFill>
                  </a:tcPr>
                </a:tc>
                <a:tc>
                  <a:txBody>
                    <a:bodyPr/>
                    <a:lstStyle/>
                    <a:p>
                      <a:r>
                        <a:rPr sz="1500" b="1">
                          <a:solidFill>
                            <a:srgbClr val="FFFFFF"/>
                          </a:solidFill>
                          <a:latin typeface="Lato"/>
                          <a:ea typeface="Lato"/>
                          <a:cs typeface="Lato"/>
                        </a:rPr>
                        <a:t>Giai đoạn 1</a:t>
                      </a:r>
                    </a:p>
                  </a:txBody>
                  <a:tcPr>
                    <a:lnL w="9525" cap="flat" cmpd="sng" algn="ctr">
                      <a:solidFill>
                        <a:srgbClr val="CBD5E0"/>
                      </a:solidFill>
                      <a:prstDash val="solid"/>
                      <a:round/>
                      <a:headEnd type="none" w="med" len="med"/>
                      <a:tailEnd type="none" w="med" len="med"/>
                    </a:lnL>
                    <a:lnR w="9525">
                      <a:solidFill>
                        <a:srgbClr val="CBD5E0"/>
                      </a:solidFill>
                      <a:prstDash val="solid"/>
                    </a:lnR>
                    <a:lnT w="9525">
                      <a:solidFill>
                        <a:srgbClr val="CBD5E0"/>
                      </a:solidFill>
                      <a:prstDash val="solid"/>
                    </a:lnT>
                    <a:lnB w="9525">
                      <a:solidFill>
                        <a:srgbClr val="CBD5E0"/>
                      </a:solidFill>
                      <a:prstDash val="solid"/>
                    </a:lnB>
                    <a:solidFill>
                      <a:srgbClr val="003063"/>
                    </a:solidFill>
                  </a:tcPr>
                </a:tc>
                <a:tc>
                  <a:txBody>
                    <a:bodyPr/>
                    <a:lstStyle/>
                    <a:p>
                      <a:r>
                        <a:rPr sz="1500" b="1">
                          <a:solidFill>
                            <a:srgbClr val="FFFFFF"/>
                          </a:solidFill>
                          <a:latin typeface="Lato"/>
                          <a:ea typeface="Lato"/>
                          <a:cs typeface="Lato"/>
                        </a:rPr>
                        <a:t>Giai đoạn 2</a:t>
                      </a:r>
                    </a:p>
                  </a:txBody>
                  <a:tcPr>
                    <a:lnL w="9525" cap="flat" cmpd="sng" algn="ctr">
                      <a:solidFill>
                        <a:srgbClr val="CBD5E0"/>
                      </a:solidFill>
                      <a:prstDash val="solid"/>
                      <a:round/>
                      <a:headEnd type="none" w="med" len="med"/>
                      <a:tailEnd type="none" w="med" len="med"/>
                    </a:lnL>
                    <a:lnR w="9525">
                      <a:solidFill>
                        <a:srgbClr val="CBD5E0"/>
                      </a:solidFill>
                      <a:prstDash val="solid"/>
                    </a:lnR>
                    <a:lnT w="9525">
                      <a:solidFill>
                        <a:srgbClr val="CBD5E0"/>
                      </a:solidFill>
                      <a:prstDash val="solid"/>
                    </a:lnT>
                    <a:lnB w="9525">
                      <a:solidFill>
                        <a:srgbClr val="CBD5E0"/>
                      </a:solidFill>
                      <a:prstDash val="solid"/>
                    </a:lnB>
                    <a:solidFill>
                      <a:srgbClr val="003063"/>
                    </a:solidFill>
                  </a:tcPr>
                </a:tc>
                <a:extLst>
                  <a:ext uri="{0D108BD9-81ED-4DB2-BD59-A6C34878D82A}">
                    <a16:rowId xmlns:a16="http://schemas.microsoft.com/office/drawing/2014/main" val="10000"/>
                  </a:ext>
                </a:extLst>
              </a:tr>
              <a:tr h="497205">
                <a:tc>
                  <a:txBody>
                    <a:bodyPr/>
                    <a:lstStyle/>
                    <a:p>
                      <a:r>
                        <a:rPr sz="1500" b="0">
                          <a:solidFill>
                            <a:srgbClr val="00376F"/>
                          </a:solidFill>
                          <a:latin typeface="Lato"/>
                          <a:ea typeface="Lato"/>
                          <a:cs typeface="Lato"/>
                        </a:rPr>
                        <a:t>Trần Tuấn Minh</a:t>
                      </a:r>
                    </a:p>
                  </a:txBody>
                  <a:tcPr>
                    <a:lnL w="9525">
                      <a:solidFill>
                        <a:srgbClr val="CBD5E0"/>
                      </a:solidFill>
                      <a:prstDash val="soli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tc>
                  <a:txBody>
                    <a:bodyPr/>
                    <a:lstStyle/>
                    <a:p>
                      <a:r>
                        <a:rPr lang="en-US" sz="1500" b="0" dirty="0" err="1">
                          <a:solidFill>
                            <a:srgbClr val="00376F"/>
                          </a:solidFill>
                          <a:latin typeface="Lato"/>
                          <a:ea typeface="Lato"/>
                          <a:cs typeface="Lato"/>
                        </a:rPr>
                        <a:t>Tiền</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xử</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lý</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dữ</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liệu</a:t>
                      </a:r>
                      <a:r>
                        <a:rPr lang="en-US" sz="1500" b="0" dirty="0">
                          <a:solidFill>
                            <a:srgbClr val="00376F"/>
                          </a:solidFill>
                          <a:latin typeface="Lato"/>
                          <a:ea typeface="Lato"/>
                          <a:cs typeface="Lato"/>
                        </a:rPr>
                        <a:t>, CNN-Transformer-</a:t>
                      </a:r>
                      <a:r>
                        <a:rPr lang="en-US" sz="1500" b="0" dirty="0" err="1">
                          <a:solidFill>
                            <a:srgbClr val="00376F"/>
                          </a:solidFill>
                          <a:latin typeface="Lato"/>
                          <a:ea typeface="Lato"/>
                          <a:cs typeface="Lato"/>
                        </a:rPr>
                        <a:t>MoE</a:t>
                      </a:r>
                      <a:endParaRPr lang="en-US"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tc>
                  <a:txBody>
                    <a:bodyPr/>
                    <a:lstStyle/>
                    <a:p>
                      <a:r>
                        <a:rPr lang="en-US" sz="1500" b="0" dirty="0" err="1">
                          <a:solidFill>
                            <a:srgbClr val="00376F"/>
                          </a:solidFill>
                          <a:latin typeface="Lato"/>
                          <a:ea typeface="Lato"/>
                          <a:cs typeface="Lato"/>
                        </a:rPr>
                        <a:t>Tích</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hợp</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Dectector</a:t>
                      </a:r>
                      <a:r>
                        <a:rPr lang="en-US" sz="1500" b="0" dirty="0">
                          <a:solidFill>
                            <a:srgbClr val="00376F"/>
                          </a:solidFill>
                          <a:latin typeface="Lato"/>
                          <a:ea typeface="Lato"/>
                          <a:cs typeface="Lato"/>
                        </a:rPr>
                        <a:t> pretrained</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extLst>
                  <a:ext uri="{0D108BD9-81ED-4DB2-BD59-A6C34878D82A}">
                    <a16:rowId xmlns:a16="http://schemas.microsoft.com/office/drawing/2014/main" val="10001"/>
                  </a:ext>
                </a:extLst>
              </a:tr>
              <a:tr h="497205">
                <a:tc>
                  <a:txBody>
                    <a:bodyPr/>
                    <a:lstStyle/>
                    <a:p>
                      <a:r>
                        <a:rPr lang="vi-VN" sz="1500" b="0" dirty="0">
                          <a:solidFill>
                            <a:srgbClr val="00376F"/>
                          </a:solidFill>
                          <a:latin typeface="Lato"/>
                          <a:ea typeface="Lato"/>
                          <a:cs typeface="Lato"/>
                        </a:rPr>
                        <a:t>Hoàng Quý Dương</a:t>
                      </a:r>
                    </a:p>
                  </a:txBody>
                  <a:tcPr>
                    <a:lnL w="9525">
                      <a:solidFill>
                        <a:srgbClr val="CBD5E0"/>
                      </a:solidFill>
                      <a:prstDash val="soli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tc>
                  <a:txBody>
                    <a:bodyPr/>
                    <a:lstStyle/>
                    <a:p>
                      <a:r>
                        <a:rPr lang="en-US" sz="1500" b="0" dirty="0" err="1">
                          <a:solidFill>
                            <a:srgbClr val="00376F"/>
                          </a:solidFill>
                          <a:latin typeface="Lato"/>
                          <a:ea typeface="Lato"/>
                          <a:cs typeface="Lato"/>
                        </a:rPr>
                        <a:t>Tiền</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xử</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lý</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dữ</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liệu</a:t>
                      </a:r>
                      <a:r>
                        <a:rPr lang="en-US" sz="1500" b="0" dirty="0">
                          <a:solidFill>
                            <a:srgbClr val="00376F"/>
                          </a:solidFill>
                          <a:latin typeface="Lato"/>
                          <a:ea typeface="Lato"/>
                          <a:cs typeface="Lato"/>
                        </a:rPr>
                        <a:t>, C-RNN model</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tc>
                  <a:txBody>
                    <a:bodyPr/>
                    <a:lstStyle/>
                    <a:p>
                      <a:r>
                        <a:rPr lang="en-US" sz="1500" b="0" dirty="0">
                          <a:solidFill>
                            <a:srgbClr val="00376F"/>
                          </a:solidFill>
                          <a:latin typeface="Lato"/>
                          <a:ea typeface="Lato"/>
                          <a:cs typeface="Lato"/>
                        </a:rPr>
                        <a:t>Fine-tune 3 datasets</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extLst>
                  <a:ext uri="{0D108BD9-81ED-4DB2-BD59-A6C34878D82A}">
                    <a16:rowId xmlns:a16="http://schemas.microsoft.com/office/drawing/2014/main" val="10002"/>
                  </a:ext>
                </a:extLst>
              </a:tr>
              <a:tr h="497205">
                <a:tc>
                  <a:txBody>
                    <a:bodyPr/>
                    <a:lstStyle/>
                    <a:p>
                      <a:r>
                        <a:rPr sz="1500" b="0">
                          <a:solidFill>
                            <a:srgbClr val="00376F"/>
                          </a:solidFill>
                          <a:latin typeface="Lato"/>
                          <a:ea typeface="Lato"/>
                          <a:cs typeface="Lato"/>
                        </a:rPr>
                        <a:t>Trần Phương Nam</a:t>
                      </a:r>
                    </a:p>
                  </a:txBody>
                  <a:tcPr>
                    <a:lnL w="9525">
                      <a:solidFill>
                        <a:srgbClr val="CBD5E0"/>
                      </a:solidFill>
                      <a:prstDash val="soli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tc>
                  <a:txBody>
                    <a:bodyPr/>
                    <a:lstStyle/>
                    <a:p>
                      <a:r>
                        <a:rPr lang="en-US" sz="1500" b="0" dirty="0">
                          <a:solidFill>
                            <a:srgbClr val="00376F"/>
                          </a:solidFill>
                          <a:latin typeface="Lato"/>
                          <a:ea typeface="Lato"/>
                          <a:cs typeface="Lato"/>
                        </a:rPr>
                        <a:t>CNN-Transformer model</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tc>
                  <a:txBody>
                    <a:bodyPr/>
                    <a:lstStyle/>
                    <a:p>
                      <a:r>
                        <a:rPr lang="en-US" sz="1500" b="0" dirty="0">
                          <a:solidFill>
                            <a:srgbClr val="00376F"/>
                          </a:solidFill>
                          <a:latin typeface="Lato"/>
                          <a:ea typeface="Lato"/>
                          <a:cs typeface="Lato"/>
                        </a:rPr>
                        <a:t>Frontend</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FFFFF"/>
                    </a:solidFill>
                  </a:tcPr>
                </a:tc>
                <a:extLst>
                  <a:ext uri="{0D108BD9-81ED-4DB2-BD59-A6C34878D82A}">
                    <a16:rowId xmlns:a16="http://schemas.microsoft.com/office/drawing/2014/main" val="10003"/>
                  </a:ext>
                </a:extLst>
              </a:tr>
              <a:tr h="497205">
                <a:tc>
                  <a:txBody>
                    <a:bodyPr/>
                    <a:lstStyle/>
                    <a:p>
                      <a:r>
                        <a:rPr lang="en-US" sz="1500" b="0" dirty="0">
                          <a:solidFill>
                            <a:srgbClr val="00376F"/>
                          </a:solidFill>
                          <a:latin typeface="Lato"/>
                          <a:ea typeface="Lato"/>
                          <a:cs typeface="Lato"/>
                        </a:rPr>
                        <a:t>Nguyễn Bá Hoàng</a:t>
                      </a:r>
                      <a:endParaRPr sz="1500" b="0" dirty="0">
                        <a:solidFill>
                          <a:srgbClr val="00376F"/>
                        </a:solidFill>
                        <a:latin typeface="Lato"/>
                        <a:ea typeface="Lato"/>
                        <a:cs typeface="Lato"/>
                      </a:endParaRPr>
                    </a:p>
                  </a:txBody>
                  <a:tcPr>
                    <a:lnL w="9525">
                      <a:solidFill>
                        <a:srgbClr val="CBD5E0"/>
                      </a:solidFill>
                      <a:prstDash val="soli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tc>
                  <a:txBody>
                    <a:bodyPr/>
                    <a:lstStyle/>
                    <a:p>
                      <a:r>
                        <a:rPr lang="en-US" sz="1500" b="0" dirty="0">
                          <a:solidFill>
                            <a:srgbClr val="00376F"/>
                          </a:solidFill>
                          <a:latin typeface="Lato"/>
                          <a:ea typeface="Lato"/>
                          <a:cs typeface="Lato"/>
                        </a:rPr>
                        <a:t>CNN-Transformer-</a:t>
                      </a:r>
                      <a:r>
                        <a:rPr lang="en-US" sz="1500" b="0" dirty="0" err="1">
                          <a:solidFill>
                            <a:srgbClr val="00376F"/>
                          </a:solidFill>
                          <a:latin typeface="Lato"/>
                          <a:ea typeface="Lato"/>
                          <a:cs typeface="Lato"/>
                        </a:rPr>
                        <a:t>MoE</a:t>
                      </a:r>
                      <a:r>
                        <a:rPr lang="en-US" sz="1500" b="0" dirty="0">
                          <a:solidFill>
                            <a:srgbClr val="00376F"/>
                          </a:solidFill>
                          <a:latin typeface="Lato"/>
                          <a:ea typeface="Lato"/>
                          <a:cs typeface="Lato"/>
                        </a:rPr>
                        <a:t> model</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tc>
                  <a:txBody>
                    <a:bodyPr/>
                    <a:lstStyle/>
                    <a:p>
                      <a:r>
                        <a:rPr lang="en-US" sz="1500" b="0" dirty="0">
                          <a:solidFill>
                            <a:srgbClr val="00376F"/>
                          </a:solidFill>
                          <a:latin typeface="Lato"/>
                          <a:ea typeface="Lato"/>
                          <a:cs typeface="Lato"/>
                        </a:rPr>
                        <a:t>Test </a:t>
                      </a:r>
                      <a:r>
                        <a:rPr lang="en-US" sz="1500" b="0" dirty="0" err="1">
                          <a:solidFill>
                            <a:srgbClr val="00376F"/>
                          </a:solidFill>
                          <a:latin typeface="Lato"/>
                          <a:ea typeface="Lato"/>
                          <a:cs typeface="Lato"/>
                        </a:rPr>
                        <a:t>kiểm</a:t>
                      </a:r>
                      <a:r>
                        <a:rPr lang="en-US" sz="1500" b="0" dirty="0">
                          <a:solidFill>
                            <a:srgbClr val="00376F"/>
                          </a:solidFill>
                          <a:latin typeface="Lato"/>
                          <a:ea typeface="Lato"/>
                          <a:cs typeface="Lato"/>
                        </a:rPr>
                        <a:t> </a:t>
                      </a:r>
                      <a:r>
                        <a:rPr lang="en-US" sz="1500" b="0" dirty="0" err="1">
                          <a:solidFill>
                            <a:srgbClr val="00376F"/>
                          </a:solidFill>
                          <a:latin typeface="Lato"/>
                          <a:ea typeface="Lato"/>
                          <a:cs typeface="Lato"/>
                        </a:rPr>
                        <a:t>thử</a:t>
                      </a:r>
                      <a:endParaRPr sz="1500" b="0" dirty="0">
                        <a:solidFill>
                          <a:srgbClr val="00376F"/>
                        </a:solidFill>
                        <a:latin typeface="Lato"/>
                        <a:ea typeface="Lato"/>
                        <a:cs typeface="Lato"/>
                      </a:endParaRPr>
                    </a:p>
                  </a:txBody>
                  <a:tcPr>
                    <a:lnL w="9525" cap="flat" cmpd="sng" algn="ctr">
                      <a:solidFill>
                        <a:srgbClr val="CBD5E0"/>
                      </a:solidFill>
                      <a:prstDash val="solid"/>
                      <a:round/>
                      <a:headEnd type="none" w="med" len="med"/>
                      <a:tailEnd type="none" w="med" len="med"/>
                    </a:lnL>
                    <a:lnR w="9525">
                      <a:solidFill>
                        <a:srgbClr val="CBD5E0"/>
                      </a:solidFill>
                      <a:prstDash val="solid"/>
                    </a:lnR>
                    <a:lnT w="9525" cap="flat" cmpd="sng" algn="ctr">
                      <a:solidFill>
                        <a:srgbClr val="CBD5E0"/>
                      </a:solidFill>
                      <a:prstDash val="solid"/>
                      <a:round/>
                      <a:headEnd type="none" w="med" len="med"/>
                      <a:tailEnd type="none" w="med" len="med"/>
                    </a:lnT>
                    <a:lnB w="9525">
                      <a:solidFill>
                        <a:srgbClr val="CBD5E0"/>
                      </a:solidFill>
                      <a:prstDash val="solid"/>
                    </a:lnB>
                    <a:solidFill>
                      <a:srgbClr val="F0F4F8"/>
                    </a:solidFill>
                  </a:tcPr>
                </a:tc>
                <a:extLst>
                  <a:ext uri="{0D108BD9-81ED-4DB2-BD59-A6C34878D82A}">
                    <a16:rowId xmlns:a16="http://schemas.microsoft.com/office/drawing/2014/main" val="10004"/>
                  </a:ext>
                </a:extLst>
              </a:tr>
            </a:tbl>
          </a:graphicData>
        </a:graphic>
      </p:graphicFrame>
      <p:sp>
        <p:nvSpPr>
          <p:cNvPr id="7" name="text-67">
            <a:extLst>
              <a:ext uri="{FF2B5EF4-FFF2-40B4-BE49-F238E27FC236}">
                <a16:creationId xmlns:a16="http://schemas.microsoft.com/office/drawing/2014/main" id="{DB0393B5-9AE1-401D-8B4D-A2EAC83F854F}"/>
              </a:ext>
            </a:extLst>
          </p:cNvPr>
          <p:cNvSpPr>
            <a:spLocks noGrp="1"/>
          </p:cNvSpPr>
          <p:nvPr/>
        </p:nvSpPr>
        <p:spPr>
          <a:xfrm>
            <a:off x="609600" y="4529138"/>
            <a:ext cx="4876800" cy="278606"/>
          </a:xfrm>
          <a:prstGeom prst="rect">
            <a:avLst/>
          </a:prstGeom>
          <a:noFill/>
          <a:ln w="0">
            <a:noFill/>
            <a:prstDash val="solid"/>
          </a:ln>
        </p:spPr>
        <p:txBody>
          <a:bodyPr lIns="0" tIns="0" rIns="0" bIns="0" anchor="t"/>
          <a:lstStyle>
            <a:defPPr>
              <a:defRPr sz="1620" b="1">
                <a:solidFill>
                  <a:srgbClr val="BE1E2D"/>
                </a:solidFill>
                <a:latin typeface="Lato"/>
                <a:ea typeface="Lato"/>
                <a:cs typeface="Lato"/>
              </a:defRPr>
            </a:defPPr>
            <a:lvl1pPr>
              <a:defRPr sz="1620" b="1">
                <a:solidFill>
                  <a:srgbClr val="BE1E2D"/>
                </a:solidFill>
                <a:latin typeface="Lato"/>
                <a:ea typeface="Lato"/>
                <a:cs typeface="Lato"/>
              </a:defRPr>
            </a:lvl1pPr>
            <a:lvl2pPr>
              <a:defRPr sz="1620" b="1">
                <a:solidFill>
                  <a:srgbClr val="BE1E2D"/>
                </a:solidFill>
                <a:latin typeface="Lato"/>
                <a:ea typeface="Lato"/>
                <a:cs typeface="Lato"/>
              </a:defRPr>
            </a:lvl2pPr>
            <a:lvl3pPr>
              <a:defRPr sz="1620" b="1">
                <a:solidFill>
                  <a:srgbClr val="BE1E2D"/>
                </a:solidFill>
                <a:latin typeface="Lato"/>
                <a:ea typeface="Lato"/>
                <a:cs typeface="Lato"/>
              </a:defRPr>
            </a:lvl3pPr>
            <a:lvl4pPr>
              <a:defRPr sz="1620" b="1">
                <a:solidFill>
                  <a:srgbClr val="BE1E2D"/>
                </a:solidFill>
                <a:latin typeface="Lato"/>
                <a:ea typeface="Lato"/>
                <a:cs typeface="Lato"/>
              </a:defRPr>
            </a:lvl4pPr>
            <a:lvl5pPr>
              <a:defRPr sz="1620" b="1">
                <a:solidFill>
                  <a:srgbClr val="BE1E2D"/>
                </a:solidFill>
                <a:latin typeface="Lato"/>
                <a:ea typeface="Lato"/>
                <a:cs typeface="Lato"/>
              </a:defRPr>
            </a:lvl5pPr>
            <a:lvl6pPr>
              <a:defRPr sz="1620" b="1">
                <a:solidFill>
                  <a:srgbClr val="BE1E2D"/>
                </a:solidFill>
                <a:latin typeface="Lato"/>
                <a:ea typeface="Lato"/>
                <a:cs typeface="Lato"/>
              </a:defRPr>
            </a:lvl6pPr>
            <a:lvl7pPr>
              <a:defRPr sz="1620" b="1">
                <a:solidFill>
                  <a:srgbClr val="BE1E2D"/>
                </a:solidFill>
                <a:latin typeface="Lato"/>
                <a:ea typeface="Lato"/>
                <a:cs typeface="Lato"/>
              </a:defRPr>
            </a:lvl7pPr>
            <a:lvl8pPr>
              <a:defRPr sz="1620" b="1">
                <a:solidFill>
                  <a:srgbClr val="BE1E2D"/>
                </a:solidFill>
                <a:latin typeface="Lato"/>
                <a:ea typeface="Lato"/>
                <a:cs typeface="Lato"/>
              </a:defRPr>
            </a:lvl8pPr>
            <a:lvl9pPr>
              <a:defRPr sz="1620" b="1">
                <a:solidFill>
                  <a:srgbClr val="BE1E2D"/>
                </a:solidFill>
                <a:latin typeface="Lato"/>
                <a:ea typeface="Lato"/>
                <a:cs typeface="Lato"/>
              </a:defRPr>
            </a:lvl9pPr>
          </a:lstStyle>
          <a:p>
            <a:pPr>
              <a:defRPr sz="1620" b="1">
                <a:solidFill>
                  <a:srgbClr val="BE1E2D"/>
                </a:solidFill>
                <a:latin typeface="Lato"/>
                <a:ea typeface="Lato"/>
                <a:cs typeface="Lato"/>
              </a:defRPr>
            </a:pPr>
            <a:r>
              <a:rPr sz="1620" b="1" dirty="0">
                <a:solidFill>
                  <a:srgbClr val="BE1E2D"/>
                </a:solidFill>
                <a:latin typeface="Lato"/>
                <a:ea typeface="Lato"/>
                <a:cs typeface="Lato"/>
              </a:rPr>
              <a:t>SẢN PHẨM</a:t>
            </a:r>
          </a:p>
        </p:txBody>
      </p:sp>
      <p:sp>
        <p:nvSpPr>
          <p:cNvPr id="8" name="text-68">
            <a:extLst>
              <a:ext uri="{FF2B5EF4-FFF2-40B4-BE49-F238E27FC236}">
                <a16:creationId xmlns:a16="http://schemas.microsoft.com/office/drawing/2014/main" id="{68B70F2B-5E48-4FDC-81C7-3CF7772AF09A}"/>
              </a:ext>
            </a:extLst>
          </p:cNvPr>
          <p:cNvSpPr>
            <a:spLocks noGrp="1"/>
          </p:cNvSpPr>
          <p:nvPr/>
        </p:nvSpPr>
        <p:spPr>
          <a:xfrm>
            <a:off x="609600" y="4950619"/>
            <a:ext cx="5638800" cy="914400"/>
          </a:xfrm>
          <a:prstGeom prst="rect">
            <a:avLst/>
          </a:prstGeom>
          <a:noFill/>
          <a:ln w="0">
            <a:noFill/>
            <a:prstDash val="solid"/>
          </a:ln>
        </p:spPr>
        <p:txBody>
          <a:bodyPr lIns="0" tIns="0" rIns="0" bIns="0" anchor="t"/>
          <a:lstStyle>
            <a:defPPr>
              <a:defRPr sz="1500" b="0">
                <a:solidFill>
                  <a:srgbClr val="00376F"/>
                </a:solidFill>
                <a:latin typeface="Lato"/>
                <a:ea typeface="Lato"/>
                <a:cs typeface="Lato"/>
              </a:defRPr>
            </a:defPPr>
            <a:lvl1pPr>
              <a:defRPr sz="1500" b="0">
                <a:solidFill>
                  <a:srgbClr val="00376F"/>
                </a:solidFill>
                <a:latin typeface="Lato"/>
                <a:ea typeface="Lato"/>
                <a:cs typeface="Lato"/>
              </a:defRPr>
            </a:lvl1pPr>
            <a:lvl2pPr>
              <a:defRPr sz="1500" b="0">
                <a:solidFill>
                  <a:srgbClr val="00376F"/>
                </a:solidFill>
                <a:latin typeface="Lato"/>
                <a:ea typeface="Lato"/>
                <a:cs typeface="Lato"/>
              </a:defRPr>
            </a:lvl2pPr>
            <a:lvl3pPr>
              <a:defRPr sz="1500" b="0">
                <a:solidFill>
                  <a:srgbClr val="00376F"/>
                </a:solidFill>
                <a:latin typeface="Lato"/>
                <a:ea typeface="Lato"/>
                <a:cs typeface="Lato"/>
              </a:defRPr>
            </a:lvl3pPr>
            <a:lvl4pPr>
              <a:defRPr sz="1500" b="0">
                <a:solidFill>
                  <a:srgbClr val="00376F"/>
                </a:solidFill>
                <a:latin typeface="Lato"/>
                <a:ea typeface="Lato"/>
                <a:cs typeface="Lato"/>
              </a:defRPr>
            </a:lvl4pPr>
            <a:lvl5pPr>
              <a:defRPr sz="1500" b="0">
                <a:solidFill>
                  <a:srgbClr val="00376F"/>
                </a:solidFill>
                <a:latin typeface="Lato"/>
                <a:ea typeface="Lato"/>
                <a:cs typeface="Lato"/>
              </a:defRPr>
            </a:lvl5pPr>
            <a:lvl6pPr>
              <a:defRPr sz="1500" b="0">
                <a:solidFill>
                  <a:srgbClr val="00376F"/>
                </a:solidFill>
                <a:latin typeface="Lato"/>
                <a:ea typeface="Lato"/>
                <a:cs typeface="Lato"/>
              </a:defRPr>
            </a:lvl6pPr>
            <a:lvl7pPr>
              <a:defRPr sz="1500" b="0">
                <a:solidFill>
                  <a:srgbClr val="00376F"/>
                </a:solidFill>
                <a:latin typeface="Lato"/>
                <a:ea typeface="Lato"/>
                <a:cs typeface="Lato"/>
              </a:defRPr>
            </a:lvl7pPr>
            <a:lvl8pPr>
              <a:defRPr sz="1500" b="0">
                <a:solidFill>
                  <a:srgbClr val="00376F"/>
                </a:solidFill>
                <a:latin typeface="Lato"/>
                <a:ea typeface="Lato"/>
                <a:cs typeface="Lato"/>
              </a:defRPr>
            </a:lvl8pPr>
            <a:lvl9pPr>
              <a:defRPr sz="1500" b="0">
                <a:solidFill>
                  <a:srgbClr val="00376F"/>
                </a:solidFill>
                <a:latin typeface="Lato"/>
                <a:ea typeface="Lato"/>
                <a:cs typeface="Lato"/>
              </a:defRPr>
            </a:lvl9pPr>
          </a:lstStyle>
          <a:p>
            <a:pPr>
              <a:defRPr sz="1500" b="0">
                <a:solidFill>
                  <a:srgbClr val="00376F"/>
                </a:solidFill>
                <a:latin typeface="Lato"/>
                <a:ea typeface="Lato"/>
                <a:cs typeface="Lato"/>
              </a:defRPr>
            </a:pPr>
            <a:r>
              <a:rPr sz="1500" b="0" dirty="0" err="1">
                <a:solidFill>
                  <a:srgbClr val="00376F"/>
                </a:solidFill>
                <a:latin typeface="Lato"/>
                <a:ea typeface="Lato"/>
                <a:cs typeface="Lato"/>
              </a:rPr>
              <a:t>Mã</a:t>
            </a:r>
            <a:r>
              <a:rPr sz="1500" b="0" dirty="0">
                <a:solidFill>
                  <a:srgbClr val="00376F"/>
                </a:solidFill>
                <a:latin typeface="Lato"/>
                <a:ea typeface="Lato"/>
                <a:cs typeface="Lato"/>
              </a:rPr>
              <a:t> </a:t>
            </a:r>
            <a:r>
              <a:rPr sz="1500" b="0" dirty="0" err="1">
                <a:solidFill>
                  <a:srgbClr val="00376F"/>
                </a:solidFill>
                <a:latin typeface="Lato"/>
                <a:ea typeface="Lato"/>
                <a:cs typeface="Lato"/>
              </a:rPr>
              <a:t>nguồn</a:t>
            </a:r>
            <a:r>
              <a:rPr sz="1500" b="0" dirty="0">
                <a:solidFill>
                  <a:srgbClr val="00376F"/>
                </a:solidFill>
                <a:latin typeface="Lato"/>
                <a:ea typeface="Lato"/>
                <a:cs typeface="Lato"/>
              </a:rPr>
              <a:t> </a:t>
            </a:r>
            <a:r>
              <a:rPr sz="1500" b="0" dirty="0" err="1">
                <a:solidFill>
                  <a:srgbClr val="00376F"/>
                </a:solidFill>
                <a:latin typeface="Lato"/>
                <a:ea typeface="Lato"/>
                <a:cs typeface="Lato"/>
              </a:rPr>
              <a:t>và</a:t>
            </a:r>
            <a:r>
              <a:rPr sz="1500" b="0" dirty="0">
                <a:solidFill>
                  <a:srgbClr val="00376F"/>
                </a:solidFill>
                <a:latin typeface="Lato"/>
                <a:ea typeface="Lato"/>
                <a:cs typeface="Lato"/>
              </a:rPr>
              <a:t> manifest </a:t>
            </a:r>
            <a:r>
              <a:rPr sz="1500" b="0" dirty="0" err="1">
                <a:solidFill>
                  <a:srgbClr val="00376F"/>
                </a:solidFill>
                <a:latin typeface="Lato"/>
                <a:ea typeface="Lato"/>
                <a:cs typeface="Lato"/>
              </a:rPr>
              <a:t>dữ</a:t>
            </a:r>
            <a:r>
              <a:rPr sz="1500" b="0" dirty="0">
                <a:solidFill>
                  <a:srgbClr val="00376F"/>
                </a:solidFill>
                <a:latin typeface="Lato"/>
                <a:ea typeface="Lato"/>
                <a:cs typeface="Lato"/>
              </a:rPr>
              <a:t> </a:t>
            </a:r>
            <a:r>
              <a:rPr sz="1500" b="0" dirty="0" err="1">
                <a:solidFill>
                  <a:srgbClr val="00376F"/>
                </a:solidFill>
                <a:latin typeface="Lato"/>
                <a:ea typeface="Lato"/>
                <a:cs typeface="Lato"/>
              </a:rPr>
              <a:t>liệu</a:t>
            </a:r>
            <a:r>
              <a:rPr sz="1500" b="0" dirty="0">
                <a:solidFill>
                  <a:srgbClr val="00376F"/>
                </a:solidFill>
                <a:latin typeface="Lato"/>
                <a:ea typeface="Lato"/>
                <a:cs typeface="Lato"/>
              </a:rPr>
              <a:t> </a:t>
            </a:r>
            <a:r>
              <a:rPr sz="1500" b="0" dirty="0" err="1">
                <a:solidFill>
                  <a:srgbClr val="00376F"/>
                </a:solidFill>
                <a:latin typeface="Lato"/>
                <a:ea typeface="Lato"/>
                <a:cs typeface="Lato"/>
              </a:rPr>
              <a:t>có</a:t>
            </a:r>
            <a:r>
              <a:rPr sz="1500" b="0" dirty="0">
                <a:solidFill>
                  <a:srgbClr val="00376F"/>
                </a:solidFill>
                <a:latin typeface="Lato"/>
                <a:ea typeface="Lato"/>
                <a:cs typeface="Lato"/>
              </a:rPr>
              <a:t> </a:t>
            </a:r>
            <a:r>
              <a:rPr sz="1500" b="0" dirty="0" err="1">
                <a:solidFill>
                  <a:srgbClr val="00376F"/>
                </a:solidFill>
                <a:latin typeface="Lato"/>
                <a:ea typeface="Lato"/>
                <a:cs typeface="Lato"/>
              </a:rPr>
              <a:t>phiên</a:t>
            </a:r>
            <a:r>
              <a:rPr sz="1500" b="0" dirty="0">
                <a:solidFill>
                  <a:srgbClr val="00376F"/>
                </a:solidFill>
                <a:latin typeface="Lato"/>
                <a:ea typeface="Lato"/>
                <a:cs typeface="Lato"/>
              </a:rPr>
              <a:t> </a:t>
            </a:r>
            <a:r>
              <a:rPr sz="1500" b="0" dirty="0" err="1">
                <a:solidFill>
                  <a:srgbClr val="00376F"/>
                </a:solidFill>
                <a:latin typeface="Lato"/>
                <a:ea typeface="Lato"/>
                <a:cs typeface="Lato"/>
              </a:rPr>
              <a:t>bản</a:t>
            </a:r>
            <a:endParaRPr sz="1500" b="0" dirty="0">
              <a:solidFill>
                <a:srgbClr val="00376F"/>
              </a:solidFill>
              <a:latin typeface="Lato"/>
              <a:ea typeface="Lato"/>
              <a:cs typeface="Lato"/>
            </a:endParaRPr>
          </a:p>
          <a:p>
            <a:pPr>
              <a:defRPr sz="1500" b="0">
                <a:solidFill>
                  <a:srgbClr val="00376F"/>
                </a:solidFill>
                <a:latin typeface="Lato"/>
                <a:ea typeface="Lato"/>
                <a:cs typeface="Lato"/>
              </a:defRPr>
            </a:pPr>
            <a:r>
              <a:rPr sz="1500" b="0" dirty="0" err="1">
                <a:solidFill>
                  <a:srgbClr val="00376F"/>
                </a:solidFill>
                <a:latin typeface="Lato"/>
                <a:ea typeface="Lato"/>
                <a:cs typeface="Lato"/>
              </a:rPr>
              <a:t>Trọng</a:t>
            </a:r>
            <a:r>
              <a:rPr sz="1500" b="0" dirty="0">
                <a:solidFill>
                  <a:srgbClr val="00376F"/>
                </a:solidFill>
                <a:latin typeface="Lato"/>
                <a:ea typeface="Lato"/>
                <a:cs typeface="Lato"/>
              </a:rPr>
              <a:t> </a:t>
            </a:r>
            <a:r>
              <a:rPr sz="1500" b="0" dirty="0" err="1">
                <a:solidFill>
                  <a:srgbClr val="00376F"/>
                </a:solidFill>
                <a:latin typeface="Lato"/>
                <a:ea typeface="Lato"/>
                <a:cs typeface="Lato"/>
              </a:rPr>
              <a:t>số</a:t>
            </a:r>
            <a:r>
              <a:rPr sz="1500" b="0" dirty="0">
                <a:solidFill>
                  <a:srgbClr val="00376F"/>
                </a:solidFill>
                <a:latin typeface="Lato"/>
                <a:ea typeface="Lato"/>
                <a:cs typeface="Lato"/>
              </a:rPr>
              <a:t>, </a:t>
            </a:r>
            <a:r>
              <a:rPr sz="1500" b="0" dirty="0" err="1">
                <a:solidFill>
                  <a:srgbClr val="00376F"/>
                </a:solidFill>
                <a:latin typeface="Lato"/>
                <a:ea typeface="Lato"/>
                <a:cs typeface="Lato"/>
              </a:rPr>
              <a:t>cấu</a:t>
            </a:r>
            <a:r>
              <a:rPr sz="1500" b="0" dirty="0">
                <a:solidFill>
                  <a:srgbClr val="00376F"/>
                </a:solidFill>
                <a:latin typeface="Lato"/>
                <a:ea typeface="Lato"/>
                <a:cs typeface="Lato"/>
              </a:rPr>
              <a:t> </a:t>
            </a:r>
            <a:r>
              <a:rPr sz="1500" b="0" dirty="0" err="1">
                <a:solidFill>
                  <a:srgbClr val="00376F"/>
                </a:solidFill>
                <a:latin typeface="Lato"/>
                <a:ea typeface="Lato"/>
                <a:cs typeface="Lato"/>
              </a:rPr>
              <a:t>hình</a:t>
            </a:r>
            <a:r>
              <a:rPr sz="1500" b="0" dirty="0">
                <a:solidFill>
                  <a:srgbClr val="00376F"/>
                </a:solidFill>
                <a:latin typeface="Lato"/>
                <a:ea typeface="Lato"/>
                <a:cs typeface="Lato"/>
              </a:rPr>
              <a:t> </a:t>
            </a:r>
            <a:r>
              <a:rPr sz="1500" b="0" dirty="0" err="1">
                <a:solidFill>
                  <a:srgbClr val="00376F"/>
                </a:solidFill>
                <a:latin typeface="Lato"/>
                <a:ea typeface="Lato"/>
                <a:cs typeface="Lato"/>
              </a:rPr>
              <a:t>và</a:t>
            </a:r>
            <a:r>
              <a:rPr sz="1500" b="0" dirty="0">
                <a:solidFill>
                  <a:srgbClr val="00376F"/>
                </a:solidFill>
                <a:latin typeface="Lato"/>
                <a:ea typeface="Lato"/>
                <a:cs typeface="Lato"/>
              </a:rPr>
              <a:t> </a:t>
            </a:r>
            <a:r>
              <a:rPr sz="1500" b="0" dirty="0" err="1">
                <a:solidFill>
                  <a:srgbClr val="00376F"/>
                </a:solidFill>
                <a:latin typeface="Lato"/>
                <a:ea typeface="Lato"/>
                <a:cs typeface="Lato"/>
              </a:rPr>
              <a:t>bảng</a:t>
            </a:r>
            <a:r>
              <a:rPr sz="1500" b="0" dirty="0">
                <a:solidFill>
                  <a:srgbClr val="00376F"/>
                </a:solidFill>
                <a:latin typeface="Lato"/>
                <a:ea typeface="Lato"/>
                <a:cs typeface="Lato"/>
              </a:rPr>
              <a:t> </a:t>
            </a:r>
            <a:r>
              <a:rPr sz="1500" b="0" dirty="0" err="1">
                <a:solidFill>
                  <a:srgbClr val="00376F"/>
                </a:solidFill>
                <a:latin typeface="Lato"/>
                <a:ea typeface="Lato"/>
                <a:cs typeface="Lato"/>
              </a:rPr>
              <a:t>kết</a:t>
            </a:r>
            <a:r>
              <a:rPr sz="1500" b="0" dirty="0">
                <a:solidFill>
                  <a:srgbClr val="00376F"/>
                </a:solidFill>
                <a:latin typeface="Lato"/>
                <a:ea typeface="Lato"/>
                <a:cs typeface="Lato"/>
              </a:rPr>
              <a:t> </a:t>
            </a:r>
            <a:r>
              <a:rPr sz="1500" b="0" dirty="0" err="1">
                <a:solidFill>
                  <a:srgbClr val="00376F"/>
                </a:solidFill>
                <a:latin typeface="Lato"/>
                <a:ea typeface="Lato"/>
                <a:cs typeface="Lato"/>
              </a:rPr>
              <a:t>quả</a:t>
            </a:r>
            <a:r>
              <a:rPr sz="1500" b="0" dirty="0">
                <a:solidFill>
                  <a:srgbClr val="00376F"/>
                </a:solidFill>
                <a:latin typeface="Lato"/>
                <a:ea typeface="Lato"/>
                <a:cs typeface="Lato"/>
              </a:rPr>
              <a:t> </a:t>
            </a:r>
            <a:r>
              <a:rPr sz="1500" b="0" dirty="0" err="1">
                <a:solidFill>
                  <a:srgbClr val="00376F"/>
                </a:solidFill>
                <a:latin typeface="Lato"/>
                <a:ea typeface="Lato"/>
                <a:cs typeface="Lato"/>
              </a:rPr>
              <a:t>thực</a:t>
            </a:r>
            <a:r>
              <a:rPr sz="1500" b="0" dirty="0">
                <a:solidFill>
                  <a:srgbClr val="00376F"/>
                </a:solidFill>
                <a:latin typeface="Lato"/>
                <a:ea typeface="Lato"/>
                <a:cs typeface="Lato"/>
              </a:rPr>
              <a:t> </a:t>
            </a:r>
            <a:r>
              <a:rPr sz="1500" b="0" dirty="0" err="1">
                <a:solidFill>
                  <a:srgbClr val="00376F"/>
                </a:solidFill>
                <a:latin typeface="Lato"/>
                <a:ea typeface="Lato"/>
                <a:cs typeface="Lato"/>
              </a:rPr>
              <a:t>nghiệm</a:t>
            </a:r>
            <a:endParaRPr sz="1500" b="0" dirty="0">
              <a:solidFill>
                <a:srgbClr val="00376F"/>
              </a:solidFill>
              <a:latin typeface="Lato"/>
              <a:ea typeface="Lato"/>
              <a:cs typeface="Lato"/>
            </a:endParaRPr>
          </a:p>
          <a:p>
            <a:pPr>
              <a:defRPr sz="1500" b="0">
                <a:solidFill>
                  <a:srgbClr val="00376F"/>
                </a:solidFill>
                <a:latin typeface="Lato"/>
                <a:ea typeface="Lato"/>
                <a:cs typeface="Lato"/>
              </a:defRPr>
            </a:pPr>
            <a:r>
              <a:rPr sz="1500" b="0" dirty="0" err="1">
                <a:solidFill>
                  <a:srgbClr val="00376F"/>
                </a:solidFill>
                <a:latin typeface="Lato"/>
                <a:ea typeface="Lato"/>
                <a:cs typeface="Lato"/>
              </a:rPr>
              <a:t>Ứng</a:t>
            </a:r>
            <a:r>
              <a:rPr sz="1500" b="0" dirty="0">
                <a:solidFill>
                  <a:srgbClr val="00376F"/>
                </a:solidFill>
                <a:latin typeface="Lato"/>
                <a:ea typeface="Lato"/>
                <a:cs typeface="Lato"/>
              </a:rPr>
              <a:t> </a:t>
            </a:r>
            <a:r>
              <a:rPr sz="1500" b="0" dirty="0" err="1">
                <a:solidFill>
                  <a:srgbClr val="00376F"/>
                </a:solidFill>
                <a:latin typeface="Lato"/>
                <a:ea typeface="Lato"/>
                <a:cs typeface="Lato"/>
              </a:rPr>
              <a:t>dụng</a:t>
            </a:r>
            <a:r>
              <a:rPr sz="1500" b="0" dirty="0">
                <a:solidFill>
                  <a:srgbClr val="00376F"/>
                </a:solidFill>
                <a:latin typeface="Lato"/>
                <a:ea typeface="Lato"/>
                <a:cs typeface="Lato"/>
              </a:rPr>
              <a:t> web </a:t>
            </a:r>
            <a:r>
              <a:rPr sz="1500" b="0" dirty="0" err="1">
                <a:solidFill>
                  <a:srgbClr val="00376F"/>
                </a:solidFill>
                <a:latin typeface="Lato"/>
                <a:ea typeface="Lato"/>
                <a:cs typeface="Lato"/>
              </a:rPr>
              <a:t>nhận</a:t>
            </a:r>
            <a:r>
              <a:rPr sz="1500" b="0" dirty="0">
                <a:solidFill>
                  <a:srgbClr val="00376F"/>
                </a:solidFill>
                <a:latin typeface="Lato"/>
                <a:ea typeface="Lato"/>
                <a:cs typeface="Lato"/>
              </a:rPr>
              <a:t> </a:t>
            </a:r>
            <a:r>
              <a:rPr sz="1500" b="0" dirty="0" err="1">
                <a:solidFill>
                  <a:srgbClr val="00376F"/>
                </a:solidFill>
                <a:latin typeface="Lato"/>
                <a:ea typeface="Lato"/>
                <a:cs typeface="Lato"/>
              </a:rPr>
              <a:t>dạng</a:t>
            </a:r>
            <a:r>
              <a:rPr sz="1500" b="0" dirty="0">
                <a:solidFill>
                  <a:srgbClr val="00376F"/>
                </a:solidFill>
                <a:latin typeface="Lato"/>
                <a:ea typeface="Lato"/>
                <a:cs typeface="Lato"/>
              </a:rPr>
              <a:t> </a:t>
            </a:r>
            <a:r>
              <a:rPr sz="1500" b="0" dirty="0" err="1">
                <a:solidFill>
                  <a:srgbClr val="00376F"/>
                </a:solidFill>
                <a:latin typeface="Lato"/>
                <a:ea typeface="Lato"/>
                <a:cs typeface="Lato"/>
              </a:rPr>
              <a:t>đoạn</a:t>
            </a:r>
            <a:r>
              <a:rPr sz="1500" b="0" dirty="0">
                <a:solidFill>
                  <a:srgbClr val="00376F"/>
                </a:solidFill>
                <a:latin typeface="Lato"/>
                <a:ea typeface="Lato"/>
                <a:cs typeface="Lato"/>
              </a:rPr>
              <a:t> </a:t>
            </a:r>
            <a:r>
              <a:rPr sz="1500" b="0" dirty="0" err="1">
                <a:solidFill>
                  <a:srgbClr val="00376F"/>
                </a:solidFill>
                <a:latin typeface="Lato"/>
                <a:ea typeface="Lato"/>
                <a:cs typeface="Lato"/>
              </a:rPr>
              <a:t>văn</a:t>
            </a:r>
            <a:r>
              <a:rPr sz="1500" b="0" dirty="0">
                <a:solidFill>
                  <a:srgbClr val="00376F"/>
                </a:solidFill>
                <a:latin typeface="Lato"/>
                <a:ea typeface="Lato"/>
                <a:cs typeface="Lato"/>
              </a:rPr>
              <a:t> </a:t>
            </a:r>
            <a:r>
              <a:rPr sz="1500" b="0" dirty="0" err="1">
                <a:solidFill>
                  <a:srgbClr val="00376F"/>
                </a:solidFill>
                <a:latin typeface="Lato"/>
                <a:ea typeface="Lato"/>
                <a:cs typeface="Lato"/>
              </a:rPr>
              <a:t>bản</a:t>
            </a:r>
            <a:endParaRPr sz="1500" b="0" dirty="0">
              <a:solidFill>
                <a:srgbClr val="00376F"/>
              </a:solidFill>
              <a:latin typeface="Lato"/>
              <a:ea typeface="Lato"/>
              <a:cs typeface="Lato"/>
            </a:endParaRPr>
          </a:p>
        </p:txBody>
      </p:sp>
      <p:sp>
        <p:nvSpPr>
          <p:cNvPr id="9" name="text-69">
            <a:extLst>
              <a:ext uri="{FF2B5EF4-FFF2-40B4-BE49-F238E27FC236}">
                <a16:creationId xmlns:a16="http://schemas.microsoft.com/office/drawing/2014/main" id="{6249BA50-B960-4040-9208-7C3AB8337BF6}"/>
              </a:ext>
            </a:extLst>
          </p:cNvPr>
          <p:cNvSpPr>
            <a:spLocks noGrp="1"/>
          </p:cNvSpPr>
          <p:nvPr/>
        </p:nvSpPr>
        <p:spPr>
          <a:xfrm>
            <a:off x="6705600" y="4529138"/>
            <a:ext cx="4876800" cy="278606"/>
          </a:xfrm>
          <a:prstGeom prst="rect">
            <a:avLst/>
          </a:prstGeom>
          <a:noFill/>
          <a:ln w="0">
            <a:noFill/>
            <a:prstDash val="solid"/>
          </a:ln>
        </p:spPr>
        <p:txBody>
          <a:bodyPr lIns="0" tIns="0" rIns="0" bIns="0" anchor="t"/>
          <a:lstStyle>
            <a:defPPr>
              <a:defRPr sz="1620" b="1">
                <a:solidFill>
                  <a:srgbClr val="BE1E2D"/>
                </a:solidFill>
                <a:latin typeface="Lato"/>
                <a:ea typeface="Lato"/>
                <a:cs typeface="Lato"/>
              </a:defRPr>
            </a:defPPr>
            <a:lvl1pPr>
              <a:defRPr sz="1620" b="1">
                <a:solidFill>
                  <a:srgbClr val="BE1E2D"/>
                </a:solidFill>
                <a:latin typeface="Lato"/>
                <a:ea typeface="Lato"/>
                <a:cs typeface="Lato"/>
              </a:defRPr>
            </a:lvl1pPr>
            <a:lvl2pPr>
              <a:defRPr sz="1620" b="1">
                <a:solidFill>
                  <a:srgbClr val="BE1E2D"/>
                </a:solidFill>
                <a:latin typeface="Lato"/>
                <a:ea typeface="Lato"/>
                <a:cs typeface="Lato"/>
              </a:defRPr>
            </a:lvl2pPr>
            <a:lvl3pPr>
              <a:defRPr sz="1620" b="1">
                <a:solidFill>
                  <a:srgbClr val="BE1E2D"/>
                </a:solidFill>
                <a:latin typeface="Lato"/>
                <a:ea typeface="Lato"/>
                <a:cs typeface="Lato"/>
              </a:defRPr>
            </a:lvl3pPr>
            <a:lvl4pPr>
              <a:defRPr sz="1620" b="1">
                <a:solidFill>
                  <a:srgbClr val="BE1E2D"/>
                </a:solidFill>
                <a:latin typeface="Lato"/>
                <a:ea typeface="Lato"/>
                <a:cs typeface="Lato"/>
              </a:defRPr>
            </a:lvl4pPr>
            <a:lvl5pPr>
              <a:defRPr sz="1620" b="1">
                <a:solidFill>
                  <a:srgbClr val="BE1E2D"/>
                </a:solidFill>
                <a:latin typeface="Lato"/>
                <a:ea typeface="Lato"/>
                <a:cs typeface="Lato"/>
              </a:defRPr>
            </a:lvl5pPr>
            <a:lvl6pPr>
              <a:defRPr sz="1620" b="1">
                <a:solidFill>
                  <a:srgbClr val="BE1E2D"/>
                </a:solidFill>
                <a:latin typeface="Lato"/>
                <a:ea typeface="Lato"/>
                <a:cs typeface="Lato"/>
              </a:defRPr>
            </a:lvl6pPr>
            <a:lvl7pPr>
              <a:defRPr sz="1620" b="1">
                <a:solidFill>
                  <a:srgbClr val="BE1E2D"/>
                </a:solidFill>
                <a:latin typeface="Lato"/>
                <a:ea typeface="Lato"/>
                <a:cs typeface="Lato"/>
              </a:defRPr>
            </a:lvl7pPr>
            <a:lvl8pPr>
              <a:defRPr sz="1620" b="1">
                <a:solidFill>
                  <a:srgbClr val="BE1E2D"/>
                </a:solidFill>
                <a:latin typeface="Lato"/>
                <a:ea typeface="Lato"/>
                <a:cs typeface="Lato"/>
              </a:defRPr>
            </a:lvl8pPr>
            <a:lvl9pPr>
              <a:defRPr sz="1620" b="1">
                <a:solidFill>
                  <a:srgbClr val="BE1E2D"/>
                </a:solidFill>
                <a:latin typeface="Lato"/>
                <a:ea typeface="Lato"/>
                <a:cs typeface="Lato"/>
              </a:defRPr>
            </a:lvl9pPr>
          </a:lstStyle>
          <a:p>
            <a:pPr>
              <a:defRPr sz="1620" b="1">
                <a:solidFill>
                  <a:srgbClr val="BE1E2D"/>
                </a:solidFill>
                <a:latin typeface="Lato"/>
                <a:ea typeface="Lato"/>
                <a:cs typeface="Lato"/>
              </a:defRPr>
            </a:pPr>
            <a:r>
              <a:rPr sz="1620" b="1" dirty="0">
                <a:solidFill>
                  <a:srgbClr val="BE1E2D"/>
                </a:solidFill>
                <a:latin typeface="Lato"/>
                <a:ea typeface="Lato"/>
                <a:cs typeface="Lato"/>
              </a:rPr>
              <a:t>CÂU HỎ</a:t>
            </a:r>
            <a:r>
              <a:rPr lang="en-US" dirty="0"/>
              <a:t>I MỞ:</a:t>
            </a:r>
            <a:endParaRPr sz="1620" b="1" dirty="0">
              <a:solidFill>
                <a:srgbClr val="BE1E2D"/>
              </a:solidFill>
              <a:latin typeface="Lato"/>
              <a:ea typeface="Lato"/>
              <a:cs typeface="Lato"/>
            </a:endParaRPr>
          </a:p>
        </p:txBody>
      </p:sp>
      <p:sp>
        <p:nvSpPr>
          <p:cNvPr id="10" name="text-70">
            <a:extLst>
              <a:ext uri="{FF2B5EF4-FFF2-40B4-BE49-F238E27FC236}">
                <a16:creationId xmlns:a16="http://schemas.microsoft.com/office/drawing/2014/main" id="{4A6B7A3E-1675-41EF-AF14-FC45F4F8944E}"/>
              </a:ext>
            </a:extLst>
          </p:cNvPr>
          <p:cNvSpPr>
            <a:spLocks noGrp="1"/>
          </p:cNvSpPr>
          <p:nvPr/>
        </p:nvSpPr>
        <p:spPr>
          <a:xfrm>
            <a:off x="6705600" y="4950619"/>
            <a:ext cx="4876800" cy="914400"/>
          </a:xfrm>
          <a:prstGeom prst="rect">
            <a:avLst/>
          </a:prstGeom>
          <a:noFill/>
          <a:ln w="0">
            <a:noFill/>
            <a:prstDash val="solid"/>
          </a:ln>
        </p:spPr>
        <p:txBody>
          <a:bodyPr lIns="0" tIns="0" rIns="0" bIns="0" anchor="t"/>
          <a:lstStyle>
            <a:defPPr>
              <a:defRPr sz="1620" b="1">
                <a:solidFill>
                  <a:srgbClr val="00376F"/>
                </a:solidFill>
                <a:latin typeface="Lato"/>
                <a:ea typeface="Lato"/>
                <a:cs typeface="Lato"/>
              </a:defRPr>
            </a:defPPr>
            <a:lvl1pPr>
              <a:defRPr sz="1620" b="1">
                <a:solidFill>
                  <a:srgbClr val="00376F"/>
                </a:solidFill>
                <a:latin typeface="Lato"/>
                <a:ea typeface="Lato"/>
                <a:cs typeface="Lato"/>
              </a:defRPr>
            </a:lvl1pPr>
            <a:lvl2pPr>
              <a:defRPr sz="1620" b="1">
                <a:solidFill>
                  <a:srgbClr val="00376F"/>
                </a:solidFill>
                <a:latin typeface="Lato"/>
                <a:ea typeface="Lato"/>
                <a:cs typeface="Lato"/>
              </a:defRPr>
            </a:lvl2pPr>
            <a:lvl3pPr>
              <a:defRPr sz="1620" b="1">
                <a:solidFill>
                  <a:srgbClr val="00376F"/>
                </a:solidFill>
                <a:latin typeface="Lato"/>
                <a:ea typeface="Lato"/>
                <a:cs typeface="Lato"/>
              </a:defRPr>
            </a:lvl3pPr>
            <a:lvl4pPr>
              <a:defRPr sz="1620" b="1">
                <a:solidFill>
                  <a:srgbClr val="00376F"/>
                </a:solidFill>
                <a:latin typeface="Lato"/>
                <a:ea typeface="Lato"/>
                <a:cs typeface="Lato"/>
              </a:defRPr>
            </a:lvl4pPr>
            <a:lvl5pPr>
              <a:defRPr sz="1620" b="1">
                <a:solidFill>
                  <a:srgbClr val="00376F"/>
                </a:solidFill>
                <a:latin typeface="Lato"/>
                <a:ea typeface="Lato"/>
                <a:cs typeface="Lato"/>
              </a:defRPr>
            </a:lvl5pPr>
            <a:lvl6pPr>
              <a:defRPr sz="1620" b="1">
                <a:solidFill>
                  <a:srgbClr val="00376F"/>
                </a:solidFill>
                <a:latin typeface="Lato"/>
                <a:ea typeface="Lato"/>
                <a:cs typeface="Lato"/>
              </a:defRPr>
            </a:lvl6pPr>
            <a:lvl7pPr>
              <a:defRPr sz="1620" b="1">
                <a:solidFill>
                  <a:srgbClr val="00376F"/>
                </a:solidFill>
                <a:latin typeface="Lato"/>
                <a:ea typeface="Lato"/>
                <a:cs typeface="Lato"/>
              </a:defRPr>
            </a:lvl7pPr>
            <a:lvl8pPr>
              <a:defRPr sz="1620" b="1">
                <a:solidFill>
                  <a:srgbClr val="00376F"/>
                </a:solidFill>
                <a:latin typeface="Lato"/>
                <a:ea typeface="Lato"/>
                <a:cs typeface="Lato"/>
              </a:defRPr>
            </a:lvl8pPr>
            <a:lvl9pPr>
              <a:defRPr sz="1620" b="1">
                <a:solidFill>
                  <a:srgbClr val="00376F"/>
                </a:solidFill>
                <a:latin typeface="Lato"/>
                <a:ea typeface="Lato"/>
                <a:cs typeface="Lato"/>
              </a:defRPr>
            </a:lvl9pPr>
          </a:lstStyle>
          <a:p>
            <a:pPr>
              <a:defRPr sz="1620" b="1">
                <a:solidFill>
                  <a:srgbClr val="00376F"/>
                </a:solidFill>
                <a:latin typeface="Lato"/>
                <a:ea typeface="Lato"/>
                <a:cs typeface="Lato"/>
              </a:defRPr>
            </a:pPr>
            <a:r>
              <a:rPr sz="1620" b="1">
                <a:solidFill>
                  <a:srgbClr val="00376F"/>
                </a:solidFill>
                <a:latin typeface="Lato"/>
                <a:ea typeface="Lato"/>
                <a:cs typeface="Lato"/>
              </a:rPr>
              <a:t>Sparse MoE có cải thiện CER</a:t>
            </a:r>
          </a:p>
          <a:p>
            <a:pPr>
              <a:defRPr sz="1620" b="1">
                <a:solidFill>
                  <a:srgbClr val="00376F"/>
                </a:solidFill>
                <a:latin typeface="Lato"/>
                <a:ea typeface="Lato"/>
                <a:cs typeface="Lato"/>
              </a:defRPr>
            </a:pPr>
            <a:r>
              <a:rPr sz="1620" b="1">
                <a:solidFill>
                  <a:srgbClr val="00376F"/>
                </a:solidFill>
                <a:latin typeface="Lato"/>
                <a:ea typeface="Lato"/>
                <a:cs typeface="Lato"/>
              </a:rPr>
              <a:t>với chi phí tính toán phù hợp?</a:t>
            </a:r>
          </a:p>
          <a:p>
            <a:pPr>
              <a:defRPr sz="1620" b="1">
                <a:solidFill>
                  <a:srgbClr val="00376F"/>
                </a:solidFill>
                <a:latin typeface="Lato"/>
                <a:ea typeface="Lato"/>
                <a:cs typeface="Lato"/>
              </a:defRPr>
            </a:pPr>
            <a:r>
              <a:rPr sz="1620" b="1">
                <a:solidFill>
                  <a:srgbClr val="00376F"/>
                </a:solidFill>
                <a:latin typeface="Lato"/>
                <a:ea typeface="Lato"/>
                <a:cs typeface="Lato"/>
              </a:rPr>
              <a:t>Fine-tune cải thiện chữ viết tay đến đâu?</a:t>
            </a:r>
          </a:p>
        </p:txBody>
      </p:sp>
    </p:spTree>
    <p:extLst>
      <p:ext uri="{BB962C8B-B14F-4D97-AF65-F5344CB8AC3E}">
        <p14:creationId xmlns:p14="http://schemas.microsoft.com/office/powerpoint/2010/main" val="2214337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2584</Words>
  <Application>Microsoft Office PowerPoint</Application>
  <DocSecurity>0</DocSecurity>
  <PresentationFormat>Widescreen</PresentationFormat>
  <Paragraphs>169</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Lato</vt:lpstr>
      <vt:lpstr>Office Theme</vt:lpstr>
      <vt:lpstr>PowerPoint Presentation</vt:lpstr>
      <vt:lpstr>Dữ liệu</vt:lpstr>
      <vt:lpstr>Giai đoạn 1: Cài đặt và so sánh 3 kiến trúc</vt:lpstr>
      <vt:lpstr>Các metrics</vt:lpstr>
      <vt:lpstr>Giai đoạn 2: Fine-tune với chữ viết tay</vt:lpstr>
      <vt:lpstr>Frontend nhận dạng đoạn văn bản</vt:lpstr>
      <vt:lpstr>Phân công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Tran Tuan Minh 20230051</cp:lastModifiedBy>
  <cp:revision>9</cp:revision>
  <dcterms:created xsi:type="dcterms:W3CDTF">2026-10-17T15:50:06Z</dcterms:created>
  <dcterms:modified xsi:type="dcterms:W3CDTF">2026-10-19T07:31:24Z</dcterms:modified>
</cp:coreProperties>
</file>